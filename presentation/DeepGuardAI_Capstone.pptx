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23d1df9-75f7-83bf-4c74-9e57234cc3c7}">
          <p14:sldIdLst>
            <p14:sldId id="256"/>
            <p14:sldId id="257"/>
          </p14:sldIdLst>
        </p14:section>
        <p14:section name="Problem &amp; Data" id="{1ab7f910-145b-b96c-ad8a-b4e33b4cbb2b}">
          <p14:sldIdLst>
            <p14:sldId id="258"/>
            <p14:sldId id="259"/>
          </p14:sldIdLst>
        </p14:section>
        <p14:section name="Solution" id="{18d73153-5988-344f-e808-ebc1e1d93f30}">
          <p14:sldIdLst>
            <p14:sldId id="260"/>
            <p14:sldId id="261"/>
          </p14:sldIdLst>
        </p14:section>
        <p14:section name="Model &amp; Training" id="{437454b5-541f-3d18-becc-4f87795311ac}">
          <p14:sldIdLst>
            <p14:sldId id="262"/>
            <p14:sldId id="263"/>
            <p14:sldId id="264"/>
          </p14:sldIdLst>
        </p14:section>
        <p14:section name="Results" id="{ddadd7db-b09b-9478-00b0-167a309a2e4f}">
          <p14:sldIdLst>
            <p14:sldId id="265"/>
            <p14:sldId id="266"/>
          </p14:sldIdLst>
        </p14:section>
        <p14:section name="Demo" id="{d7c793d7-1f83-7724-716b-34d26db3d16d}">
          <p14:sldIdLst>
            <p14:sldId id="267"/>
            <p14:sldId id="268"/>
          </p14:sldIdLst>
        </p14:section>
        <p14:section name="Wrap-up" id="{ad123f66-904f-ce94-3287-284788f9aa90}">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course. DeepGuard AI is my capstone for Deep Learning with PyTorch: an end-to-end fraud detection application — from raw data to a trained neural network, a REST API and an interactive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the business problem and dataset, how the system is built, the neural network and how it is trained, the results, a live demo, and finally limitations and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fraud is extremely rare. If I simply predicted 'legitimate' for every transaction I would be 99.83% accurate and completely useless. That is why accuracy is the wrong metric, and I evaluate with precision, recall, F1 and PR-AUC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Kaggle dataset from European cardholders, September 2013. V1 to V28 are PCA components the bank created to protect privacy, so we cannot interpret them individually. Class is the label; it is never used as a model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halves. Offline, one command trains the model and saves three artifacts that must always be deployed together. Online, the FastAPI service loads those artifacts and the Streamlit dashboard sends transactions to it for 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PyTorch is the core of the course and the project. scikit-learn handles the data split, scaling and metrics. FastAPI and Streamlit turn the model into something people can actually use. Everything runs locally on macOS.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a small multilayer perceptron defined in app/model.py: 30 inputs, hidden layers of 64 and 32 neurons with ReLU and dropout, and one output. It outputs a raw logit; a sigmoid turns it into a 0-to-1 risk score. Only about 4,000 weights — the right size for 30 tabular features. The diagram shows a sample of neurons, not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split before doing anything else. The scaler only ever sees training data, so no information leaks from the test set. To deal with imbalance, the loss weights fraud examples about 579 times more heavily — that is the ratio of legitimate to fraud rows in training. Without it the network learns to say 'legitimate'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threshold is tuned on validation data, never on the test set — otherwise the reported results would be optimistic. I pick the cut-off with the best F1. It comes out at 0.998 because the class weighting shifts scores up; that is also why a score is a ranking, not a probability. In a real bank this threshold would be set by investigation capacity and fraud losses.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the test set, used exactly once. The model catches 80% of fraud, and when it raises an alert it is right 89% of the time. ROC-AUC of 0.978 shows strong ranking; PR-AUC of 0.757 is the more honest measure for a rare class. With only 74 test frauds, one fraud more or less moves recall by about 1.4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makes the trade-off concrete. Very few false alarms — 7 among almost 43,000 legitimate transactions — but 15 of 74 frauds slip through. Lowering the threshold would catch more fraud at the cost of more false alarms; that is a business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scoring time the API repeats exactly what training did: validate the 30 features, apply the same saved scaler, run the network, apply the sigmoid and compare with the saved threshold. Bad input is rejected with a 422 error instead of producing a meaningless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tests, show the training output, open Swagger at /docs and call /health and /metrics, then submit a request with a missing feature to show the 422. In the dashboard: row 0 is low risk, 541 is a caught fraud, 72757 is a fraud the model misses and 460 is a false alarm. Showing failures builds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educational MVP, not a production fraud system. Be upfront about these points — the panel will respect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 this MVP — is done. The most valuable next step for the model itself is Phase 4: proper tuning, comparison with logistic regression and XGBoost, and SHAP explanations so investigators can see why a transaction was 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Why not accuracy? Why a neural network rather than XGBoost? Why is the threshold 0.998? Is 0.95 a 95% chance of fraud (no)? How did you avoid overfitting (dropout, validation set, test used once)? What are V1–V28 (PCA components for privacy)?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rtlCol="0"/>
          <a:lstStyle>
            <a:lvl1pPr algn="l" indent="0" marL="0">
              <a:buNone/>
              <a:defRPr lang="en-US" sz="3400" b="1" dirty="0">
                <a:solidFill>
                  <a:srgbClr val="0B1220"/>
                </a:solidFill>
                <a:latin typeface="Avenir Next" pitchFamily="34" charset="0"/>
                <a:ea typeface="Avenir Next" pitchFamily="34" charset="-122"/>
                <a:cs typeface="Avenir Next" pitchFamily="34" charset="-120"/>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64748B"/>
                </a:solidFill>
                <a:latin typeface="Helvetica Neue" pitchFamily="34" charset="0"/>
                <a:ea typeface="Helvetica Neue" pitchFamily="34" charset="-122"/>
                <a:cs typeface="Helvetica Neue" pitchFamily="34" charset="-120"/>
              </a:rPr>
              <a:t>DeepGuard AI  ·  Capstone Project</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Helvetica Neue"/>
                <a:ea typeface="Helvetica Neue"/>
                <a:cs typeface="Helvetica Neue"/>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22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Helvetica Neue"/>
                <a:ea typeface="Helvetica Neue"/>
                <a:cs typeface="Helvetica Neue"/>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2.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31520" y="1234440"/>
            <a:ext cx="2331720" cy="420624"/>
          </a:xfrm>
          <a:prstGeom prst="roundRect">
            <a:avLst>
              <a:gd name="adj" fmla="val 50000"/>
            </a:avLst>
          </a:prstGeom>
          <a:solidFill>
            <a:srgbClr val="EE4C2C"/>
          </a:solidFill>
          <a:ln w="12700">
            <a:solidFill>
              <a:srgbClr val="EE4C2C"/>
            </a:solidFill>
            <a:prstDash val="solid"/>
          </a:ln>
        </p:spPr>
      </p:sp>
      <p:sp>
        <p:nvSpPr>
          <p:cNvPr id="3" name="Text 1"/>
          <p:cNvSpPr txBox="1"/>
          <p:nvPr/>
        </p:nvSpPr>
        <p:spPr>
          <a:xfrm>
            <a:off x="731520" y="1234440"/>
            <a:ext cx="2331720" cy="420624"/>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Avenir Next" pitchFamily="34" charset="0"/>
                <a:ea typeface="Avenir Next" pitchFamily="34" charset="-122"/>
                <a:cs typeface="Avenir Next" pitchFamily="34" charset="-120"/>
              </a:rPr>
              <a:t>CAPSTONE PROJECT</a:t>
            </a:r>
            <a:endParaRPr lang="en-US" sz="1400" dirty="0"/>
          </a:p>
        </p:txBody>
      </p:sp>
      <p:sp>
        <p:nvSpPr>
          <p:cNvPr id="4" name="Text 2"/>
          <p:cNvSpPr txBox="1"/>
          <p:nvPr/>
        </p:nvSpPr>
        <p:spPr>
          <a:xfrm>
            <a:off x="731520" y="1874520"/>
            <a:ext cx="6949440" cy="1097280"/>
          </a:xfrm>
          <a:prstGeom prst="rect">
            <a:avLst/>
          </a:prstGeom>
          <a:noFill/>
          <a:ln/>
        </p:spPr>
        <p:txBody>
          <a:bodyPr wrap="square" lIns="0" tIns="0" rIns="0" bIns="0" rtlCol="0" anchor="ctr"/>
          <a:lstStyle/>
          <a:p>
            <a:pPr indent="0" marL="0">
              <a:buNone/>
            </a:pPr>
            <a:r>
              <a:rPr lang="en-US" sz="6600" b="1" dirty="0">
                <a:solidFill>
                  <a:srgbClr val="FFFFFF"/>
                </a:solidFill>
                <a:latin typeface="Avenir Next" pitchFamily="34" charset="0"/>
                <a:ea typeface="Avenir Next" pitchFamily="34" charset="-122"/>
                <a:cs typeface="Avenir Next" pitchFamily="34" charset="-120"/>
              </a:rPr>
              <a:t>DeepGuard AI</a:t>
            </a:r>
            <a:endParaRPr lang="en-US" sz="6600" dirty="0"/>
          </a:p>
        </p:txBody>
      </p:sp>
      <p:sp>
        <p:nvSpPr>
          <p:cNvPr id="5" name="Text 3"/>
          <p:cNvSpPr txBox="1"/>
          <p:nvPr/>
        </p:nvSpPr>
        <p:spPr>
          <a:xfrm>
            <a:off x="731520" y="2971800"/>
            <a:ext cx="6949440" cy="548640"/>
          </a:xfrm>
          <a:prstGeom prst="rect">
            <a:avLst/>
          </a:prstGeom>
          <a:noFill/>
          <a:ln/>
        </p:spPr>
        <p:txBody>
          <a:bodyPr wrap="square" lIns="0" tIns="0" rIns="0" bIns="0" rtlCol="0" anchor="ctr"/>
          <a:lstStyle/>
          <a:p>
            <a:pPr indent="0" marL="0">
              <a:buNone/>
            </a:pPr>
            <a:r>
              <a:rPr lang="en-US" sz="2400" dirty="0">
                <a:solidFill>
                  <a:srgbClr val="CBD5E1"/>
                </a:solidFill>
                <a:latin typeface="Helvetica Neue" pitchFamily="34" charset="0"/>
                <a:ea typeface="Helvetica Neue" pitchFamily="34" charset="-122"/>
                <a:cs typeface="Helvetica Neue" pitchFamily="34" charset="-120"/>
              </a:rPr>
              <a:t>Deep Learning Credit-Card Fraud Detection</a:t>
            </a:r>
            <a:endParaRPr lang="en-US" sz="2400" dirty="0"/>
          </a:p>
        </p:txBody>
      </p:sp>
      <p:sp>
        <p:nvSpPr>
          <p:cNvPr id="6" name="Text 4"/>
          <p:cNvSpPr txBox="1"/>
          <p:nvPr/>
        </p:nvSpPr>
        <p:spPr>
          <a:xfrm>
            <a:off x="731520" y="4069080"/>
            <a:ext cx="5486400" cy="274320"/>
          </a:xfrm>
          <a:prstGeom prst="rect">
            <a:avLst/>
          </a:prstGeom>
          <a:noFill/>
          <a:ln/>
        </p:spPr>
        <p:txBody>
          <a:bodyPr wrap="square" lIns="0" tIns="0" rIns="0" bIns="0" rtlCol="0" anchor="t"/>
          <a:lstStyle/>
          <a:p>
            <a:pPr indent="0" marL="0">
              <a:buNone/>
            </a:pPr>
            <a:r>
              <a:rPr lang="en-US" sz="1200" b="1" spc="200" kern="0" dirty="0">
                <a:solidFill>
                  <a:srgbClr val="EE4C2C"/>
                </a:solidFill>
                <a:latin typeface="Avenir Next" pitchFamily="34" charset="0"/>
                <a:ea typeface="Avenir Next" pitchFamily="34" charset="-122"/>
                <a:cs typeface="Avenir Next" pitchFamily="34" charset="-120"/>
              </a:rPr>
              <a:t>COURSE</a:t>
            </a:r>
            <a:endParaRPr lang="en-US" sz="1200" dirty="0"/>
          </a:p>
        </p:txBody>
      </p:sp>
      <p:sp>
        <p:nvSpPr>
          <p:cNvPr id="7" name="Text 5"/>
          <p:cNvSpPr txBox="1"/>
          <p:nvPr/>
        </p:nvSpPr>
        <p:spPr>
          <a:xfrm>
            <a:off x="731520" y="4343400"/>
            <a:ext cx="6949440" cy="502920"/>
          </a:xfrm>
          <a:prstGeom prst="rect">
            <a:avLst/>
          </a:prstGeom>
          <a:noFill/>
          <a:ln/>
        </p:spPr>
        <p:txBody>
          <a:bodyPr wrap="square" lIns="0" tIns="0" rIns="0" bIns="0" rtlCol="0" anchor="ctr"/>
          <a:lstStyle/>
          <a:p>
            <a:pPr indent="0" marL="0">
              <a:buNone/>
            </a:pPr>
            <a:r>
              <a:rPr lang="en-US" sz="2600" b="1" dirty="0">
                <a:solidFill>
                  <a:srgbClr val="FFFFFF"/>
                </a:solidFill>
                <a:latin typeface="Avenir Next" pitchFamily="34" charset="0"/>
                <a:ea typeface="Avenir Next" pitchFamily="34" charset="-122"/>
                <a:cs typeface="Avenir Next" pitchFamily="34" charset="-120"/>
              </a:rPr>
              <a:t>Deep Learning with PyTorch</a:t>
            </a:r>
            <a:endParaRPr lang="en-US" sz="2600" dirty="0"/>
          </a:p>
        </p:txBody>
      </p:sp>
      <p:sp>
        <p:nvSpPr>
          <p:cNvPr id="8" name="Text 6"/>
          <p:cNvSpPr txBox="1"/>
          <p:nvPr/>
        </p:nvSpPr>
        <p:spPr>
          <a:xfrm>
            <a:off x="731520" y="5257800"/>
            <a:ext cx="6949440" cy="365760"/>
          </a:xfrm>
          <a:prstGeom prst="rect">
            <a:avLst/>
          </a:prstGeom>
          <a:noFill/>
          <a:ln/>
        </p:spPr>
        <p:txBody>
          <a:bodyPr wrap="square" lIns="0" tIns="0" rIns="0" bIns="0" rtlCol="0" anchor="ctr"/>
          <a:lstStyle/>
          <a:p>
            <a:pPr indent="0" marL="0">
              <a:buNone/>
            </a:pPr>
            <a:r>
              <a:rPr lang="en-US" sz="1600" dirty="0">
                <a:solidFill>
                  <a:srgbClr val="CBD5E1"/>
                </a:solidFill>
                <a:latin typeface="Helvetica Neue" pitchFamily="34" charset="0"/>
                <a:ea typeface="Helvetica Neue" pitchFamily="34" charset="-122"/>
                <a:cs typeface="Helvetica Neue" pitchFamily="34" charset="-120"/>
              </a:rPr>
              <a:t>Presented by Md Amzad Hossain  ·  CSTU</a:t>
            </a:r>
            <a:endParaRPr lang="en-US" sz="1600" dirty="0"/>
          </a:p>
        </p:txBody>
      </p:sp>
      <p:sp>
        <p:nvSpPr>
          <p:cNvPr id="9" name="Shape 7"/>
          <p:cNvSpPr/>
          <p:nvPr/>
        </p:nvSpPr>
        <p:spPr>
          <a:xfrm>
            <a:off x="8001000" y="1417320"/>
            <a:ext cx="3657600" cy="3657600"/>
          </a:xfrm>
          <a:prstGeom prst="ellipse">
            <a:avLst/>
          </a:prstGeom>
          <a:solidFill>
            <a:srgbClr val="EE4C2C">
              <a:alpha val="15000"/>
            </a:srgbClr>
          </a:solidFill>
          <a:ln w="12700">
            <a:solidFill>
              <a:srgbClr val="EE4C2C">
                <a:alpha val="15000"/>
              </a:srgbClr>
            </a:solidFill>
            <a:prstDash val="solid"/>
          </a:ln>
        </p:spPr>
      </p:sp>
      <p:sp>
        <p:nvSpPr>
          <p:cNvPr id="10" name="Shape 8"/>
          <p:cNvSpPr/>
          <p:nvPr/>
        </p:nvSpPr>
        <p:spPr>
          <a:xfrm>
            <a:off x="8549640" y="1965960"/>
            <a:ext cx="2560320" cy="2560320"/>
          </a:xfrm>
          <a:prstGeom prst="ellipse">
            <a:avLst/>
          </a:prstGeom>
          <a:solidFill>
            <a:srgbClr val="EE4C2C"/>
          </a:solidFill>
          <a:ln w="12700">
            <a:solidFill>
              <a:srgbClr val="EE4C2C"/>
            </a:solidFill>
            <a:prstDash val="solid"/>
          </a:ln>
        </p:spPr>
      </p:sp>
      <p:pic>
        <p:nvPicPr>
          <p:cNvPr id="11" name="Image 0" descr="preencoded.png">    </p:cNvPr>
          <p:cNvPicPr>
            <a:picLocks noChangeAspect="1"/>
          </p:cNvPicPr>
          <p:nvPr/>
        </p:nvPicPr>
        <p:blipFill>
          <a:blip r:embed="rId1"/>
          <a:stretch>
            <a:fillRect/>
          </a:stretch>
        </p:blipFill>
        <p:spPr>
          <a:xfrm>
            <a:off x="9144000" y="2560320"/>
            <a:ext cx="1371600" cy="137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400" b="1" dirty="0">
                <a:solidFill>
                  <a:srgbClr val="0B1220"/>
                </a:solidFill>
                <a:latin typeface="Avenir Next" pitchFamily="34" charset="0"/>
                <a:ea typeface="Avenir Next" pitchFamily="34" charset="-122"/>
                <a:cs typeface="Avenir Next" pitchFamily="34" charset="-120"/>
              </a:rPr>
              <a:t>Agenda</a:t>
            </a:r>
            <a:endParaRPr lang="en-US" sz="3400" dirty="0"/>
          </a:p>
        </p:txBody>
      </p:sp>
      <p:sp>
        <p:nvSpPr>
          <p:cNvPr id="3" name="Shape 1"/>
          <p:cNvSpPr/>
          <p:nvPr/>
        </p:nvSpPr>
        <p:spPr>
          <a:xfrm>
            <a:off x="548640" y="1554480"/>
            <a:ext cx="3474720" cy="1920240"/>
          </a:xfrm>
          <a:prstGeom prst="roundRect">
            <a:avLst>
              <a:gd name="adj" fmla="val 5714"/>
            </a:avLst>
          </a:prstGeom>
          <a:solidFill>
            <a:srgbClr val="F1F5F9"/>
          </a:solidFill>
          <a:ln w="12700">
            <a:solidFill>
              <a:srgbClr val="F1F5F9"/>
            </a:solidFill>
            <a:prstDash val="solid"/>
          </a:ln>
        </p:spPr>
      </p:sp>
      <p:sp>
        <p:nvSpPr>
          <p:cNvPr id="4" name="Text 2"/>
          <p:cNvSpPr txBox="1"/>
          <p:nvPr/>
        </p:nvSpPr>
        <p:spPr>
          <a:xfrm>
            <a:off x="868680" y="1874520"/>
            <a:ext cx="1828800" cy="640080"/>
          </a:xfrm>
          <a:prstGeom prst="rect">
            <a:avLst/>
          </a:prstGeom>
          <a:noFill/>
          <a:ln/>
        </p:spPr>
        <p:txBody>
          <a:bodyPr wrap="square" lIns="0" tIns="0" rIns="0" bIns="0" rtlCol="0" anchor="t"/>
          <a:lstStyle/>
          <a:p>
            <a:pPr indent="0" marL="0">
              <a:buNone/>
            </a:pPr>
            <a:r>
              <a:rPr lang="en-US" sz="3600" b="1" dirty="0">
                <a:solidFill>
                  <a:srgbClr val="EE4C2C"/>
                </a:solidFill>
                <a:latin typeface="Avenir Next" pitchFamily="34" charset="0"/>
                <a:ea typeface="Avenir Next" pitchFamily="34" charset="-122"/>
                <a:cs typeface="Avenir Next" pitchFamily="34" charset="-120"/>
              </a:rPr>
              <a:t>01</a:t>
            </a:r>
            <a:endParaRPr lang="en-US" sz="3600" dirty="0"/>
          </a:p>
        </p:txBody>
      </p:sp>
      <p:sp>
        <p:nvSpPr>
          <p:cNvPr id="5" name="Text 3"/>
          <p:cNvSpPr txBox="1"/>
          <p:nvPr/>
        </p:nvSpPr>
        <p:spPr>
          <a:xfrm>
            <a:off x="868680" y="2651760"/>
            <a:ext cx="2834640" cy="548640"/>
          </a:xfrm>
          <a:prstGeom prst="rect">
            <a:avLst/>
          </a:prstGeom>
          <a:noFill/>
          <a:ln/>
        </p:spPr>
        <p:txBody>
          <a:bodyPr wrap="square" lIns="0" tIns="0" rIns="0" bIns="0" rtlCol="0" anchor="t"/>
          <a:lstStyle/>
          <a:p>
            <a:pPr indent="0" marL="0">
              <a:buNone/>
            </a:pPr>
            <a:r>
              <a:rPr lang="en-US" sz="2000" b="1" dirty="0">
                <a:solidFill>
                  <a:srgbClr val="0B1220"/>
                </a:solidFill>
                <a:latin typeface="Avenir Next" pitchFamily="34" charset="0"/>
                <a:ea typeface="Avenir Next" pitchFamily="34" charset="-122"/>
                <a:cs typeface="Avenir Next" pitchFamily="34" charset="-120"/>
              </a:rPr>
              <a:t>The problem &amp; the data</a:t>
            </a:r>
            <a:endParaRPr lang="en-US" sz="2000" dirty="0"/>
          </a:p>
        </p:txBody>
      </p:sp>
      <p:sp>
        <p:nvSpPr>
          <p:cNvPr id="6" name="Shape 4"/>
          <p:cNvSpPr/>
          <p:nvPr/>
        </p:nvSpPr>
        <p:spPr>
          <a:xfrm>
            <a:off x="4297680" y="1554480"/>
            <a:ext cx="3474720" cy="1920240"/>
          </a:xfrm>
          <a:prstGeom prst="roundRect">
            <a:avLst>
              <a:gd name="adj" fmla="val 5714"/>
            </a:avLst>
          </a:prstGeom>
          <a:solidFill>
            <a:srgbClr val="F1F5F9"/>
          </a:solidFill>
          <a:ln w="12700">
            <a:solidFill>
              <a:srgbClr val="F1F5F9"/>
            </a:solidFill>
            <a:prstDash val="solid"/>
          </a:ln>
        </p:spPr>
      </p:sp>
      <p:sp>
        <p:nvSpPr>
          <p:cNvPr id="7" name="Text 5"/>
          <p:cNvSpPr txBox="1"/>
          <p:nvPr/>
        </p:nvSpPr>
        <p:spPr>
          <a:xfrm>
            <a:off x="4617720" y="1874520"/>
            <a:ext cx="1828800" cy="640080"/>
          </a:xfrm>
          <a:prstGeom prst="rect">
            <a:avLst/>
          </a:prstGeom>
          <a:noFill/>
          <a:ln/>
        </p:spPr>
        <p:txBody>
          <a:bodyPr wrap="square" lIns="0" tIns="0" rIns="0" bIns="0" rtlCol="0" anchor="t"/>
          <a:lstStyle/>
          <a:p>
            <a:pPr indent="0" marL="0">
              <a:buNone/>
            </a:pPr>
            <a:r>
              <a:rPr lang="en-US" sz="3600" b="1" dirty="0">
                <a:solidFill>
                  <a:srgbClr val="EE4C2C"/>
                </a:solidFill>
                <a:latin typeface="Avenir Next" pitchFamily="34" charset="0"/>
                <a:ea typeface="Avenir Next" pitchFamily="34" charset="-122"/>
                <a:cs typeface="Avenir Next" pitchFamily="34" charset="-120"/>
              </a:rPr>
              <a:t>02</a:t>
            </a:r>
            <a:endParaRPr lang="en-US" sz="3600" dirty="0"/>
          </a:p>
        </p:txBody>
      </p:sp>
      <p:sp>
        <p:nvSpPr>
          <p:cNvPr id="8" name="Text 6"/>
          <p:cNvSpPr txBox="1"/>
          <p:nvPr/>
        </p:nvSpPr>
        <p:spPr>
          <a:xfrm>
            <a:off x="4617720" y="2651760"/>
            <a:ext cx="2834640" cy="548640"/>
          </a:xfrm>
          <a:prstGeom prst="rect">
            <a:avLst/>
          </a:prstGeom>
          <a:noFill/>
          <a:ln/>
        </p:spPr>
        <p:txBody>
          <a:bodyPr wrap="square" lIns="0" tIns="0" rIns="0" bIns="0" rtlCol="0" anchor="t"/>
          <a:lstStyle/>
          <a:p>
            <a:pPr indent="0" marL="0">
              <a:buNone/>
            </a:pPr>
            <a:r>
              <a:rPr lang="en-US" sz="2000" b="1" dirty="0">
                <a:solidFill>
                  <a:srgbClr val="0B1220"/>
                </a:solidFill>
                <a:latin typeface="Avenir Next" pitchFamily="34" charset="0"/>
                <a:ea typeface="Avenir Next" pitchFamily="34" charset="-122"/>
                <a:cs typeface="Avenir Next" pitchFamily="34" charset="-120"/>
              </a:rPr>
              <a:t>Solution architecture</a:t>
            </a:r>
            <a:endParaRPr lang="en-US" sz="2000" dirty="0"/>
          </a:p>
        </p:txBody>
      </p:sp>
      <p:sp>
        <p:nvSpPr>
          <p:cNvPr id="9" name="Shape 7"/>
          <p:cNvSpPr/>
          <p:nvPr/>
        </p:nvSpPr>
        <p:spPr>
          <a:xfrm>
            <a:off x="8046720" y="1554480"/>
            <a:ext cx="3474720" cy="1920240"/>
          </a:xfrm>
          <a:prstGeom prst="roundRect">
            <a:avLst>
              <a:gd name="adj" fmla="val 5714"/>
            </a:avLst>
          </a:prstGeom>
          <a:solidFill>
            <a:srgbClr val="F1F5F9"/>
          </a:solidFill>
          <a:ln w="12700">
            <a:solidFill>
              <a:srgbClr val="F1F5F9"/>
            </a:solidFill>
            <a:prstDash val="solid"/>
          </a:ln>
        </p:spPr>
      </p:sp>
      <p:sp>
        <p:nvSpPr>
          <p:cNvPr id="10" name="Text 8"/>
          <p:cNvSpPr txBox="1"/>
          <p:nvPr/>
        </p:nvSpPr>
        <p:spPr>
          <a:xfrm>
            <a:off x="8366760" y="1874520"/>
            <a:ext cx="1828800" cy="640080"/>
          </a:xfrm>
          <a:prstGeom prst="rect">
            <a:avLst/>
          </a:prstGeom>
          <a:noFill/>
          <a:ln/>
        </p:spPr>
        <p:txBody>
          <a:bodyPr wrap="square" lIns="0" tIns="0" rIns="0" bIns="0" rtlCol="0" anchor="t"/>
          <a:lstStyle/>
          <a:p>
            <a:pPr indent="0" marL="0">
              <a:buNone/>
            </a:pPr>
            <a:r>
              <a:rPr lang="en-US" sz="3600" b="1" dirty="0">
                <a:solidFill>
                  <a:srgbClr val="EE4C2C"/>
                </a:solidFill>
                <a:latin typeface="Avenir Next" pitchFamily="34" charset="0"/>
                <a:ea typeface="Avenir Next" pitchFamily="34" charset="-122"/>
                <a:cs typeface="Avenir Next" pitchFamily="34" charset="-120"/>
              </a:rPr>
              <a:t>03</a:t>
            </a:r>
            <a:endParaRPr lang="en-US" sz="3600" dirty="0"/>
          </a:p>
        </p:txBody>
      </p:sp>
      <p:sp>
        <p:nvSpPr>
          <p:cNvPr id="11" name="Text 9"/>
          <p:cNvSpPr txBox="1"/>
          <p:nvPr/>
        </p:nvSpPr>
        <p:spPr>
          <a:xfrm>
            <a:off x="8366760" y="2651760"/>
            <a:ext cx="2834640" cy="548640"/>
          </a:xfrm>
          <a:prstGeom prst="rect">
            <a:avLst/>
          </a:prstGeom>
          <a:noFill/>
          <a:ln/>
        </p:spPr>
        <p:txBody>
          <a:bodyPr wrap="square" lIns="0" tIns="0" rIns="0" bIns="0" rtlCol="0" anchor="t"/>
          <a:lstStyle/>
          <a:p>
            <a:pPr indent="0" marL="0">
              <a:buNone/>
            </a:pPr>
            <a:r>
              <a:rPr lang="en-US" sz="2000" b="1" dirty="0">
                <a:solidFill>
                  <a:srgbClr val="0B1220"/>
                </a:solidFill>
                <a:latin typeface="Avenir Next" pitchFamily="34" charset="0"/>
                <a:ea typeface="Avenir Next" pitchFamily="34" charset="-122"/>
                <a:cs typeface="Avenir Next" pitchFamily="34" charset="-120"/>
              </a:rPr>
              <a:t>Neural network &amp; training</a:t>
            </a:r>
            <a:endParaRPr lang="en-US" sz="2000" dirty="0"/>
          </a:p>
        </p:txBody>
      </p:sp>
      <p:sp>
        <p:nvSpPr>
          <p:cNvPr id="12" name="Shape 10"/>
          <p:cNvSpPr/>
          <p:nvPr/>
        </p:nvSpPr>
        <p:spPr>
          <a:xfrm>
            <a:off x="548640" y="3794760"/>
            <a:ext cx="3474720" cy="1920240"/>
          </a:xfrm>
          <a:prstGeom prst="roundRect">
            <a:avLst>
              <a:gd name="adj" fmla="val 5714"/>
            </a:avLst>
          </a:prstGeom>
          <a:solidFill>
            <a:srgbClr val="F1F5F9"/>
          </a:solidFill>
          <a:ln w="12700">
            <a:solidFill>
              <a:srgbClr val="F1F5F9"/>
            </a:solidFill>
            <a:prstDash val="solid"/>
          </a:ln>
        </p:spPr>
      </p:sp>
      <p:sp>
        <p:nvSpPr>
          <p:cNvPr id="13" name="Text 11"/>
          <p:cNvSpPr txBox="1"/>
          <p:nvPr/>
        </p:nvSpPr>
        <p:spPr>
          <a:xfrm>
            <a:off x="868680" y="4114800"/>
            <a:ext cx="1828800" cy="640080"/>
          </a:xfrm>
          <a:prstGeom prst="rect">
            <a:avLst/>
          </a:prstGeom>
          <a:noFill/>
          <a:ln/>
        </p:spPr>
        <p:txBody>
          <a:bodyPr wrap="square" lIns="0" tIns="0" rIns="0" bIns="0" rtlCol="0" anchor="t"/>
          <a:lstStyle/>
          <a:p>
            <a:pPr indent="0" marL="0">
              <a:buNone/>
            </a:pPr>
            <a:r>
              <a:rPr lang="en-US" sz="3600" b="1" dirty="0">
                <a:solidFill>
                  <a:srgbClr val="EE4C2C"/>
                </a:solidFill>
                <a:latin typeface="Avenir Next" pitchFamily="34" charset="0"/>
                <a:ea typeface="Avenir Next" pitchFamily="34" charset="-122"/>
                <a:cs typeface="Avenir Next" pitchFamily="34" charset="-120"/>
              </a:rPr>
              <a:t>04</a:t>
            </a:r>
            <a:endParaRPr lang="en-US" sz="3600" dirty="0"/>
          </a:p>
        </p:txBody>
      </p:sp>
      <p:sp>
        <p:nvSpPr>
          <p:cNvPr id="14" name="Text 12"/>
          <p:cNvSpPr txBox="1"/>
          <p:nvPr/>
        </p:nvSpPr>
        <p:spPr>
          <a:xfrm>
            <a:off x="868680" y="4892040"/>
            <a:ext cx="2834640" cy="548640"/>
          </a:xfrm>
          <a:prstGeom prst="rect">
            <a:avLst/>
          </a:prstGeom>
          <a:noFill/>
          <a:ln/>
        </p:spPr>
        <p:txBody>
          <a:bodyPr wrap="square" lIns="0" tIns="0" rIns="0" bIns="0" rtlCol="0" anchor="t"/>
          <a:lstStyle/>
          <a:p>
            <a:pPr indent="0" marL="0">
              <a:buNone/>
            </a:pPr>
            <a:r>
              <a:rPr lang="en-US" sz="2000" b="1" dirty="0">
                <a:solidFill>
                  <a:srgbClr val="0B1220"/>
                </a:solidFill>
                <a:latin typeface="Avenir Next" pitchFamily="34" charset="0"/>
                <a:ea typeface="Avenir Next" pitchFamily="34" charset="-122"/>
                <a:cs typeface="Avenir Next" pitchFamily="34" charset="-120"/>
              </a:rPr>
              <a:t>Results &amp; evaluation</a:t>
            </a:r>
            <a:endParaRPr lang="en-US" sz="2000" dirty="0"/>
          </a:p>
        </p:txBody>
      </p:sp>
      <p:sp>
        <p:nvSpPr>
          <p:cNvPr id="15" name="Shape 13"/>
          <p:cNvSpPr/>
          <p:nvPr/>
        </p:nvSpPr>
        <p:spPr>
          <a:xfrm>
            <a:off x="4297680" y="3794760"/>
            <a:ext cx="3474720" cy="1920240"/>
          </a:xfrm>
          <a:prstGeom prst="roundRect">
            <a:avLst>
              <a:gd name="adj" fmla="val 5714"/>
            </a:avLst>
          </a:prstGeom>
          <a:solidFill>
            <a:srgbClr val="F1F5F9"/>
          </a:solidFill>
          <a:ln w="12700">
            <a:solidFill>
              <a:srgbClr val="F1F5F9"/>
            </a:solidFill>
            <a:prstDash val="solid"/>
          </a:ln>
        </p:spPr>
      </p:sp>
      <p:sp>
        <p:nvSpPr>
          <p:cNvPr id="16" name="Text 14"/>
          <p:cNvSpPr txBox="1"/>
          <p:nvPr/>
        </p:nvSpPr>
        <p:spPr>
          <a:xfrm>
            <a:off x="4617720" y="4114800"/>
            <a:ext cx="1828800" cy="640080"/>
          </a:xfrm>
          <a:prstGeom prst="rect">
            <a:avLst/>
          </a:prstGeom>
          <a:noFill/>
          <a:ln/>
        </p:spPr>
        <p:txBody>
          <a:bodyPr wrap="square" lIns="0" tIns="0" rIns="0" bIns="0" rtlCol="0" anchor="t"/>
          <a:lstStyle/>
          <a:p>
            <a:pPr indent="0" marL="0">
              <a:buNone/>
            </a:pPr>
            <a:r>
              <a:rPr lang="en-US" sz="3600" b="1" dirty="0">
                <a:solidFill>
                  <a:srgbClr val="EE4C2C"/>
                </a:solidFill>
                <a:latin typeface="Avenir Next" pitchFamily="34" charset="0"/>
                <a:ea typeface="Avenir Next" pitchFamily="34" charset="-122"/>
                <a:cs typeface="Avenir Next" pitchFamily="34" charset="-120"/>
              </a:rPr>
              <a:t>05</a:t>
            </a:r>
            <a:endParaRPr lang="en-US" sz="3600" dirty="0"/>
          </a:p>
        </p:txBody>
      </p:sp>
      <p:sp>
        <p:nvSpPr>
          <p:cNvPr id="17" name="Text 15"/>
          <p:cNvSpPr txBox="1"/>
          <p:nvPr/>
        </p:nvSpPr>
        <p:spPr>
          <a:xfrm>
            <a:off x="4617720" y="4892040"/>
            <a:ext cx="2834640" cy="548640"/>
          </a:xfrm>
          <a:prstGeom prst="rect">
            <a:avLst/>
          </a:prstGeom>
          <a:noFill/>
          <a:ln/>
        </p:spPr>
        <p:txBody>
          <a:bodyPr wrap="square" lIns="0" tIns="0" rIns="0" bIns="0" rtlCol="0" anchor="t"/>
          <a:lstStyle/>
          <a:p>
            <a:pPr indent="0" marL="0">
              <a:buNone/>
            </a:pPr>
            <a:r>
              <a:rPr lang="en-US" sz="2000" b="1" dirty="0">
                <a:solidFill>
                  <a:srgbClr val="0B1220"/>
                </a:solidFill>
                <a:latin typeface="Avenir Next" pitchFamily="34" charset="0"/>
                <a:ea typeface="Avenir Next" pitchFamily="34" charset="-122"/>
                <a:cs typeface="Avenir Next" pitchFamily="34" charset="-120"/>
              </a:rPr>
              <a:t>Live demo</a:t>
            </a:r>
            <a:endParaRPr lang="en-US" sz="2000" dirty="0"/>
          </a:p>
        </p:txBody>
      </p:sp>
      <p:sp>
        <p:nvSpPr>
          <p:cNvPr id="18" name="Shape 16"/>
          <p:cNvSpPr/>
          <p:nvPr/>
        </p:nvSpPr>
        <p:spPr>
          <a:xfrm>
            <a:off x="8046720" y="3794760"/>
            <a:ext cx="3474720" cy="1920240"/>
          </a:xfrm>
          <a:prstGeom prst="roundRect">
            <a:avLst>
              <a:gd name="adj" fmla="val 5714"/>
            </a:avLst>
          </a:prstGeom>
          <a:solidFill>
            <a:srgbClr val="F1F5F9"/>
          </a:solidFill>
          <a:ln w="12700">
            <a:solidFill>
              <a:srgbClr val="F1F5F9"/>
            </a:solidFill>
            <a:prstDash val="solid"/>
          </a:ln>
        </p:spPr>
      </p:sp>
      <p:sp>
        <p:nvSpPr>
          <p:cNvPr id="19" name="Text 17"/>
          <p:cNvSpPr txBox="1"/>
          <p:nvPr/>
        </p:nvSpPr>
        <p:spPr>
          <a:xfrm>
            <a:off x="8366760" y="4114800"/>
            <a:ext cx="1828800" cy="640080"/>
          </a:xfrm>
          <a:prstGeom prst="rect">
            <a:avLst/>
          </a:prstGeom>
          <a:noFill/>
          <a:ln/>
        </p:spPr>
        <p:txBody>
          <a:bodyPr wrap="square" lIns="0" tIns="0" rIns="0" bIns="0" rtlCol="0" anchor="t"/>
          <a:lstStyle/>
          <a:p>
            <a:pPr indent="0" marL="0">
              <a:buNone/>
            </a:pPr>
            <a:r>
              <a:rPr lang="en-US" sz="3600" b="1" dirty="0">
                <a:solidFill>
                  <a:srgbClr val="EE4C2C"/>
                </a:solidFill>
                <a:latin typeface="Avenir Next" pitchFamily="34" charset="0"/>
                <a:ea typeface="Avenir Next" pitchFamily="34" charset="-122"/>
                <a:cs typeface="Avenir Next" pitchFamily="34" charset="-120"/>
              </a:rPr>
              <a:t>06</a:t>
            </a:r>
            <a:endParaRPr lang="en-US" sz="3600" dirty="0"/>
          </a:p>
        </p:txBody>
      </p:sp>
      <p:sp>
        <p:nvSpPr>
          <p:cNvPr id="20" name="Text 18"/>
          <p:cNvSpPr txBox="1"/>
          <p:nvPr/>
        </p:nvSpPr>
        <p:spPr>
          <a:xfrm>
            <a:off x="8366760" y="4892040"/>
            <a:ext cx="2834640" cy="548640"/>
          </a:xfrm>
          <a:prstGeom prst="rect">
            <a:avLst/>
          </a:prstGeom>
          <a:noFill/>
          <a:ln/>
        </p:spPr>
        <p:txBody>
          <a:bodyPr wrap="square" lIns="0" tIns="0" rIns="0" bIns="0" rtlCol="0" anchor="t"/>
          <a:lstStyle/>
          <a:p>
            <a:pPr indent="0" marL="0">
              <a:buNone/>
            </a:pPr>
            <a:r>
              <a:rPr lang="en-US" sz="2000" b="1" dirty="0">
                <a:solidFill>
                  <a:srgbClr val="0B1220"/>
                </a:solidFill>
                <a:latin typeface="Avenir Next" pitchFamily="34" charset="0"/>
                <a:ea typeface="Avenir Next" pitchFamily="34" charset="-122"/>
                <a:cs typeface="Avenir Next" pitchFamily="34" charset="-120"/>
              </a:rPr>
              <a:t>Limitations &amp; roadmap</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Helvetica Neue"/>
                <a:ea typeface="Helvetica Neue"/>
                <a:cs typeface="Helvetica Neue"/>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400" b="1" dirty="0">
                <a:solidFill>
                  <a:srgbClr val="0B1220"/>
                </a:solidFill>
                <a:latin typeface="Avenir Next" pitchFamily="34" charset="0"/>
                <a:ea typeface="Avenir Next" pitchFamily="34" charset="-122"/>
                <a:cs typeface="Avenir Next" pitchFamily="34" charset="-120"/>
              </a:rPr>
              <a:t>Fraud is rare — so accuracy is misleading</a:t>
            </a:r>
            <a:endParaRPr lang="en-US" sz="3400" dirty="0"/>
          </a:p>
        </p:txBody>
      </p:sp>
      <p:sp>
        <p:nvSpPr>
          <p:cNvPr id="3" name="Text 1"/>
          <p:cNvSpPr txBox="1"/>
          <p:nvPr/>
        </p:nvSpPr>
        <p:spPr>
          <a:xfrm>
            <a:off x="548640" y="1645920"/>
            <a:ext cx="5120640" cy="1463040"/>
          </a:xfrm>
          <a:prstGeom prst="rect">
            <a:avLst/>
          </a:prstGeom>
          <a:noFill/>
          <a:ln/>
        </p:spPr>
        <p:txBody>
          <a:bodyPr wrap="square" lIns="0" tIns="0" rIns="0" bIns="0" rtlCol="0" anchor="ctr"/>
          <a:lstStyle/>
          <a:p>
            <a:pPr indent="0" marL="0">
              <a:buNone/>
            </a:pPr>
            <a:r>
              <a:rPr lang="en-US" sz="11000" b="1" dirty="0">
                <a:solidFill>
                  <a:srgbClr val="EE4C2C"/>
                </a:solidFill>
                <a:latin typeface="Avenir Next" pitchFamily="34" charset="0"/>
                <a:ea typeface="Avenir Next" pitchFamily="34" charset="-122"/>
                <a:cs typeface="Avenir Next" pitchFamily="34" charset="-120"/>
              </a:rPr>
              <a:t>0.17%</a:t>
            </a:r>
            <a:endParaRPr lang="en-US" sz="11000" dirty="0"/>
          </a:p>
        </p:txBody>
      </p:sp>
      <p:sp>
        <p:nvSpPr>
          <p:cNvPr id="4" name="Text 2"/>
          <p:cNvSpPr txBox="1"/>
          <p:nvPr/>
        </p:nvSpPr>
        <p:spPr>
          <a:xfrm>
            <a:off x="548640" y="3154680"/>
            <a:ext cx="5120640" cy="457200"/>
          </a:xfrm>
          <a:prstGeom prst="rect">
            <a:avLst/>
          </a:prstGeom>
          <a:noFill/>
          <a:ln/>
        </p:spPr>
        <p:txBody>
          <a:bodyPr wrap="square" lIns="0" tIns="0" rIns="0" bIns="0" rtlCol="0" anchor="t"/>
          <a:lstStyle/>
          <a:p>
            <a:pPr indent="0" marL="0">
              <a:buNone/>
            </a:pPr>
            <a:r>
              <a:rPr lang="en-US" sz="2400" b="1" dirty="0">
                <a:solidFill>
                  <a:srgbClr val="0B1220"/>
                </a:solidFill>
                <a:latin typeface="Avenir Next" pitchFamily="34" charset="0"/>
                <a:ea typeface="Avenir Next" pitchFamily="34" charset="-122"/>
                <a:cs typeface="Avenir Next" pitchFamily="34" charset="-120"/>
              </a:rPr>
              <a:t>of transactions are fraud</a:t>
            </a:r>
            <a:endParaRPr lang="en-US" sz="2400" dirty="0"/>
          </a:p>
        </p:txBody>
      </p:sp>
      <p:sp>
        <p:nvSpPr>
          <p:cNvPr id="5" name="Text 3"/>
          <p:cNvSpPr txBox="1"/>
          <p:nvPr/>
        </p:nvSpPr>
        <p:spPr>
          <a:xfrm>
            <a:off x="548640" y="3657600"/>
            <a:ext cx="5120640" cy="365760"/>
          </a:xfrm>
          <a:prstGeom prst="rect">
            <a:avLst/>
          </a:prstGeom>
          <a:noFill/>
          <a:ln/>
        </p:spPr>
        <p:txBody>
          <a:bodyPr wrap="square" lIns="0" tIns="0" rIns="0" bIns="0" rtlCol="0" anchor="t"/>
          <a:lstStyle/>
          <a:p>
            <a:pPr indent="0" marL="0">
              <a:buNone/>
            </a:pPr>
            <a:r>
              <a:rPr lang="en-US" sz="1600" dirty="0">
                <a:solidFill>
                  <a:srgbClr val="64748B"/>
                </a:solidFill>
                <a:latin typeface="Helvetica Neue" pitchFamily="34" charset="0"/>
                <a:ea typeface="Helvetica Neue" pitchFamily="34" charset="-122"/>
                <a:cs typeface="Helvetica Neue" pitchFamily="34" charset="-120"/>
              </a:rPr>
              <a:t>492 fraud cases among 284,807 card transactions</a:t>
            </a:r>
            <a:endParaRPr lang="en-US" sz="1600" dirty="0"/>
          </a:p>
        </p:txBody>
      </p:sp>
      <p:sp>
        <p:nvSpPr>
          <p:cNvPr id="6" name="Shape 4"/>
          <p:cNvSpPr/>
          <p:nvPr/>
        </p:nvSpPr>
        <p:spPr>
          <a:xfrm>
            <a:off x="6309360" y="1554480"/>
            <a:ext cx="5330952" cy="4206240"/>
          </a:xfrm>
          <a:prstGeom prst="roundRect">
            <a:avLst>
              <a:gd name="adj" fmla="val 2609"/>
            </a:avLst>
          </a:prstGeom>
          <a:solidFill>
            <a:srgbClr val="F1F5F9"/>
          </a:solidFill>
          <a:ln w="12700">
            <a:solidFill>
              <a:srgbClr val="F1F5F9"/>
            </a:solidFill>
            <a:prstDash val="solid"/>
          </a:ln>
        </p:spPr>
      </p:sp>
      <p:sp>
        <p:nvSpPr>
          <p:cNvPr id="7" name="Shape 5"/>
          <p:cNvSpPr/>
          <p:nvPr/>
        </p:nvSpPr>
        <p:spPr>
          <a:xfrm>
            <a:off x="6675120" y="1874520"/>
            <a:ext cx="731520" cy="731520"/>
          </a:xfrm>
          <a:prstGeom prst="ellipse">
            <a:avLst/>
          </a:prstGeom>
          <a:solidFill>
            <a:srgbClr val="FDE7E2"/>
          </a:solidFill>
          <a:ln w="12700">
            <a:solidFill>
              <a:srgbClr val="FDE7E2"/>
            </a:solidFill>
            <a:prstDash val="solid"/>
          </a:ln>
        </p:spPr>
      </p:sp>
      <p:pic>
        <p:nvPicPr>
          <p:cNvPr id="8" name="Image 0" descr="preencoded.png">    </p:cNvPr>
          <p:cNvPicPr>
            <a:picLocks noChangeAspect="1"/>
          </p:cNvPicPr>
          <p:nvPr/>
        </p:nvPicPr>
        <p:blipFill>
          <a:blip r:embed="rId1"/>
          <a:stretch>
            <a:fillRect/>
          </a:stretch>
        </p:blipFill>
        <p:spPr>
          <a:xfrm>
            <a:off x="6836054" y="2035454"/>
            <a:ext cx="409651" cy="409651"/>
          </a:xfrm>
          <a:prstGeom prst="rect">
            <a:avLst/>
          </a:prstGeom>
        </p:spPr>
      </p:pic>
      <p:sp>
        <p:nvSpPr>
          <p:cNvPr id="9" name="Text 6"/>
          <p:cNvSpPr txBox="1"/>
          <p:nvPr/>
        </p:nvSpPr>
        <p:spPr>
          <a:xfrm>
            <a:off x="7589520" y="1965960"/>
            <a:ext cx="3840480" cy="548640"/>
          </a:xfrm>
          <a:prstGeom prst="rect">
            <a:avLst/>
          </a:prstGeom>
          <a:noFill/>
          <a:ln/>
        </p:spPr>
        <p:txBody>
          <a:bodyPr wrap="square" lIns="0" tIns="0" rIns="0" bIns="0" rtlCol="0" anchor="ctr"/>
          <a:lstStyle/>
          <a:p>
            <a:pPr indent="0" marL="0">
              <a:buNone/>
            </a:pPr>
            <a:r>
              <a:rPr lang="en-US" sz="2200" b="1" dirty="0">
                <a:solidFill>
                  <a:srgbClr val="0B1220"/>
                </a:solidFill>
                <a:latin typeface="Avenir Next" pitchFamily="34" charset="0"/>
                <a:ea typeface="Avenir Next" pitchFamily="34" charset="-122"/>
                <a:cs typeface="Avenir Next" pitchFamily="34" charset="-120"/>
              </a:rPr>
              <a:t>The accuracy trap</a:t>
            </a:r>
            <a:endParaRPr lang="en-US" sz="2200" dirty="0"/>
          </a:p>
        </p:txBody>
      </p:sp>
      <p:sp>
        <p:nvSpPr>
          <p:cNvPr id="10" name="Text 7"/>
          <p:cNvSpPr txBox="1"/>
          <p:nvPr/>
        </p:nvSpPr>
        <p:spPr>
          <a:xfrm>
            <a:off x="6675120" y="2880360"/>
            <a:ext cx="4663440" cy="1005840"/>
          </a:xfrm>
          <a:prstGeom prst="rect">
            <a:avLst/>
          </a:prstGeom>
          <a:noFill/>
          <a:ln/>
        </p:spPr>
        <p:txBody>
          <a:bodyPr wrap="square" lIns="0" tIns="0" rIns="0" bIns="0" rtlCol="0" anchor="t"/>
          <a:lstStyle/>
          <a:p>
            <a:pPr indent="0" marL="0">
              <a:buNone/>
            </a:pPr>
            <a:r>
              <a:rPr lang="en-US" sz="1800" dirty="0">
                <a:solidFill>
                  <a:srgbClr val="1E293B"/>
                </a:solidFill>
                <a:latin typeface="Helvetica Neue" pitchFamily="34" charset="0"/>
                <a:ea typeface="Helvetica Neue" pitchFamily="34" charset="-122"/>
                <a:cs typeface="Helvetica Neue" pitchFamily="34" charset="-120"/>
              </a:rPr>
              <a:t>A model that always answers “legitimate” is </a:t>
            </a:r>
            <a:pPr indent="0" marL="0">
              <a:buNone/>
            </a:pPr>
            <a:r>
              <a:rPr lang="en-US" sz="1800" b="1" dirty="0">
                <a:solidFill>
                  <a:srgbClr val="EE4C2C"/>
                </a:solidFill>
                <a:latin typeface="Helvetica Neue" pitchFamily="34" charset="0"/>
                <a:ea typeface="Helvetica Neue" pitchFamily="34" charset="-122"/>
                <a:cs typeface="Helvetica Neue" pitchFamily="34" charset="-120"/>
              </a:rPr>
              <a:t>99.83% accurate</a:t>
            </a:r>
            <a:pPr indent="0" marL="0">
              <a:buNone/>
            </a:pPr>
            <a:r>
              <a:rPr lang="en-US" sz="1800" dirty="0">
                <a:solidFill>
                  <a:srgbClr val="1E293B"/>
                </a:solidFill>
                <a:latin typeface="Helvetica Neue" pitchFamily="34" charset="0"/>
                <a:ea typeface="Helvetica Neue" pitchFamily="34" charset="-122"/>
                <a:cs typeface="Helvetica Neue" pitchFamily="34" charset="-120"/>
              </a:rPr>
              <a:t> — and catches zero fraud.</a:t>
            </a:r>
            <a:endParaRPr lang="en-US" sz="1800" dirty="0"/>
          </a:p>
        </p:txBody>
      </p:sp>
      <p:sp>
        <p:nvSpPr>
          <p:cNvPr id="11" name="Text 8"/>
          <p:cNvSpPr txBox="1"/>
          <p:nvPr/>
        </p:nvSpPr>
        <p:spPr>
          <a:xfrm>
            <a:off x="6675120" y="3977640"/>
            <a:ext cx="4663440" cy="365760"/>
          </a:xfrm>
          <a:prstGeom prst="rect">
            <a:avLst/>
          </a:prstGeom>
          <a:noFill/>
          <a:ln/>
        </p:spPr>
        <p:txBody>
          <a:bodyPr wrap="square" lIns="0" tIns="0" rIns="0" bIns="0" rtlCol="0" anchor="t"/>
          <a:lstStyle/>
          <a:p>
            <a:pPr indent="0" marL="0">
              <a:buNone/>
            </a:pPr>
            <a:r>
              <a:rPr lang="en-US" sz="1600" b="1" dirty="0">
                <a:solidFill>
                  <a:srgbClr val="0B1220"/>
                </a:solidFill>
                <a:latin typeface="Helvetica Neue" pitchFamily="34" charset="0"/>
                <a:ea typeface="Helvetica Neue" pitchFamily="34" charset="-122"/>
                <a:cs typeface="Helvetica Neue" pitchFamily="34" charset="-120"/>
              </a:rPr>
              <a:t>So DeepGuard is judged on:</a:t>
            </a:r>
            <a:endParaRPr lang="en-US" sz="1600" dirty="0"/>
          </a:p>
        </p:txBody>
      </p:sp>
      <p:sp>
        <p:nvSpPr>
          <p:cNvPr id="12" name="Text 9"/>
          <p:cNvSpPr txBox="1"/>
          <p:nvPr/>
        </p:nvSpPr>
        <p:spPr>
          <a:xfrm>
            <a:off x="6675120" y="4389120"/>
            <a:ext cx="4663440" cy="457200"/>
          </a:xfrm>
          <a:prstGeom prst="rect">
            <a:avLst/>
          </a:prstGeom>
          <a:noFill/>
          <a:ln/>
        </p:spPr>
        <p:txBody>
          <a:bodyPr wrap="square" lIns="0" tIns="0" rIns="0" bIns="0" rtlCol="0" anchor="t"/>
          <a:lstStyle/>
          <a:p>
            <a:pPr indent="0" marL="0">
              <a:buNone/>
            </a:pPr>
            <a:r>
              <a:rPr lang="en-US" sz="1800" b="1" dirty="0">
                <a:solidFill>
                  <a:srgbClr val="0F766E"/>
                </a:solidFill>
                <a:latin typeface="Helvetica Neue" pitchFamily="34" charset="0"/>
                <a:ea typeface="Helvetica Neue" pitchFamily="34" charset="-122"/>
                <a:cs typeface="Helvetica Neue" pitchFamily="34" charset="-120"/>
              </a:rPr>
              <a:t>Precision  ·  Recall  ·  F1  ·  PR-AUC  ·  ROC-AUC</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Helvetica Neue"/>
                <a:ea typeface="Helvetica Neue"/>
                <a:cs typeface="Helvetica Neue"/>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400" b="1" dirty="0">
                <a:solidFill>
                  <a:srgbClr val="0B1220"/>
                </a:solidFill>
                <a:latin typeface="Avenir Next" pitchFamily="34" charset="0"/>
                <a:ea typeface="Avenir Next" pitchFamily="34" charset="-122"/>
                <a:cs typeface="Avenir Next" pitchFamily="34" charset="-120"/>
              </a:rPr>
              <a:t>The dataset: 30 numeric inputs, 1 label</a:t>
            </a:r>
            <a:endParaRPr lang="en-US" sz="3400" dirty="0"/>
          </a:p>
        </p:txBody>
      </p:sp>
      <p:sp>
        <p:nvSpPr>
          <p:cNvPr id="3" name="Shape 1"/>
          <p:cNvSpPr/>
          <p:nvPr/>
        </p:nvSpPr>
        <p:spPr>
          <a:xfrm>
            <a:off x="548640" y="1554480"/>
            <a:ext cx="3474720" cy="2651760"/>
          </a:xfrm>
          <a:prstGeom prst="roundRect">
            <a:avLst>
              <a:gd name="adj" fmla="val 4138"/>
            </a:avLst>
          </a:prstGeom>
          <a:solidFill>
            <a:srgbClr val="F1F5F9"/>
          </a:solidFill>
          <a:ln w="12700">
            <a:solidFill>
              <a:srgbClr val="F1F5F9"/>
            </a:solidFill>
            <a:prstDash val="solid"/>
          </a:ln>
        </p:spPr>
      </p:sp>
      <p:sp>
        <p:nvSpPr>
          <p:cNvPr id="4" name="Shape 2"/>
          <p:cNvSpPr/>
          <p:nvPr/>
        </p:nvSpPr>
        <p:spPr>
          <a:xfrm>
            <a:off x="868680" y="1874520"/>
            <a:ext cx="777240" cy="777240"/>
          </a:xfrm>
          <a:prstGeom prst="ellipse">
            <a:avLst/>
          </a:prstGeom>
          <a:solidFill>
            <a:srgbClr val="1E293B"/>
          </a:solidFill>
          <a:ln w="12700">
            <a:solidFill>
              <a:srgbClr val="1E293B"/>
            </a:solidFill>
            <a:prstDash val="solid"/>
          </a:ln>
        </p:spPr>
      </p:sp>
      <p:pic>
        <p:nvPicPr>
          <p:cNvPr id="5" name="Image 0" descr="preencoded.png">    </p:cNvPr>
          <p:cNvPicPr>
            <a:picLocks noChangeAspect="1"/>
          </p:cNvPicPr>
          <p:nvPr/>
        </p:nvPicPr>
        <p:blipFill>
          <a:blip r:embed="rId1"/>
          <a:stretch>
            <a:fillRect/>
          </a:stretch>
        </p:blipFill>
        <p:spPr>
          <a:xfrm>
            <a:off x="1039673" y="2045513"/>
            <a:ext cx="435254" cy="435254"/>
          </a:xfrm>
          <a:prstGeom prst="rect">
            <a:avLst/>
          </a:prstGeom>
        </p:spPr>
      </p:pic>
      <p:sp>
        <p:nvSpPr>
          <p:cNvPr id="6" name="Text 3"/>
          <p:cNvSpPr txBox="1"/>
          <p:nvPr/>
        </p:nvSpPr>
        <p:spPr>
          <a:xfrm>
            <a:off x="868680" y="2834640"/>
            <a:ext cx="2834640" cy="457200"/>
          </a:xfrm>
          <a:prstGeom prst="rect">
            <a:avLst/>
          </a:prstGeom>
          <a:noFill/>
          <a:ln/>
        </p:spPr>
        <p:txBody>
          <a:bodyPr wrap="square" lIns="0" tIns="0" rIns="0" bIns="0" rtlCol="0" anchor="t"/>
          <a:lstStyle/>
          <a:p>
            <a:pPr indent="0" marL="0">
              <a:buNone/>
            </a:pPr>
            <a:r>
              <a:rPr lang="en-US" sz="2400" b="1" dirty="0">
                <a:solidFill>
                  <a:srgbClr val="0B1220"/>
                </a:solidFill>
                <a:latin typeface="Avenir Next" pitchFamily="34" charset="0"/>
                <a:ea typeface="Avenir Next" pitchFamily="34" charset="-122"/>
                <a:cs typeface="Avenir Next" pitchFamily="34" charset="-120"/>
              </a:rPr>
              <a:t>Time</a:t>
            </a:r>
            <a:endParaRPr lang="en-US" sz="2400" dirty="0"/>
          </a:p>
        </p:txBody>
      </p:sp>
      <p:sp>
        <p:nvSpPr>
          <p:cNvPr id="7" name="Text 4"/>
          <p:cNvSpPr txBox="1"/>
          <p:nvPr/>
        </p:nvSpPr>
        <p:spPr>
          <a:xfrm>
            <a:off x="868680" y="3337560"/>
            <a:ext cx="2834640" cy="731520"/>
          </a:xfrm>
          <a:prstGeom prst="rect">
            <a:avLst/>
          </a:prstGeom>
          <a:noFill/>
          <a:ln/>
        </p:spPr>
        <p:txBody>
          <a:bodyPr wrap="square" lIns="0" tIns="0" rIns="0" bIns="0" rtlCol="0" anchor="t"/>
          <a:lstStyle/>
          <a:p>
            <a:pPr indent="0" marL="0">
              <a:buNone/>
            </a:pPr>
            <a:r>
              <a:rPr lang="en-US" sz="1500" dirty="0">
                <a:solidFill>
                  <a:srgbClr val="64748B"/>
                </a:solidFill>
                <a:latin typeface="Helvetica Neue" pitchFamily="34" charset="0"/>
                <a:ea typeface="Helvetica Neue" pitchFamily="34" charset="-122"/>
                <a:cs typeface="Helvetica Neue" pitchFamily="34" charset="-120"/>
              </a:rPr>
              <a:t>Seconds elapsed since the first transaction in the dataset</a:t>
            </a:r>
            <a:endParaRPr lang="en-US" sz="1500" dirty="0"/>
          </a:p>
        </p:txBody>
      </p:sp>
      <p:sp>
        <p:nvSpPr>
          <p:cNvPr id="8" name="Shape 5"/>
          <p:cNvSpPr/>
          <p:nvPr/>
        </p:nvSpPr>
        <p:spPr>
          <a:xfrm>
            <a:off x="4297680" y="1554480"/>
            <a:ext cx="3474720" cy="2651760"/>
          </a:xfrm>
          <a:prstGeom prst="roundRect">
            <a:avLst>
              <a:gd name="adj" fmla="val 4138"/>
            </a:avLst>
          </a:prstGeom>
          <a:solidFill>
            <a:srgbClr val="F1F5F9"/>
          </a:solidFill>
          <a:ln w="12700">
            <a:solidFill>
              <a:srgbClr val="F1F5F9"/>
            </a:solidFill>
            <a:prstDash val="solid"/>
          </a:ln>
        </p:spPr>
      </p:sp>
      <p:sp>
        <p:nvSpPr>
          <p:cNvPr id="9" name="Shape 6"/>
          <p:cNvSpPr/>
          <p:nvPr/>
        </p:nvSpPr>
        <p:spPr>
          <a:xfrm>
            <a:off x="4617720" y="1874520"/>
            <a:ext cx="777240" cy="777240"/>
          </a:xfrm>
          <a:prstGeom prst="ellipse">
            <a:avLst/>
          </a:prstGeom>
          <a:solidFill>
            <a:srgbClr val="1E293B"/>
          </a:solidFill>
          <a:ln w="12700">
            <a:solidFill>
              <a:srgbClr val="1E293B"/>
            </a:solidFill>
            <a:prstDash val="solid"/>
          </a:ln>
        </p:spPr>
      </p:sp>
      <p:pic>
        <p:nvPicPr>
          <p:cNvPr id="10" name="Image 1" descr="preencoded.png">    </p:cNvPr>
          <p:cNvPicPr>
            <a:picLocks noChangeAspect="1"/>
          </p:cNvPicPr>
          <p:nvPr/>
        </p:nvPicPr>
        <p:blipFill>
          <a:blip r:embed="rId2"/>
          <a:stretch>
            <a:fillRect/>
          </a:stretch>
        </p:blipFill>
        <p:spPr>
          <a:xfrm>
            <a:off x="4788713" y="2045513"/>
            <a:ext cx="435254" cy="435254"/>
          </a:xfrm>
          <a:prstGeom prst="rect">
            <a:avLst/>
          </a:prstGeom>
        </p:spPr>
      </p:pic>
      <p:sp>
        <p:nvSpPr>
          <p:cNvPr id="11" name="Text 7"/>
          <p:cNvSpPr txBox="1"/>
          <p:nvPr/>
        </p:nvSpPr>
        <p:spPr>
          <a:xfrm>
            <a:off x="4617720" y="2834640"/>
            <a:ext cx="2834640" cy="457200"/>
          </a:xfrm>
          <a:prstGeom prst="rect">
            <a:avLst/>
          </a:prstGeom>
          <a:noFill/>
          <a:ln/>
        </p:spPr>
        <p:txBody>
          <a:bodyPr wrap="square" lIns="0" tIns="0" rIns="0" bIns="0" rtlCol="0" anchor="t"/>
          <a:lstStyle/>
          <a:p>
            <a:pPr indent="0" marL="0">
              <a:buNone/>
            </a:pPr>
            <a:r>
              <a:rPr lang="en-US" sz="2400" b="1" dirty="0">
                <a:solidFill>
                  <a:srgbClr val="0B1220"/>
                </a:solidFill>
                <a:latin typeface="Avenir Next" pitchFamily="34" charset="0"/>
                <a:ea typeface="Avenir Next" pitchFamily="34" charset="-122"/>
                <a:cs typeface="Avenir Next" pitchFamily="34" charset="-120"/>
              </a:rPr>
              <a:t>V1 – V28</a:t>
            </a:r>
            <a:endParaRPr lang="en-US" sz="2400" dirty="0"/>
          </a:p>
        </p:txBody>
      </p:sp>
      <p:sp>
        <p:nvSpPr>
          <p:cNvPr id="12" name="Text 8"/>
          <p:cNvSpPr txBox="1"/>
          <p:nvPr/>
        </p:nvSpPr>
        <p:spPr>
          <a:xfrm>
            <a:off x="4617720" y="3337560"/>
            <a:ext cx="2834640" cy="731520"/>
          </a:xfrm>
          <a:prstGeom prst="rect">
            <a:avLst/>
          </a:prstGeom>
          <a:noFill/>
          <a:ln/>
        </p:spPr>
        <p:txBody>
          <a:bodyPr wrap="square" lIns="0" tIns="0" rIns="0" bIns="0" rtlCol="0" anchor="t"/>
          <a:lstStyle/>
          <a:p>
            <a:pPr indent="0" marL="0">
              <a:buNone/>
            </a:pPr>
            <a:r>
              <a:rPr lang="en-US" sz="1500" dirty="0">
                <a:solidFill>
                  <a:srgbClr val="64748B"/>
                </a:solidFill>
                <a:latin typeface="Helvetica Neue" pitchFamily="34" charset="0"/>
                <a:ea typeface="Helvetica Neue" pitchFamily="34" charset="-122"/>
                <a:cs typeface="Helvetica Neue" pitchFamily="34" charset="-120"/>
              </a:rPr>
              <a:t>28 anonymized PCA components — original details hidden for privacy</a:t>
            </a:r>
            <a:endParaRPr lang="en-US" sz="1500" dirty="0"/>
          </a:p>
        </p:txBody>
      </p:sp>
      <p:sp>
        <p:nvSpPr>
          <p:cNvPr id="13" name="Shape 9"/>
          <p:cNvSpPr/>
          <p:nvPr/>
        </p:nvSpPr>
        <p:spPr>
          <a:xfrm>
            <a:off x="8046720" y="1554480"/>
            <a:ext cx="3474720" cy="2651760"/>
          </a:xfrm>
          <a:prstGeom prst="roundRect">
            <a:avLst>
              <a:gd name="adj" fmla="val 4138"/>
            </a:avLst>
          </a:prstGeom>
          <a:solidFill>
            <a:srgbClr val="F1F5F9"/>
          </a:solidFill>
          <a:ln w="12700">
            <a:solidFill>
              <a:srgbClr val="F1F5F9"/>
            </a:solidFill>
            <a:prstDash val="solid"/>
          </a:ln>
        </p:spPr>
      </p:sp>
      <p:sp>
        <p:nvSpPr>
          <p:cNvPr id="14" name="Shape 10"/>
          <p:cNvSpPr/>
          <p:nvPr/>
        </p:nvSpPr>
        <p:spPr>
          <a:xfrm>
            <a:off x="8366760" y="1874520"/>
            <a:ext cx="777240" cy="777240"/>
          </a:xfrm>
          <a:prstGeom prst="ellipse">
            <a:avLst/>
          </a:prstGeom>
          <a:solidFill>
            <a:srgbClr val="1E293B"/>
          </a:solidFill>
          <a:ln w="12700">
            <a:solidFill>
              <a:srgbClr val="1E293B"/>
            </a:solidFill>
            <a:prstDash val="solid"/>
          </a:ln>
        </p:spPr>
      </p:sp>
      <p:pic>
        <p:nvPicPr>
          <p:cNvPr id="15" name="Image 2" descr="preencoded.png">    </p:cNvPr>
          <p:cNvPicPr>
            <a:picLocks noChangeAspect="1"/>
          </p:cNvPicPr>
          <p:nvPr/>
        </p:nvPicPr>
        <p:blipFill>
          <a:blip r:embed="rId3"/>
          <a:stretch>
            <a:fillRect/>
          </a:stretch>
        </p:blipFill>
        <p:spPr>
          <a:xfrm>
            <a:off x="8537753" y="2045513"/>
            <a:ext cx="435254" cy="435254"/>
          </a:xfrm>
          <a:prstGeom prst="rect">
            <a:avLst/>
          </a:prstGeom>
        </p:spPr>
      </p:pic>
      <p:sp>
        <p:nvSpPr>
          <p:cNvPr id="16" name="Text 11"/>
          <p:cNvSpPr txBox="1"/>
          <p:nvPr/>
        </p:nvSpPr>
        <p:spPr>
          <a:xfrm>
            <a:off x="8366760" y="2834640"/>
            <a:ext cx="2834640" cy="457200"/>
          </a:xfrm>
          <a:prstGeom prst="rect">
            <a:avLst/>
          </a:prstGeom>
          <a:noFill/>
          <a:ln/>
        </p:spPr>
        <p:txBody>
          <a:bodyPr wrap="square" lIns="0" tIns="0" rIns="0" bIns="0" rtlCol="0" anchor="t"/>
          <a:lstStyle/>
          <a:p>
            <a:pPr indent="0" marL="0">
              <a:buNone/>
            </a:pPr>
            <a:r>
              <a:rPr lang="en-US" sz="2400" b="1" dirty="0">
                <a:solidFill>
                  <a:srgbClr val="0B1220"/>
                </a:solidFill>
                <a:latin typeface="Avenir Next" pitchFamily="34" charset="0"/>
                <a:ea typeface="Avenir Next" pitchFamily="34" charset="-122"/>
                <a:cs typeface="Avenir Next" pitchFamily="34" charset="-120"/>
              </a:rPr>
              <a:t>Amount</a:t>
            </a:r>
            <a:endParaRPr lang="en-US" sz="2400" dirty="0"/>
          </a:p>
        </p:txBody>
      </p:sp>
      <p:sp>
        <p:nvSpPr>
          <p:cNvPr id="17" name="Text 12"/>
          <p:cNvSpPr txBox="1"/>
          <p:nvPr/>
        </p:nvSpPr>
        <p:spPr>
          <a:xfrm>
            <a:off x="8366760" y="3337560"/>
            <a:ext cx="2834640" cy="731520"/>
          </a:xfrm>
          <a:prstGeom prst="rect">
            <a:avLst/>
          </a:prstGeom>
          <a:noFill/>
          <a:ln/>
        </p:spPr>
        <p:txBody>
          <a:bodyPr wrap="square" lIns="0" tIns="0" rIns="0" bIns="0" rtlCol="0" anchor="t"/>
          <a:lstStyle/>
          <a:p>
            <a:pPr indent="0" marL="0">
              <a:buNone/>
            </a:pPr>
            <a:r>
              <a:rPr lang="en-US" sz="1500" dirty="0">
                <a:solidFill>
                  <a:srgbClr val="64748B"/>
                </a:solidFill>
                <a:latin typeface="Helvetica Neue" pitchFamily="34" charset="0"/>
                <a:ea typeface="Helvetica Neue" pitchFamily="34" charset="-122"/>
                <a:cs typeface="Helvetica Neue" pitchFamily="34" charset="-120"/>
              </a:rPr>
              <a:t>Transaction amount</a:t>
            </a:r>
            <a:endParaRPr lang="en-US" sz="1500" dirty="0"/>
          </a:p>
        </p:txBody>
      </p:sp>
      <p:sp>
        <p:nvSpPr>
          <p:cNvPr id="18" name="Shape 13"/>
          <p:cNvSpPr/>
          <p:nvPr/>
        </p:nvSpPr>
        <p:spPr>
          <a:xfrm>
            <a:off x="548640" y="4526280"/>
            <a:ext cx="11094415" cy="1143000"/>
          </a:xfrm>
          <a:prstGeom prst="roundRect">
            <a:avLst>
              <a:gd name="adj" fmla="val 9600"/>
            </a:avLst>
          </a:prstGeom>
          <a:solidFill>
            <a:srgbClr val="FDE7E2"/>
          </a:solidFill>
          <a:ln w="12700">
            <a:solidFill>
              <a:srgbClr val="FDE7E2"/>
            </a:solidFill>
            <a:prstDash val="solid"/>
          </a:ln>
        </p:spPr>
      </p:sp>
      <p:sp>
        <p:nvSpPr>
          <p:cNvPr id="19" name="Shape 14"/>
          <p:cNvSpPr/>
          <p:nvPr/>
        </p:nvSpPr>
        <p:spPr>
          <a:xfrm>
            <a:off x="822960" y="4709160"/>
            <a:ext cx="777240" cy="777240"/>
          </a:xfrm>
          <a:prstGeom prst="ellipse">
            <a:avLst/>
          </a:prstGeom>
          <a:solidFill>
            <a:srgbClr val="EE4C2C"/>
          </a:solidFill>
          <a:ln w="12700">
            <a:solidFill>
              <a:srgbClr val="EE4C2C"/>
            </a:solidFill>
            <a:prstDash val="solid"/>
          </a:ln>
        </p:spPr>
      </p:sp>
      <p:pic>
        <p:nvPicPr>
          <p:cNvPr id="20" name="Image 3" descr="preencoded.png">    </p:cNvPr>
          <p:cNvPicPr>
            <a:picLocks noChangeAspect="1"/>
          </p:cNvPicPr>
          <p:nvPr/>
        </p:nvPicPr>
        <p:blipFill>
          <a:blip r:embed="rId4"/>
          <a:stretch>
            <a:fillRect/>
          </a:stretch>
        </p:blipFill>
        <p:spPr>
          <a:xfrm>
            <a:off x="993953" y="4880153"/>
            <a:ext cx="435254" cy="435254"/>
          </a:xfrm>
          <a:prstGeom prst="rect">
            <a:avLst/>
          </a:prstGeom>
        </p:spPr>
      </p:pic>
      <p:sp>
        <p:nvSpPr>
          <p:cNvPr id="21" name="Text 15"/>
          <p:cNvSpPr txBox="1"/>
          <p:nvPr/>
        </p:nvSpPr>
        <p:spPr>
          <a:xfrm>
            <a:off x="1874520" y="4754880"/>
            <a:ext cx="8686800" cy="365760"/>
          </a:xfrm>
          <a:prstGeom prst="rect">
            <a:avLst/>
          </a:prstGeom>
          <a:noFill/>
          <a:ln/>
        </p:spPr>
        <p:txBody>
          <a:bodyPr wrap="square" lIns="0" tIns="0" rIns="0" bIns="0" rtlCol="0" anchor="t"/>
          <a:lstStyle/>
          <a:p>
            <a:pPr indent="0" marL="0">
              <a:buNone/>
            </a:pPr>
            <a:r>
              <a:rPr lang="en-US" sz="1800" b="1" dirty="0">
                <a:solidFill>
                  <a:srgbClr val="0B1220"/>
                </a:solidFill>
                <a:latin typeface="Helvetica Neue" pitchFamily="34" charset="0"/>
                <a:ea typeface="Helvetica Neue" pitchFamily="34" charset="-122"/>
                <a:cs typeface="Helvetica Neue" pitchFamily="34" charset="-120"/>
              </a:rPr>
              <a:t>Class</a:t>
            </a:r>
            <a:pPr indent="0" marL="0">
              <a:buNone/>
            </a:pPr>
            <a:r>
              <a:rPr lang="en-US" sz="1800" dirty="0">
                <a:solidFill>
                  <a:srgbClr val="1E293B"/>
                </a:solidFill>
                <a:latin typeface="Helvetica Neue" pitchFamily="34" charset="0"/>
                <a:ea typeface="Helvetica Neue" pitchFamily="34" charset="-122"/>
                <a:cs typeface="Helvetica Neue" pitchFamily="34" charset="-120"/>
              </a:rPr>
              <a:t>  —  target label:  0 = legitimate,  1 = fraud</a:t>
            </a:r>
            <a:endParaRPr lang="en-US" sz="1800" dirty="0"/>
          </a:p>
        </p:txBody>
      </p:sp>
      <p:sp>
        <p:nvSpPr>
          <p:cNvPr id="22" name="Text 16"/>
          <p:cNvSpPr txBox="1"/>
          <p:nvPr/>
        </p:nvSpPr>
        <p:spPr>
          <a:xfrm>
            <a:off x="1874520" y="5166360"/>
            <a:ext cx="9144000" cy="32004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Used only for training and evaluation — never sent to the model as an input.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Helvetica Neue"/>
                <a:ea typeface="Helvetica Neue"/>
                <a:cs typeface="Helvetica Neue"/>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400" b="1" dirty="0">
                <a:solidFill>
                  <a:srgbClr val="0B1220"/>
                </a:solidFill>
                <a:latin typeface="Avenir Next" pitchFamily="34" charset="0"/>
                <a:ea typeface="Avenir Next" pitchFamily="34" charset="-122"/>
                <a:cs typeface="Avenir Next" pitchFamily="34" charset="-120"/>
              </a:rPr>
              <a:t>End-to-end pipeline</a:t>
            </a:r>
            <a:endParaRPr lang="en-US" sz="3400" dirty="0"/>
          </a:p>
        </p:txBody>
      </p:sp>
      <p:sp>
        <p:nvSpPr>
          <p:cNvPr id="3" name="Shape 1"/>
          <p:cNvSpPr/>
          <p:nvPr/>
        </p:nvSpPr>
        <p:spPr>
          <a:xfrm>
            <a:off x="861038" y="1737360"/>
            <a:ext cx="960120" cy="960120"/>
          </a:xfrm>
          <a:prstGeom prst="ellipse">
            <a:avLst/>
          </a:prstGeom>
          <a:solidFill>
            <a:srgbClr val="1E293B"/>
          </a:solidFill>
          <a:ln w="12700">
            <a:solidFill>
              <a:srgbClr val="1E293B"/>
            </a:solidFill>
            <a:prstDash val="solid"/>
          </a:ln>
        </p:spPr>
      </p:sp>
      <p:pic>
        <p:nvPicPr>
          <p:cNvPr id="4" name="Image 0" descr="preencoded.png">    </p:cNvPr>
          <p:cNvPicPr>
            <a:picLocks noChangeAspect="1"/>
          </p:cNvPicPr>
          <p:nvPr/>
        </p:nvPicPr>
        <p:blipFill>
          <a:blip r:embed="rId1"/>
          <a:stretch>
            <a:fillRect/>
          </a:stretch>
        </p:blipFill>
        <p:spPr>
          <a:xfrm>
            <a:off x="1072265" y="1948586"/>
            <a:ext cx="537667" cy="537667"/>
          </a:xfrm>
          <a:prstGeom prst="rect">
            <a:avLst/>
          </a:prstGeom>
        </p:spPr>
      </p:pic>
      <p:sp>
        <p:nvSpPr>
          <p:cNvPr id="5" name="Shape 2"/>
          <p:cNvSpPr/>
          <p:nvPr/>
        </p:nvSpPr>
        <p:spPr>
          <a:xfrm>
            <a:off x="1912598" y="2217420"/>
            <a:ext cx="441916" cy="0"/>
          </a:xfrm>
          <a:prstGeom prst="line">
            <a:avLst/>
          </a:prstGeom>
          <a:noFill/>
          <a:ln w="25400">
            <a:solidFill>
              <a:srgbClr val="CBD5E1"/>
            </a:solidFill>
            <a:prstDash val="solid"/>
            <a:tailEnd type="triangle"/>
          </a:ln>
        </p:spPr>
      </p:sp>
      <p:sp>
        <p:nvSpPr>
          <p:cNvPr id="6" name="Text 3"/>
          <p:cNvSpPr txBox="1"/>
          <p:nvPr/>
        </p:nvSpPr>
        <p:spPr>
          <a:xfrm>
            <a:off x="548640" y="2834640"/>
            <a:ext cx="1584916" cy="731520"/>
          </a:xfrm>
          <a:prstGeom prst="rect">
            <a:avLst/>
          </a:prstGeom>
          <a:noFill/>
          <a:ln/>
        </p:spPr>
        <p:txBody>
          <a:bodyPr wrap="square" lIns="0" tIns="0" rIns="0" bIns="0" rtlCol="0" anchor="t"/>
          <a:lstStyle/>
          <a:p>
            <a:pPr algn="ctr" indent="0" marL="0">
              <a:buNone/>
            </a:pPr>
            <a:r>
              <a:rPr lang="en-US" sz="1500" b="1" dirty="0">
                <a:solidFill>
                  <a:srgbClr val="0B1220"/>
                </a:solidFill>
                <a:latin typeface="Avenir Next" pitchFamily="34" charset="0"/>
                <a:ea typeface="Avenir Next" pitchFamily="34" charset="-122"/>
                <a:cs typeface="Avenir Next" pitchFamily="34" charset="-120"/>
              </a:rPr>
              <a:t>Load &amp;</a:t>
            </a:r>
            <a:endParaRPr lang="en-US" sz="1500" dirty="0"/>
          </a:p>
          <a:p>
            <a:pPr algn="ctr" indent="0" marL="0">
              <a:buNone/>
            </a:pPr>
            <a:r>
              <a:rPr lang="en-US" sz="1500" b="1" dirty="0">
                <a:solidFill>
                  <a:srgbClr val="0B1220"/>
                </a:solidFill>
                <a:latin typeface="Avenir Next" pitchFamily="34" charset="0"/>
                <a:ea typeface="Avenir Next" pitchFamily="34" charset="-122"/>
                <a:cs typeface="Avenir Next" pitchFamily="34" charset="-120"/>
              </a:rPr>
              <a:t>validate</a:t>
            </a:r>
            <a:endParaRPr lang="en-US" sz="1500" dirty="0"/>
          </a:p>
        </p:txBody>
      </p:sp>
      <p:sp>
        <p:nvSpPr>
          <p:cNvPr id="7" name="Shape 4"/>
          <p:cNvSpPr/>
          <p:nvPr/>
        </p:nvSpPr>
        <p:spPr>
          <a:xfrm>
            <a:off x="2445955" y="1737360"/>
            <a:ext cx="960120" cy="960120"/>
          </a:xfrm>
          <a:prstGeom prst="ellipse">
            <a:avLst/>
          </a:prstGeom>
          <a:solidFill>
            <a:srgbClr val="1E293B"/>
          </a:solidFill>
          <a:ln w="12700">
            <a:solidFill>
              <a:srgbClr val="1E293B"/>
            </a:solidFill>
            <a:prstDash val="solid"/>
          </a:ln>
        </p:spPr>
      </p:sp>
      <p:pic>
        <p:nvPicPr>
          <p:cNvPr id="8" name="Image 1" descr="preencoded.png">    </p:cNvPr>
          <p:cNvPicPr>
            <a:picLocks noChangeAspect="1"/>
          </p:cNvPicPr>
          <p:nvPr/>
        </p:nvPicPr>
        <p:blipFill>
          <a:blip r:embed="rId2"/>
          <a:stretch>
            <a:fillRect/>
          </a:stretch>
        </p:blipFill>
        <p:spPr>
          <a:xfrm>
            <a:off x="2657181" y="1948586"/>
            <a:ext cx="537667" cy="537667"/>
          </a:xfrm>
          <a:prstGeom prst="rect">
            <a:avLst/>
          </a:prstGeom>
        </p:spPr>
      </p:pic>
      <p:sp>
        <p:nvSpPr>
          <p:cNvPr id="9" name="Shape 5"/>
          <p:cNvSpPr/>
          <p:nvPr/>
        </p:nvSpPr>
        <p:spPr>
          <a:xfrm>
            <a:off x="3497515" y="2217420"/>
            <a:ext cx="441916" cy="0"/>
          </a:xfrm>
          <a:prstGeom prst="line">
            <a:avLst/>
          </a:prstGeom>
          <a:noFill/>
          <a:ln w="25400">
            <a:solidFill>
              <a:srgbClr val="CBD5E1"/>
            </a:solidFill>
            <a:prstDash val="solid"/>
            <a:tailEnd type="triangle"/>
          </a:ln>
        </p:spPr>
      </p:sp>
      <p:sp>
        <p:nvSpPr>
          <p:cNvPr id="10" name="Text 6"/>
          <p:cNvSpPr txBox="1"/>
          <p:nvPr/>
        </p:nvSpPr>
        <p:spPr>
          <a:xfrm>
            <a:off x="2133556" y="2834640"/>
            <a:ext cx="1584916" cy="731520"/>
          </a:xfrm>
          <a:prstGeom prst="rect">
            <a:avLst/>
          </a:prstGeom>
          <a:noFill/>
          <a:ln/>
        </p:spPr>
        <p:txBody>
          <a:bodyPr wrap="square" lIns="0" tIns="0" rIns="0" bIns="0" rtlCol="0" anchor="t"/>
          <a:lstStyle/>
          <a:p>
            <a:pPr algn="ctr" indent="0" marL="0">
              <a:buNone/>
            </a:pPr>
            <a:r>
              <a:rPr lang="en-US" sz="1500" b="1" dirty="0">
                <a:solidFill>
                  <a:srgbClr val="0B1220"/>
                </a:solidFill>
                <a:latin typeface="Avenir Next" pitchFamily="34" charset="0"/>
                <a:ea typeface="Avenir Next" pitchFamily="34" charset="-122"/>
                <a:cs typeface="Avenir Next" pitchFamily="34" charset="-120"/>
              </a:rPr>
              <a:t>Split</a:t>
            </a:r>
            <a:endParaRPr lang="en-US" sz="1500" dirty="0"/>
          </a:p>
          <a:p>
            <a:pPr algn="ctr" indent="0" marL="0">
              <a:buNone/>
            </a:pPr>
            <a:r>
              <a:rPr lang="en-US" sz="1500" b="1" dirty="0">
                <a:solidFill>
                  <a:srgbClr val="0B1220"/>
                </a:solidFill>
                <a:latin typeface="Avenir Next" pitchFamily="34" charset="0"/>
                <a:ea typeface="Avenir Next" pitchFamily="34" charset="-122"/>
                <a:cs typeface="Avenir Next" pitchFamily="34" charset="-120"/>
              </a:rPr>
              <a:t>70/15/15</a:t>
            </a:r>
            <a:endParaRPr lang="en-US" sz="1500" dirty="0"/>
          </a:p>
        </p:txBody>
      </p:sp>
      <p:sp>
        <p:nvSpPr>
          <p:cNvPr id="11" name="Shape 7"/>
          <p:cNvSpPr/>
          <p:nvPr/>
        </p:nvSpPr>
        <p:spPr>
          <a:xfrm>
            <a:off x="4030871" y="1737360"/>
            <a:ext cx="960120" cy="960120"/>
          </a:xfrm>
          <a:prstGeom prst="ellipse">
            <a:avLst/>
          </a:prstGeom>
          <a:solidFill>
            <a:srgbClr val="1E293B"/>
          </a:solidFill>
          <a:ln w="12700">
            <a:solidFill>
              <a:srgbClr val="1E293B"/>
            </a:solidFill>
            <a:prstDash val="solid"/>
          </a:ln>
        </p:spPr>
      </p:sp>
      <p:pic>
        <p:nvPicPr>
          <p:cNvPr id="12" name="Image 2" descr="preencoded.png">    </p:cNvPr>
          <p:cNvPicPr>
            <a:picLocks noChangeAspect="1"/>
          </p:cNvPicPr>
          <p:nvPr/>
        </p:nvPicPr>
        <p:blipFill>
          <a:blip r:embed="rId3"/>
          <a:stretch>
            <a:fillRect/>
          </a:stretch>
        </p:blipFill>
        <p:spPr>
          <a:xfrm>
            <a:off x="4242098" y="1948586"/>
            <a:ext cx="537667" cy="537667"/>
          </a:xfrm>
          <a:prstGeom prst="rect">
            <a:avLst/>
          </a:prstGeom>
        </p:spPr>
      </p:pic>
      <p:sp>
        <p:nvSpPr>
          <p:cNvPr id="13" name="Shape 8"/>
          <p:cNvSpPr/>
          <p:nvPr/>
        </p:nvSpPr>
        <p:spPr>
          <a:xfrm>
            <a:off x="5082431" y="2217420"/>
            <a:ext cx="441916" cy="0"/>
          </a:xfrm>
          <a:prstGeom prst="line">
            <a:avLst/>
          </a:prstGeom>
          <a:noFill/>
          <a:ln w="25400">
            <a:solidFill>
              <a:srgbClr val="CBD5E1"/>
            </a:solidFill>
            <a:prstDash val="solid"/>
            <a:tailEnd type="triangle"/>
          </a:ln>
        </p:spPr>
      </p:sp>
      <p:sp>
        <p:nvSpPr>
          <p:cNvPr id="14" name="Text 9"/>
          <p:cNvSpPr txBox="1"/>
          <p:nvPr/>
        </p:nvSpPr>
        <p:spPr>
          <a:xfrm>
            <a:off x="3718473" y="2834640"/>
            <a:ext cx="1584916" cy="731520"/>
          </a:xfrm>
          <a:prstGeom prst="rect">
            <a:avLst/>
          </a:prstGeom>
          <a:noFill/>
          <a:ln/>
        </p:spPr>
        <p:txBody>
          <a:bodyPr wrap="square" lIns="0" tIns="0" rIns="0" bIns="0" rtlCol="0" anchor="t"/>
          <a:lstStyle/>
          <a:p>
            <a:pPr algn="ctr" indent="0" marL="0">
              <a:buNone/>
            </a:pPr>
            <a:r>
              <a:rPr lang="en-US" sz="1500" b="1" dirty="0">
                <a:solidFill>
                  <a:srgbClr val="0B1220"/>
                </a:solidFill>
                <a:latin typeface="Avenir Next" pitchFamily="34" charset="0"/>
                <a:ea typeface="Avenir Next" pitchFamily="34" charset="-122"/>
                <a:cs typeface="Avenir Next" pitchFamily="34" charset="-120"/>
              </a:rPr>
              <a:t>Scale</a:t>
            </a:r>
            <a:endParaRPr lang="en-US" sz="1500" dirty="0"/>
          </a:p>
          <a:p>
            <a:pPr algn="ctr" indent="0" marL="0">
              <a:buNone/>
            </a:pPr>
            <a:r>
              <a:rPr lang="en-US" sz="1500" b="1" dirty="0">
                <a:solidFill>
                  <a:srgbClr val="0B1220"/>
                </a:solidFill>
                <a:latin typeface="Avenir Next" pitchFamily="34" charset="0"/>
                <a:ea typeface="Avenir Next" pitchFamily="34" charset="-122"/>
                <a:cs typeface="Avenir Next" pitchFamily="34" charset="-120"/>
              </a:rPr>
              <a:t>features</a:t>
            </a:r>
            <a:endParaRPr lang="en-US" sz="1500" dirty="0"/>
          </a:p>
        </p:txBody>
      </p:sp>
      <p:sp>
        <p:nvSpPr>
          <p:cNvPr id="15" name="Shape 10"/>
          <p:cNvSpPr/>
          <p:nvPr/>
        </p:nvSpPr>
        <p:spPr>
          <a:xfrm>
            <a:off x="5615788" y="1737360"/>
            <a:ext cx="960120" cy="960120"/>
          </a:xfrm>
          <a:prstGeom prst="ellipse">
            <a:avLst/>
          </a:prstGeom>
          <a:solidFill>
            <a:srgbClr val="EE4C2C"/>
          </a:solidFill>
          <a:ln w="12700">
            <a:solidFill>
              <a:srgbClr val="EE4C2C"/>
            </a:solidFill>
            <a:prstDash val="solid"/>
          </a:ln>
        </p:spPr>
      </p:sp>
      <p:pic>
        <p:nvPicPr>
          <p:cNvPr id="16" name="Image 3" descr="preencoded.png">    </p:cNvPr>
          <p:cNvPicPr>
            <a:picLocks noChangeAspect="1"/>
          </p:cNvPicPr>
          <p:nvPr/>
        </p:nvPicPr>
        <p:blipFill>
          <a:blip r:embed="rId4"/>
          <a:stretch>
            <a:fillRect/>
          </a:stretch>
        </p:blipFill>
        <p:spPr>
          <a:xfrm>
            <a:off x="5827014" y="1948586"/>
            <a:ext cx="537667" cy="537667"/>
          </a:xfrm>
          <a:prstGeom prst="rect">
            <a:avLst/>
          </a:prstGeom>
        </p:spPr>
      </p:pic>
      <p:sp>
        <p:nvSpPr>
          <p:cNvPr id="17" name="Shape 11"/>
          <p:cNvSpPr/>
          <p:nvPr/>
        </p:nvSpPr>
        <p:spPr>
          <a:xfrm>
            <a:off x="6667348" y="2217420"/>
            <a:ext cx="441916" cy="0"/>
          </a:xfrm>
          <a:prstGeom prst="line">
            <a:avLst/>
          </a:prstGeom>
          <a:noFill/>
          <a:ln w="25400">
            <a:solidFill>
              <a:srgbClr val="CBD5E1"/>
            </a:solidFill>
            <a:prstDash val="solid"/>
            <a:tailEnd type="triangle"/>
          </a:ln>
        </p:spPr>
      </p:sp>
      <p:sp>
        <p:nvSpPr>
          <p:cNvPr id="18" name="Text 12"/>
          <p:cNvSpPr txBox="1"/>
          <p:nvPr/>
        </p:nvSpPr>
        <p:spPr>
          <a:xfrm>
            <a:off x="5303389" y="2834640"/>
            <a:ext cx="1584916" cy="731520"/>
          </a:xfrm>
          <a:prstGeom prst="rect">
            <a:avLst/>
          </a:prstGeom>
          <a:noFill/>
          <a:ln/>
        </p:spPr>
        <p:txBody>
          <a:bodyPr wrap="square" lIns="0" tIns="0" rIns="0" bIns="0" rtlCol="0" anchor="t"/>
          <a:lstStyle/>
          <a:p>
            <a:pPr algn="ctr" indent="0" marL="0">
              <a:buNone/>
            </a:pPr>
            <a:r>
              <a:rPr lang="en-US" sz="1500" b="1" dirty="0">
                <a:solidFill>
                  <a:srgbClr val="0B1220"/>
                </a:solidFill>
                <a:latin typeface="Avenir Next" pitchFamily="34" charset="0"/>
                <a:ea typeface="Avenir Next" pitchFamily="34" charset="-122"/>
                <a:cs typeface="Avenir Next" pitchFamily="34" charset="-120"/>
              </a:rPr>
              <a:t>Train</a:t>
            </a:r>
            <a:endParaRPr lang="en-US" sz="1500" dirty="0"/>
          </a:p>
          <a:p>
            <a:pPr algn="ctr" indent="0" marL="0">
              <a:buNone/>
            </a:pPr>
            <a:r>
              <a:rPr lang="en-US" sz="1500" b="1" dirty="0">
                <a:solidFill>
                  <a:srgbClr val="0B1220"/>
                </a:solidFill>
                <a:latin typeface="Avenir Next" pitchFamily="34" charset="0"/>
                <a:ea typeface="Avenir Next" pitchFamily="34" charset="-122"/>
                <a:cs typeface="Avenir Next" pitchFamily="34" charset="-120"/>
              </a:rPr>
              <a:t>FraudNet</a:t>
            </a:r>
            <a:endParaRPr lang="en-US" sz="1500" dirty="0"/>
          </a:p>
        </p:txBody>
      </p:sp>
      <p:sp>
        <p:nvSpPr>
          <p:cNvPr id="19" name="Shape 13"/>
          <p:cNvSpPr/>
          <p:nvPr/>
        </p:nvSpPr>
        <p:spPr>
          <a:xfrm>
            <a:off x="7200704" y="1737360"/>
            <a:ext cx="960120" cy="960120"/>
          </a:xfrm>
          <a:prstGeom prst="ellipse">
            <a:avLst/>
          </a:prstGeom>
          <a:solidFill>
            <a:srgbClr val="1E293B"/>
          </a:solidFill>
          <a:ln w="12700">
            <a:solidFill>
              <a:srgbClr val="1E293B"/>
            </a:solidFill>
            <a:prstDash val="solid"/>
          </a:ln>
        </p:spPr>
      </p:sp>
      <p:pic>
        <p:nvPicPr>
          <p:cNvPr id="20" name="Image 4" descr="preencoded.png">    </p:cNvPr>
          <p:cNvPicPr>
            <a:picLocks noChangeAspect="1"/>
          </p:cNvPicPr>
          <p:nvPr/>
        </p:nvPicPr>
        <p:blipFill>
          <a:blip r:embed="rId5"/>
          <a:stretch>
            <a:fillRect/>
          </a:stretch>
        </p:blipFill>
        <p:spPr>
          <a:xfrm>
            <a:off x="7411930" y="1948586"/>
            <a:ext cx="537667" cy="537667"/>
          </a:xfrm>
          <a:prstGeom prst="rect">
            <a:avLst/>
          </a:prstGeom>
        </p:spPr>
      </p:pic>
      <p:sp>
        <p:nvSpPr>
          <p:cNvPr id="21" name="Shape 14"/>
          <p:cNvSpPr/>
          <p:nvPr/>
        </p:nvSpPr>
        <p:spPr>
          <a:xfrm>
            <a:off x="8252264" y="2217420"/>
            <a:ext cx="441916" cy="0"/>
          </a:xfrm>
          <a:prstGeom prst="line">
            <a:avLst/>
          </a:prstGeom>
          <a:noFill/>
          <a:ln w="25400">
            <a:solidFill>
              <a:srgbClr val="CBD5E1"/>
            </a:solidFill>
            <a:prstDash val="solid"/>
            <a:tailEnd type="triangle"/>
          </a:ln>
        </p:spPr>
      </p:sp>
      <p:sp>
        <p:nvSpPr>
          <p:cNvPr id="22" name="Text 15"/>
          <p:cNvSpPr txBox="1"/>
          <p:nvPr/>
        </p:nvSpPr>
        <p:spPr>
          <a:xfrm>
            <a:off x="6888306" y="2834640"/>
            <a:ext cx="1584916" cy="731520"/>
          </a:xfrm>
          <a:prstGeom prst="rect">
            <a:avLst/>
          </a:prstGeom>
          <a:noFill/>
          <a:ln/>
        </p:spPr>
        <p:txBody>
          <a:bodyPr wrap="square" lIns="0" tIns="0" rIns="0" bIns="0" rtlCol="0" anchor="t"/>
          <a:lstStyle/>
          <a:p>
            <a:pPr algn="ctr" indent="0" marL="0">
              <a:buNone/>
            </a:pPr>
            <a:r>
              <a:rPr lang="en-US" sz="1500" b="1" dirty="0">
                <a:solidFill>
                  <a:srgbClr val="0B1220"/>
                </a:solidFill>
                <a:latin typeface="Avenir Next" pitchFamily="34" charset="0"/>
                <a:ea typeface="Avenir Next" pitchFamily="34" charset="-122"/>
                <a:cs typeface="Avenir Next" pitchFamily="34" charset="-120"/>
              </a:rPr>
              <a:t>Pick</a:t>
            </a:r>
            <a:endParaRPr lang="en-US" sz="1500" dirty="0"/>
          </a:p>
          <a:p>
            <a:pPr algn="ctr" indent="0" marL="0">
              <a:buNone/>
            </a:pPr>
            <a:r>
              <a:rPr lang="en-US" sz="1500" b="1" dirty="0">
                <a:solidFill>
                  <a:srgbClr val="0B1220"/>
                </a:solidFill>
                <a:latin typeface="Avenir Next" pitchFamily="34" charset="0"/>
                <a:ea typeface="Avenir Next" pitchFamily="34" charset="-122"/>
                <a:cs typeface="Avenir Next" pitchFamily="34" charset="-120"/>
              </a:rPr>
              <a:t>threshold</a:t>
            </a:r>
            <a:endParaRPr lang="en-US" sz="1500" dirty="0"/>
          </a:p>
        </p:txBody>
      </p:sp>
      <p:sp>
        <p:nvSpPr>
          <p:cNvPr id="23" name="Shape 16"/>
          <p:cNvSpPr/>
          <p:nvPr/>
        </p:nvSpPr>
        <p:spPr>
          <a:xfrm>
            <a:off x="8785621" y="1737360"/>
            <a:ext cx="960120" cy="960120"/>
          </a:xfrm>
          <a:prstGeom prst="ellipse">
            <a:avLst/>
          </a:prstGeom>
          <a:solidFill>
            <a:srgbClr val="1E293B"/>
          </a:solidFill>
          <a:ln w="12700">
            <a:solidFill>
              <a:srgbClr val="1E293B"/>
            </a:solidFill>
            <a:prstDash val="solid"/>
          </a:ln>
        </p:spPr>
      </p:sp>
      <p:pic>
        <p:nvPicPr>
          <p:cNvPr id="24" name="Image 5" descr="preencoded.png">    </p:cNvPr>
          <p:cNvPicPr>
            <a:picLocks noChangeAspect="1"/>
          </p:cNvPicPr>
          <p:nvPr/>
        </p:nvPicPr>
        <p:blipFill>
          <a:blip r:embed="rId6"/>
          <a:stretch>
            <a:fillRect/>
          </a:stretch>
        </p:blipFill>
        <p:spPr>
          <a:xfrm>
            <a:off x="8996847" y="1948586"/>
            <a:ext cx="537667" cy="537667"/>
          </a:xfrm>
          <a:prstGeom prst="rect">
            <a:avLst/>
          </a:prstGeom>
        </p:spPr>
      </p:pic>
      <p:sp>
        <p:nvSpPr>
          <p:cNvPr id="25" name="Shape 17"/>
          <p:cNvSpPr/>
          <p:nvPr/>
        </p:nvSpPr>
        <p:spPr>
          <a:xfrm>
            <a:off x="9837181" y="2217420"/>
            <a:ext cx="441916" cy="0"/>
          </a:xfrm>
          <a:prstGeom prst="line">
            <a:avLst/>
          </a:prstGeom>
          <a:noFill/>
          <a:ln w="25400">
            <a:solidFill>
              <a:srgbClr val="CBD5E1"/>
            </a:solidFill>
            <a:prstDash val="solid"/>
            <a:tailEnd type="triangle"/>
          </a:ln>
        </p:spPr>
      </p:sp>
      <p:sp>
        <p:nvSpPr>
          <p:cNvPr id="26" name="Text 18"/>
          <p:cNvSpPr txBox="1"/>
          <p:nvPr/>
        </p:nvSpPr>
        <p:spPr>
          <a:xfrm>
            <a:off x="8473222" y="2834640"/>
            <a:ext cx="1584916" cy="731520"/>
          </a:xfrm>
          <a:prstGeom prst="rect">
            <a:avLst/>
          </a:prstGeom>
          <a:noFill/>
          <a:ln/>
        </p:spPr>
        <p:txBody>
          <a:bodyPr wrap="square" lIns="0" tIns="0" rIns="0" bIns="0" rtlCol="0" anchor="t"/>
          <a:lstStyle/>
          <a:p>
            <a:pPr algn="ctr" indent="0" marL="0">
              <a:buNone/>
            </a:pPr>
            <a:r>
              <a:rPr lang="en-US" sz="1500" b="1" dirty="0">
                <a:solidFill>
                  <a:srgbClr val="0B1220"/>
                </a:solidFill>
                <a:latin typeface="Avenir Next" pitchFamily="34" charset="0"/>
                <a:ea typeface="Avenir Next" pitchFamily="34" charset="-122"/>
                <a:cs typeface="Avenir Next" pitchFamily="34" charset="-120"/>
              </a:rPr>
              <a:t>Evaluate</a:t>
            </a:r>
            <a:endParaRPr lang="en-US" sz="1500" dirty="0"/>
          </a:p>
          <a:p>
            <a:pPr algn="ctr" indent="0" marL="0">
              <a:buNone/>
            </a:pPr>
            <a:r>
              <a:rPr lang="en-US" sz="1500" b="1" dirty="0">
                <a:solidFill>
                  <a:srgbClr val="0B1220"/>
                </a:solidFill>
                <a:latin typeface="Avenir Next" pitchFamily="34" charset="0"/>
                <a:ea typeface="Avenir Next" pitchFamily="34" charset="-122"/>
                <a:cs typeface="Avenir Next" pitchFamily="34" charset="-120"/>
              </a:rPr>
              <a:t>on test</a:t>
            </a:r>
            <a:endParaRPr lang="en-US" sz="1500" dirty="0"/>
          </a:p>
        </p:txBody>
      </p:sp>
      <p:sp>
        <p:nvSpPr>
          <p:cNvPr id="27" name="Shape 19"/>
          <p:cNvSpPr/>
          <p:nvPr/>
        </p:nvSpPr>
        <p:spPr>
          <a:xfrm>
            <a:off x="10370537" y="1737360"/>
            <a:ext cx="960120" cy="960120"/>
          </a:xfrm>
          <a:prstGeom prst="ellipse">
            <a:avLst/>
          </a:prstGeom>
          <a:solidFill>
            <a:srgbClr val="1E293B"/>
          </a:solidFill>
          <a:ln w="12700">
            <a:solidFill>
              <a:srgbClr val="1E293B"/>
            </a:solidFill>
            <a:prstDash val="solid"/>
          </a:ln>
        </p:spPr>
      </p:sp>
      <p:pic>
        <p:nvPicPr>
          <p:cNvPr id="28" name="Image 6" descr="preencoded.png">    </p:cNvPr>
          <p:cNvPicPr>
            <a:picLocks noChangeAspect="1"/>
          </p:cNvPicPr>
          <p:nvPr/>
        </p:nvPicPr>
        <p:blipFill>
          <a:blip r:embed="rId7"/>
          <a:stretch>
            <a:fillRect/>
          </a:stretch>
        </p:blipFill>
        <p:spPr>
          <a:xfrm>
            <a:off x="10581763" y="1948586"/>
            <a:ext cx="537667" cy="537667"/>
          </a:xfrm>
          <a:prstGeom prst="rect">
            <a:avLst/>
          </a:prstGeom>
        </p:spPr>
      </p:pic>
      <p:sp>
        <p:nvSpPr>
          <p:cNvPr id="29" name="Text 20"/>
          <p:cNvSpPr txBox="1"/>
          <p:nvPr/>
        </p:nvSpPr>
        <p:spPr>
          <a:xfrm>
            <a:off x="10058139" y="2834640"/>
            <a:ext cx="1584916" cy="731520"/>
          </a:xfrm>
          <a:prstGeom prst="rect">
            <a:avLst/>
          </a:prstGeom>
          <a:noFill/>
          <a:ln/>
        </p:spPr>
        <p:txBody>
          <a:bodyPr wrap="square" lIns="0" tIns="0" rIns="0" bIns="0" rtlCol="0" anchor="t"/>
          <a:lstStyle/>
          <a:p>
            <a:pPr algn="ctr" indent="0" marL="0">
              <a:buNone/>
            </a:pPr>
            <a:r>
              <a:rPr lang="en-US" sz="1500" b="1" dirty="0">
                <a:solidFill>
                  <a:srgbClr val="0B1220"/>
                </a:solidFill>
                <a:latin typeface="Avenir Next" pitchFamily="34" charset="0"/>
                <a:ea typeface="Avenir Next" pitchFamily="34" charset="-122"/>
                <a:cs typeface="Avenir Next" pitchFamily="34" charset="-120"/>
              </a:rPr>
              <a:t>Serve</a:t>
            </a:r>
            <a:endParaRPr lang="en-US" sz="1500" dirty="0"/>
          </a:p>
          <a:p>
            <a:pPr algn="ctr" indent="0" marL="0">
              <a:buNone/>
            </a:pPr>
            <a:r>
              <a:rPr lang="en-US" sz="1500" b="1" dirty="0">
                <a:solidFill>
                  <a:srgbClr val="0B1220"/>
                </a:solidFill>
                <a:latin typeface="Avenir Next" pitchFamily="34" charset="0"/>
                <a:ea typeface="Avenir Next" pitchFamily="34" charset="-122"/>
                <a:cs typeface="Avenir Next" pitchFamily="34" charset="-120"/>
              </a:rPr>
              <a:t>API + UI</a:t>
            </a:r>
            <a:endParaRPr lang="en-US" sz="1500" dirty="0"/>
          </a:p>
        </p:txBody>
      </p:sp>
      <p:sp>
        <p:nvSpPr>
          <p:cNvPr id="30" name="Shape 21"/>
          <p:cNvSpPr/>
          <p:nvPr/>
        </p:nvSpPr>
        <p:spPr>
          <a:xfrm>
            <a:off x="548640" y="3977640"/>
            <a:ext cx="5394960" cy="1691640"/>
          </a:xfrm>
          <a:prstGeom prst="roundRect">
            <a:avLst>
              <a:gd name="adj" fmla="val 6486"/>
            </a:avLst>
          </a:prstGeom>
          <a:solidFill>
            <a:srgbClr val="F1F5F9"/>
          </a:solidFill>
          <a:ln w="12700">
            <a:solidFill>
              <a:srgbClr val="F1F5F9"/>
            </a:solidFill>
            <a:prstDash val="solid"/>
          </a:ln>
        </p:spPr>
      </p:sp>
      <p:sp>
        <p:nvSpPr>
          <p:cNvPr id="31" name="Text 22"/>
          <p:cNvSpPr txBox="1"/>
          <p:nvPr/>
        </p:nvSpPr>
        <p:spPr>
          <a:xfrm>
            <a:off x="868680" y="4206240"/>
            <a:ext cx="4572000" cy="274320"/>
          </a:xfrm>
          <a:prstGeom prst="rect">
            <a:avLst/>
          </a:prstGeom>
          <a:noFill/>
          <a:ln/>
        </p:spPr>
        <p:txBody>
          <a:bodyPr wrap="square" lIns="0" tIns="0" rIns="0" bIns="0" rtlCol="0" anchor="t"/>
          <a:lstStyle/>
          <a:p>
            <a:pPr indent="0" marL="0">
              <a:buNone/>
            </a:pPr>
            <a:r>
              <a:rPr lang="en-US" sz="1200" b="1" spc="200" kern="0" dirty="0">
                <a:solidFill>
                  <a:srgbClr val="EE4C2C"/>
                </a:solidFill>
                <a:latin typeface="Avenir Next" pitchFamily="34" charset="0"/>
                <a:ea typeface="Avenir Next" pitchFamily="34" charset="-122"/>
                <a:cs typeface="Avenir Next" pitchFamily="34" charset="-120"/>
              </a:rPr>
              <a:t>OFFLINE  ·  TRAINING</a:t>
            </a:r>
            <a:endParaRPr lang="en-US" sz="1200" dirty="0"/>
          </a:p>
        </p:txBody>
      </p:sp>
      <p:sp>
        <p:nvSpPr>
          <p:cNvPr id="32" name="Text 23"/>
          <p:cNvSpPr txBox="1"/>
          <p:nvPr/>
        </p:nvSpPr>
        <p:spPr>
          <a:xfrm>
            <a:off x="868680" y="4526280"/>
            <a:ext cx="4754880" cy="365760"/>
          </a:xfrm>
          <a:prstGeom prst="rect">
            <a:avLst/>
          </a:prstGeom>
          <a:noFill/>
          <a:ln/>
        </p:spPr>
        <p:txBody>
          <a:bodyPr wrap="square" lIns="0" tIns="0" rIns="0" bIns="0" rtlCol="0" anchor="t"/>
          <a:lstStyle/>
          <a:p>
            <a:pPr indent="0" marL="0">
              <a:buNone/>
            </a:pPr>
            <a:r>
              <a:rPr lang="en-US" sz="1800" b="1" dirty="0">
                <a:solidFill>
                  <a:srgbClr val="0B1220"/>
                </a:solidFill>
                <a:latin typeface="Menlo" pitchFamily="34" charset="0"/>
                <a:ea typeface="Menlo" pitchFamily="34" charset="-122"/>
                <a:cs typeface="Menlo" pitchFamily="34" charset="-120"/>
              </a:rPr>
              <a:t>python -m app.train</a:t>
            </a:r>
            <a:endParaRPr lang="en-US" sz="1800" dirty="0"/>
          </a:p>
        </p:txBody>
      </p:sp>
      <p:sp>
        <p:nvSpPr>
          <p:cNvPr id="33" name="Text 24"/>
          <p:cNvSpPr txBox="1"/>
          <p:nvPr/>
        </p:nvSpPr>
        <p:spPr>
          <a:xfrm>
            <a:off x="868680" y="4983480"/>
            <a:ext cx="4846320" cy="45720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Saves fraud_model.pt, scaler.joblib, metadata.json</a:t>
            </a:r>
            <a:endParaRPr lang="en-US" sz="1400" dirty="0"/>
          </a:p>
        </p:txBody>
      </p:sp>
      <p:sp>
        <p:nvSpPr>
          <p:cNvPr id="34" name="Shape 25"/>
          <p:cNvSpPr/>
          <p:nvPr/>
        </p:nvSpPr>
        <p:spPr>
          <a:xfrm>
            <a:off x="6217920" y="3977640"/>
            <a:ext cx="5422392" cy="1691640"/>
          </a:xfrm>
          <a:prstGeom prst="roundRect">
            <a:avLst>
              <a:gd name="adj" fmla="val 6486"/>
            </a:avLst>
          </a:prstGeom>
          <a:solidFill>
            <a:srgbClr val="F1F5F9"/>
          </a:solidFill>
          <a:ln w="12700">
            <a:solidFill>
              <a:srgbClr val="F1F5F9"/>
            </a:solidFill>
            <a:prstDash val="solid"/>
          </a:ln>
        </p:spPr>
      </p:sp>
      <p:sp>
        <p:nvSpPr>
          <p:cNvPr id="35" name="Text 26"/>
          <p:cNvSpPr txBox="1"/>
          <p:nvPr/>
        </p:nvSpPr>
        <p:spPr>
          <a:xfrm>
            <a:off x="6537960" y="4206240"/>
            <a:ext cx="4572000"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Avenir Next" pitchFamily="34" charset="0"/>
                <a:ea typeface="Avenir Next" pitchFamily="34" charset="-122"/>
                <a:cs typeface="Avenir Next" pitchFamily="34" charset="-120"/>
              </a:rPr>
              <a:t>ONLINE  ·  SCORING</a:t>
            </a:r>
            <a:endParaRPr lang="en-US" sz="1200" dirty="0"/>
          </a:p>
        </p:txBody>
      </p:sp>
      <p:sp>
        <p:nvSpPr>
          <p:cNvPr id="36" name="Text 27"/>
          <p:cNvSpPr txBox="1"/>
          <p:nvPr/>
        </p:nvSpPr>
        <p:spPr>
          <a:xfrm>
            <a:off x="6537960" y="4526280"/>
            <a:ext cx="4754880" cy="365760"/>
          </a:xfrm>
          <a:prstGeom prst="rect">
            <a:avLst/>
          </a:prstGeom>
          <a:noFill/>
          <a:ln/>
        </p:spPr>
        <p:txBody>
          <a:bodyPr wrap="square" lIns="0" tIns="0" rIns="0" bIns="0" rtlCol="0" anchor="t"/>
          <a:lstStyle/>
          <a:p>
            <a:pPr indent="0" marL="0">
              <a:buNone/>
            </a:pPr>
            <a:r>
              <a:rPr lang="en-US" sz="1800" b="1" dirty="0">
                <a:solidFill>
                  <a:srgbClr val="0B1220"/>
                </a:solidFill>
                <a:latin typeface="Menlo" pitchFamily="34" charset="0"/>
                <a:ea typeface="Menlo" pitchFamily="34" charset="-122"/>
                <a:cs typeface="Menlo" pitchFamily="34" charset="-120"/>
              </a:rPr>
              <a:t>uvicorn  +  streamlit</a:t>
            </a:r>
            <a:endParaRPr lang="en-US" sz="1800" dirty="0"/>
          </a:p>
        </p:txBody>
      </p:sp>
      <p:sp>
        <p:nvSpPr>
          <p:cNvPr id="37" name="Text 28"/>
          <p:cNvSpPr txBox="1"/>
          <p:nvPr/>
        </p:nvSpPr>
        <p:spPr>
          <a:xfrm>
            <a:off x="6537960" y="4983480"/>
            <a:ext cx="4846320" cy="45720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FastAPI loads the artifacts; the dashboard calls /predict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Helvetica Neue"/>
                <a:ea typeface="Helvetica Neue"/>
                <a:cs typeface="Helvetica Neue"/>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400" b="1" dirty="0">
                <a:solidFill>
                  <a:srgbClr val="0B1220"/>
                </a:solidFill>
                <a:latin typeface="Avenir Next" pitchFamily="34" charset="0"/>
                <a:ea typeface="Avenir Next" pitchFamily="34" charset="-122"/>
                <a:cs typeface="Avenir Next" pitchFamily="34" charset="-120"/>
              </a:rPr>
              <a:t>Technology stack</a:t>
            </a:r>
            <a:endParaRPr lang="en-US" sz="3400" dirty="0"/>
          </a:p>
        </p:txBody>
      </p:sp>
      <p:sp>
        <p:nvSpPr>
          <p:cNvPr id="3" name="Shape 1"/>
          <p:cNvSpPr/>
          <p:nvPr/>
        </p:nvSpPr>
        <p:spPr>
          <a:xfrm>
            <a:off x="548640" y="1645920"/>
            <a:ext cx="1999427" cy="1737360"/>
          </a:xfrm>
          <a:prstGeom prst="roundRect">
            <a:avLst>
              <a:gd name="adj" fmla="val 6316"/>
            </a:avLst>
          </a:prstGeom>
          <a:solidFill>
            <a:srgbClr val="EE4C2C"/>
          </a:solidFill>
          <a:ln w="12700">
            <a:solidFill>
              <a:srgbClr val="EE4C2C"/>
            </a:solidFill>
            <a:prstDash val="solid"/>
          </a:ln>
        </p:spPr>
      </p:sp>
      <p:sp>
        <p:nvSpPr>
          <p:cNvPr id="4" name="Text 2"/>
          <p:cNvSpPr txBox="1"/>
          <p:nvPr/>
        </p:nvSpPr>
        <p:spPr>
          <a:xfrm>
            <a:off x="777240" y="2011680"/>
            <a:ext cx="1542227" cy="457200"/>
          </a:xfrm>
          <a:prstGeom prst="rect">
            <a:avLst/>
          </a:prstGeom>
          <a:noFill/>
          <a:ln/>
        </p:spPr>
        <p:txBody>
          <a:bodyPr wrap="square" lIns="0" tIns="0" rIns="0" bIns="0" rtlCol="0" anchor="t"/>
          <a:lstStyle/>
          <a:p>
            <a:pPr indent="0" marL="0">
              <a:buNone/>
            </a:pPr>
            <a:r>
              <a:rPr lang="en-US" sz="1900" b="1" dirty="0">
                <a:solidFill>
                  <a:srgbClr val="FFFFFF"/>
                </a:solidFill>
                <a:latin typeface="Avenir Next" pitchFamily="34" charset="0"/>
                <a:ea typeface="Avenir Next" pitchFamily="34" charset="-122"/>
                <a:cs typeface="Avenir Next" pitchFamily="34" charset="-120"/>
              </a:rPr>
              <a:t>PyTorch</a:t>
            </a:r>
            <a:endParaRPr lang="en-US" sz="1900" dirty="0"/>
          </a:p>
        </p:txBody>
      </p:sp>
      <p:sp>
        <p:nvSpPr>
          <p:cNvPr id="5" name="Text 3"/>
          <p:cNvSpPr txBox="1"/>
          <p:nvPr/>
        </p:nvSpPr>
        <p:spPr>
          <a:xfrm>
            <a:off x="777240" y="2560320"/>
            <a:ext cx="1542227" cy="640080"/>
          </a:xfrm>
          <a:prstGeom prst="rect">
            <a:avLst/>
          </a:prstGeom>
          <a:noFill/>
          <a:ln/>
        </p:spPr>
        <p:txBody>
          <a:bodyPr wrap="square" lIns="0" tIns="0" rIns="0" bIns="0" rtlCol="0" anchor="t"/>
          <a:lstStyle/>
          <a:p>
            <a:pPr indent="0" marL="0">
              <a:buNone/>
            </a:pPr>
            <a:r>
              <a:rPr lang="en-US" sz="1400" dirty="0">
                <a:solidFill>
                  <a:srgbClr val="FFFFFF"/>
                </a:solidFill>
                <a:latin typeface="Helvetica Neue" pitchFamily="34" charset="0"/>
                <a:ea typeface="Helvetica Neue" pitchFamily="34" charset="-122"/>
                <a:cs typeface="Helvetica Neue" pitchFamily="34" charset="-120"/>
              </a:rPr>
              <a:t>Neural network &amp; training</a:t>
            </a:r>
            <a:endParaRPr lang="en-US" sz="1400" dirty="0"/>
          </a:p>
        </p:txBody>
      </p:sp>
      <p:sp>
        <p:nvSpPr>
          <p:cNvPr id="6" name="Shape 4"/>
          <p:cNvSpPr/>
          <p:nvPr/>
        </p:nvSpPr>
        <p:spPr>
          <a:xfrm>
            <a:off x="2822387" y="1645920"/>
            <a:ext cx="1999427" cy="1737360"/>
          </a:xfrm>
          <a:prstGeom prst="roundRect">
            <a:avLst>
              <a:gd name="adj" fmla="val 6316"/>
            </a:avLst>
          </a:prstGeom>
          <a:solidFill>
            <a:srgbClr val="F1F5F9"/>
          </a:solidFill>
          <a:ln w="12700">
            <a:solidFill>
              <a:srgbClr val="F1F5F9"/>
            </a:solidFill>
            <a:prstDash val="solid"/>
          </a:ln>
        </p:spPr>
      </p:sp>
      <p:sp>
        <p:nvSpPr>
          <p:cNvPr id="7" name="Text 5"/>
          <p:cNvSpPr txBox="1"/>
          <p:nvPr/>
        </p:nvSpPr>
        <p:spPr>
          <a:xfrm>
            <a:off x="3050987" y="2011680"/>
            <a:ext cx="1542227" cy="457200"/>
          </a:xfrm>
          <a:prstGeom prst="rect">
            <a:avLst/>
          </a:prstGeom>
          <a:noFill/>
          <a:ln/>
        </p:spPr>
        <p:txBody>
          <a:bodyPr wrap="square" lIns="0" tIns="0" rIns="0" bIns="0" rtlCol="0" anchor="t"/>
          <a:lstStyle/>
          <a:p>
            <a:pPr indent="0" marL="0">
              <a:buNone/>
            </a:pPr>
            <a:r>
              <a:rPr lang="en-US" sz="1900" b="1" dirty="0">
                <a:solidFill>
                  <a:srgbClr val="0B1220"/>
                </a:solidFill>
                <a:latin typeface="Avenir Next" pitchFamily="34" charset="0"/>
                <a:ea typeface="Avenir Next" pitchFamily="34" charset="-122"/>
                <a:cs typeface="Avenir Next" pitchFamily="34" charset="-120"/>
              </a:rPr>
              <a:t>pandas</a:t>
            </a:r>
            <a:endParaRPr lang="en-US" sz="1900" dirty="0"/>
          </a:p>
        </p:txBody>
      </p:sp>
      <p:sp>
        <p:nvSpPr>
          <p:cNvPr id="8" name="Text 6"/>
          <p:cNvSpPr txBox="1"/>
          <p:nvPr/>
        </p:nvSpPr>
        <p:spPr>
          <a:xfrm>
            <a:off x="3050987" y="2560320"/>
            <a:ext cx="1542227" cy="64008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Load &amp; manipulate data</a:t>
            </a:r>
            <a:endParaRPr lang="en-US" sz="1400" dirty="0"/>
          </a:p>
        </p:txBody>
      </p:sp>
      <p:sp>
        <p:nvSpPr>
          <p:cNvPr id="9" name="Shape 7"/>
          <p:cNvSpPr/>
          <p:nvPr/>
        </p:nvSpPr>
        <p:spPr>
          <a:xfrm>
            <a:off x="5096134" y="1645920"/>
            <a:ext cx="1999427" cy="1737360"/>
          </a:xfrm>
          <a:prstGeom prst="roundRect">
            <a:avLst>
              <a:gd name="adj" fmla="val 6316"/>
            </a:avLst>
          </a:prstGeom>
          <a:solidFill>
            <a:srgbClr val="F1F5F9"/>
          </a:solidFill>
          <a:ln w="12700">
            <a:solidFill>
              <a:srgbClr val="F1F5F9"/>
            </a:solidFill>
            <a:prstDash val="solid"/>
          </a:ln>
        </p:spPr>
      </p:sp>
      <p:sp>
        <p:nvSpPr>
          <p:cNvPr id="10" name="Text 8"/>
          <p:cNvSpPr txBox="1"/>
          <p:nvPr/>
        </p:nvSpPr>
        <p:spPr>
          <a:xfrm>
            <a:off x="5324734" y="2011680"/>
            <a:ext cx="1542227" cy="457200"/>
          </a:xfrm>
          <a:prstGeom prst="rect">
            <a:avLst/>
          </a:prstGeom>
          <a:noFill/>
          <a:ln/>
        </p:spPr>
        <p:txBody>
          <a:bodyPr wrap="square" lIns="0" tIns="0" rIns="0" bIns="0" rtlCol="0" anchor="t"/>
          <a:lstStyle/>
          <a:p>
            <a:pPr indent="0" marL="0">
              <a:buNone/>
            </a:pPr>
            <a:r>
              <a:rPr lang="en-US" sz="1900" b="1" dirty="0">
                <a:solidFill>
                  <a:srgbClr val="0B1220"/>
                </a:solidFill>
                <a:latin typeface="Avenir Next" pitchFamily="34" charset="0"/>
                <a:ea typeface="Avenir Next" pitchFamily="34" charset="-122"/>
                <a:cs typeface="Avenir Next" pitchFamily="34" charset="-120"/>
              </a:rPr>
              <a:t>NumPy</a:t>
            </a:r>
            <a:endParaRPr lang="en-US" sz="1900" dirty="0"/>
          </a:p>
        </p:txBody>
      </p:sp>
      <p:sp>
        <p:nvSpPr>
          <p:cNvPr id="11" name="Text 9"/>
          <p:cNvSpPr txBox="1"/>
          <p:nvPr/>
        </p:nvSpPr>
        <p:spPr>
          <a:xfrm>
            <a:off x="5324734" y="2560320"/>
            <a:ext cx="1542227" cy="64008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Numerical arrays</a:t>
            </a:r>
            <a:endParaRPr lang="en-US" sz="1400" dirty="0"/>
          </a:p>
        </p:txBody>
      </p:sp>
      <p:sp>
        <p:nvSpPr>
          <p:cNvPr id="12" name="Shape 10"/>
          <p:cNvSpPr/>
          <p:nvPr/>
        </p:nvSpPr>
        <p:spPr>
          <a:xfrm>
            <a:off x="7369881" y="1645920"/>
            <a:ext cx="1999427" cy="1737360"/>
          </a:xfrm>
          <a:prstGeom prst="roundRect">
            <a:avLst>
              <a:gd name="adj" fmla="val 6316"/>
            </a:avLst>
          </a:prstGeom>
          <a:solidFill>
            <a:srgbClr val="F1F5F9"/>
          </a:solidFill>
          <a:ln w="12700">
            <a:solidFill>
              <a:srgbClr val="F1F5F9"/>
            </a:solidFill>
            <a:prstDash val="solid"/>
          </a:ln>
        </p:spPr>
      </p:sp>
      <p:sp>
        <p:nvSpPr>
          <p:cNvPr id="13" name="Text 11"/>
          <p:cNvSpPr txBox="1"/>
          <p:nvPr/>
        </p:nvSpPr>
        <p:spPr>
          <a:xfrm>
            <a:off x="7598481" y="2011680"/>
            <a:ext cx="1542227" cy="457200"/>
          </a:xfrm>
          <a:prstGeom prst="rect">
            <a:avLst/>
          </a:prstGeom>
          <a:noFill/>
          <a:ln/>
        </p:spPr>
        <p:txBody>
          <a:bodyPr wrap="square" lIns="0" tIns="0" rIns="0" bIns="0" rtlCol="0" anchor="t"/>
          <a:lstStyle/>
          <a:p>
            <a:pPr indent="0" marL="0">
              <a:buNone/>
            </a:pPr>
            <a:r>
              <a:rPr lang="en-US" sz="1900" b="1" dirty="0">
                <a:solidFill>
                  <a:srgbClr val="0B1220"/>
                </a:solidFill>
                <a:latin typeface="Avenir Next" pitchFamily="34" charset="0"/>
                <a:ea typeface="Avenir Next" pitchFamily="34" charset="-122"/>
                <a:cs typeface="Avenir Next" pitchFamily="34" charset="-120"/>
              </a:rPr>
              <a:t>scikit-learn</a:t>
            </a:r>
            <a:endParaRPr lang="en-US" sz="1900" dirty="0"/>
          </a:p>
        </p:txBody>
      </p:sp>
      <p:sp>
        <p:nvSpPr>
          <p:cNvPr id="14" name="Text 12"/>
          <p:cNvSpPr txBox="1"/>
          <p:nvPr/>
        </p:nvSpPr>
        <p:spPr>
          <a:xfrm>
            <a:off x="7598481" y="2560320"/>
            <a:ext cx="1542227" cy="64008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Split, scale, metrics</a:t>
            </a:r>
            <a:endParaRPr lang="en-US" sz="1400" dirty="0"/>
          </a:p>
        </p:txBody>
      </p:sp>
      <p:sp>
        <p:nvSpPr>
          <p:cNvPr id="15" name="Shape 13"/>
          <p:cNvSpPr/>
          <p:nvPr/>
        </p:nvSpPr>
        <p:spPr>
          <a:xfrm>
            <a:off x="9643628" y="1645920"/>
            <a:ext cx="1999427" cy="1737360"/>
          </a:xfrm>
          <a:prstGeom prst="roundRect">
            <a:avLst>
              <a:gd name="adj" fmla="val 6316"/>
            </a:avLst>
          </a:prstGeom>
          <a:solidFill>
            <a:srgbClr val="F1F5F9"/>
          </a:solidFill>
          <a:ln w="12700">
            <a:solidFill>
              <a:srgbClr val="F1F5F9"/>
            </a:solidFill>
            <a:prstDash val="solid"/>
          </a:ln>
        </p:spPr>
      </p:sp>
      <p:sp>
        <p:nvSpPr>
          <p:cNvPr id="16" name="Text 14"/>
          <p:cNvSpPr txBox="1"/>
          <p:nvPr/>
        </p:nvSpPr>
        <p:spPr>
          <a:xfrm>
            <a:off x="9872228" y="2011680"/>
            <a:ext cx="1542227" cy="457200"/>
          </a:xfrm>
          <a:prstGeom prst="rect">
            <a:avLst/>
          </a:prstGeom>
          <a:noFill/>
          <a:ln/>
        </p:spPr>
        <p:txBody>
          <a:bodyPr wrap="square" lIns="0" tIns="0" rIns="0" bIns="0" rtlCol="0" anchor="t"/>
          <a:lstStyle/>
          <a:p>
            <a:pPr indent="0" marL="0">
              <a:buNone/>
            </a:pPr>
            <a:r>
              <a:rPr lang="en-US" sz="1900" b="1" dirty="0">
                <a:solidFill>
                  <a:srgbClr val="0B1220"/>
                </a:solidFill>
                <a:latin typeface="Avenir Next" pitchFamily="34" charset="0"/>
                <a:ea typeface="Avenir Next" pitchFamily="34" charset="-122"/>
                <a:cs typeface="Avenir Next" pitchFamily="34" charset="-120"/>
              </a:rPr>
              <a:t>joblib</a:t>
            </a:r>
            <a:endParaRPr lang="en-US" sz="1900" dirty="0"/>
          </a:p>
        </p:txBody>
      </p:sp>
      <p:sp>
        <p:nvSpPr>
          <p:cNvPr id="17" name="Text 15"/>
          <p:cNvSpPr txBox="1"/>
          <p:nvPr/>
        </p:nvSpPr>
        <p:spPr>
          <a:xfrm>
            <a:off x="9872228" y="2560320"/>
            <a:ext cx="1542227" cy="64008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Save the scaler</a:t>
            </a:r>
            <a:endParaRPr lang="en-US" sz="1400" dirty="0"/>
          </a:p>
        </p:txBody>
      </p:sp>
      <p:sp>
        <p:nvSpPr>
          <p:cNvPr id="18" name="Shape 16"/>
          <p:cNvSpPr/>
          <p:nvPr/>
        </p:nvSpPr>
        <p:spPr>
          <a:xfrm>
            <a:off x="548640" y="3657600"/>
            <a:ext cx="1999427" cy="1737360"/>
          </a:xfrm>
          <a:prstGeom prst="roundRect">
            <a:avLst>
              <a:gd name="adj" fmla="val 6316"/>
            </a:avLst>
          </a:prstGeom>
          <a:solidFill>
            <a:srgbClr val="F1F5F9"/>
          </a:solidFill>
          <a:ln w="12700">
            <a:solidFill>
              <a:srgbClr val="F1F5F9"/>
            </a:solidFill>
            <a:prstDash val="solid"/>
          </a:ln>
        </p:spPr>
      </p:sp>
      <p:sp>
        <p:nvSpPr>
          <p:cNvPr id="19" name="Text 17"/>
          <p:cNvSpPr txBox="1"/>
          <p:nvPr/>
        </p:nvSpPr>
        <p:spPr>
          <a:xfrm>
            <a:off x="777240" y="4023360"/>
            <a:ext cx="1542227" cy="457200"/>
          </a:xfrm>
          <a:prstGeom prst="rect">
            <a:avLst/>
          </a:prstGeom>
          <a:noFill/>
          <a:ln/>
        </p:spPr>
        <p:txBody>
          <a:bodyPr wrap="square" lIns="0" tIns="0" rIns="0" bIns="0" rtlCol="0" anchor="t"/>
          <a:lstStyle/>
          <a:p>
            <a:pPr indent="0" marL="0">
              <a:buNone/>
            </a:pPr>
            <a:r>
              <a:rPr lang="en-US" sz="1900" b="1" dirty="0">
                <a:solidFill>
                  <a:srgbClr val="0B1220"/>
                </a:solidFill>
                <a:latin typeface="Avenir Next" pitchFamily="34" charset="0"/>
                <a:ea typeface="Avenir Next" pitchFamily="34" charset="-122"/>
                <a:cs typeface="Avenir Next" pitchFamily="34" charset="-120"/>
              </a:rPr>
              <a:t>FastAPI</a:t>
            </a:r>
            <a:endParaRPr lang="en-US" sz="1900" dirty="0"/>
          </a:p>
        </p:txBody>
      </p:sp>
      <p:sp>
        <p:nvSpPr>
          <p:cNvPr id="20" name="Text 18"/>
          <p:cNvSpPr txBox="1"/>
          <p:nvPr/>
        </p:nvSpPr>
        <p:spPr>
          <a:xfrm>
            <a:off x="777240" y="4572000"/>
            <a:ext cx="1542227" cy="64008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REST API for scoring</a:t>
            </a:r>
            <a:endParaRPr lang="en-US" sz="1400" dirty="0"/>
          </a:p>
        </p:txBody>
      </p:sp>
      <p:sp>
        <p:nvSpPr>
          <p:cNvPr id="21" name="Shape 19"/>
          <p:cNvSpPr/>
          <p:nvPr/>
        </p:nvSpPr>
        <p:spPr>
          <a:xfrm>
            <a:off x="2822387" y="3657600"/>
            <a:ext cx="1999427" cy="1737360"/>
          </a:xfrm>
          <a:prstGeom prst="roundRect">
            <a:avLst>
              <a:gd name="adj" fmla="val 6316"/>
            </a:avLst>
          </a:prstGeom>
          <a:solidFill>
            <a:srgbClr val="F1F5F9"/>
          </a:solidFill>
          <a:ln w="12700">
            <a:solidFill>
              <a:srgbClr val="F1F5F9"/>
            </a:solidFill>
            <a:prstDash val="solid"/>
          </a:ln>
        </p:spPr>
      </p:sp>
      <p:sp>
        <p:nvSpPr>
          <p:cNvPr id="22" name="Text 20"/>
          <p:cNvSpPr txBox="1"/>
          <p:nvPr/>
        </p:nvSpPr>
        <p:spPr>
          <a:xfrm>
            <a:off x="3050987" y="4023360"/>
            <a:ext cx="1542227" cy="457200"/>
          </a:xfrm>
          <a:prstGeom prst="rect">
            <a:avLst/>
          </a:prstGeom>
          <a:noFill/>
          <a:ln/>
        </p:spPr>
        <p:txBody>
          <a:bodyPr wrap="square" lIns="0" tIns="0" rIns="0" bIns="0" rtlCol="0" anchor="t"/>
          <a:lstStyle/>
          <a:p>
            <a:pPr indent="0" marL="0">
              <a:buNone/>
            </a:pPr>
            <a:r>
              <a:rPr lang="en-US" sz="1900" b="1" dirty="0">
                <a:solidFill>
                  <a:srgbClr val="0B1220"/>
                </a:solidFill>
                <a:latin typeface="Avenir Next" pitchFamily="34" charset="0"/>
                <a:ea typeface="Avenir Next" pitchFamily="34" charset="-122"/>
                <a:cs typeface="Avenir Next" pitchFamily="34" charset="-120"/>
              </a:rPr>
              <a:t>Uvicorn</a:t>
            </a:r>
            <a:endParaRPr lang="en-US" sz="1900" dirty="0"/>
          </a:p>
        </p:txBody>
      </p:sp>
      <p:sp>
        <p:nvSpPr>
          <p:cNvPr id="23" name="Text 21"/>
          <p:cNvSpPr txBox="1"/>
          <p:nvPr/>
        </p:nvSpPr>
        <p:spPr>
          <a:xfrm>
            <a:off x="3050987" y="4572000"/>
            <a:ext cx="1542227" cy="64008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API server</a:t>
            </a:r>
            <a:endParaRPr lang="en-US" sz="1400" dirty="0"/>
          </a:p>
        </p:txBody>
      </p:sp>
      <p:sp>
        <p:nvSpPr>
          <p:cNvPr id="24" name="Shape 22"/>
          <p:cNvSpPr/>
          <p:nvPr/>
        </p:nvSpPr>
        <p:spPr>
          <a:xfrm>
            <a:off x="5096134" y="3657600"/>
            <a:ext cx="1999427" cy="1737360"/>
          </a:xfrm>
          <a:prstGeom prst="roundRect">
            <a:avLst>
              <a:gd name="adj" fmla="val 6316"/>
            </a:avLst>
          </a:prstGeom>
          <a:solidFill>
            <a:srgbClr val="F1F5F9"/>
          </a:solidFill>
          <a:ln w="12700">
            <a:solidFill>
              <a:srgbClr val="F1F5F9"/>
            </a:solidFill>
            <a:prstDash val="solid"/>
          </a:ln>
        </p:spPr>
      </p:sp>
      <p:sp>
        <p:nvSpPr>
          <p:cNvPr id="25" name="Text 23"/>
          <p:cNvSpPr txBox="1"/>
          <p:nvPr/>
        </p:nvSpPr>
        <p:spPr>
          <a:xfrm>
            <a:off x="5324734" y="4023360"/>
            <a:ext cx="1542227" cy="457200"/>
          </a:xfrm>
          <a:prstGeom prst="rect">
            <a:avLst/>
          </a:prstGeom>
          <a:noFill/>
          <a:ln/>
        </p:spPr>
        <p:txBody>
          <a:bodyPr wrap="square" lIns="0" tIns="0" rIns="0" bIns="0" rtlCol="0" anchor="t"/>
          <a:lstStyle/>
          <a:p>
            <a:pPr indent="0" marL="0">
              <a:buNone/>
            </a:pPr>
            <a:r>
              <a:rPr lang="en-US" sz="1900" b="1" dirty="0">
                <a:solidFill>
                  <a:srgbClr val="0B1220"/>
                </a:solidFill>
                <a:latin typeface="Avenir Next" pitchFamily="34" charset="0"/>
                <a:ea typeface="Avenir Next" pitchFamily="34" charset="-122"/>
                <a:cs typeface="Avenir Next" pitchFamily="34" charset="-120"/>
              </a:rPr>
              <a:t>Streamlit</a:t>
            </a:r>
            <a:endParaRPr lang="en-US" sz="1900" dirty="0"/>
          </a:p>
        </p:txBody>
      </p:sp>
      <p:sp>
        <p:nvSpPr>
          <p:cNvPr id="26" name="Text 24"/>
          <p:cNvSpPr txBox="1"/>
          <p:nvPr/>
        </p:nvSpPr>
        <p:spPr>
          <a:xfrm>
            <a:off x="5324734" y="4572000"/>
            <a:ext cx="1542227" cy="64008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Interactive dashboard</a:t>
            </a:r>
            <a:endParaRPr lang="en-US" sz="1400" dirty="0"/>
          </a:p>
        </p:txBody>
      </p:sp>
      <p:sp>
        <p:nvSpPr>
          <p:cNvPr id="27" name="Shape 25"/>
          <p:cNvSpPr/>
          <p:nvPr/>
        </p:nvSpPr>
        <p:spPr>
          <a:xfrm>
            <a:off x="7369881" y="3657600"/>
            <a:ext cx="1999427" cy="1737360"/>
          </a:xfrm>
          <a:prstGeom prst="roundRect">
            <a:avLst>
              <a:gd name="adj" fmla="val 6316"/>
            </a:avLst>
          </a:prstGeom>
          <a:solidFill>
            <a:srgbClr val="F1F5F9"/>
          </a:solidFill>
          <a:ln w="12700">
            <a:solidFill>
              <a:srgbClr val="F1F5F9"/>
            </a:solidFill>
            <a:prstDash val="solid"/>
          </a:ln>
        </p:spPr>
      </p:sp>
      <p:sp>
        <p:nvSpPr>
          <p:cNvPr id="28" name="Text 26"/>
          <p:cNvSpPr txBox="1"/>
          <p:nvPr/>
        </p:nvSpPr>
        <p:spPr>
          <a:xfrm>
            <a:off x="7598481" y="4023360"/>
            <a:ext cx="1542227" cy="457200"/>
          </a:xfrm>
          <a:prstGeom prst="rect">
            <a:avLst/>
          </a:prstGeom>
          <a:noFill/>
          <a:ln/>
        </p:spPr>
        <p:txBody>
          <a:bodyPr wrap="square" lIns="0" tIns="0" rIns="0" bIns="0" rtlCol="0" anchor="t"/>
          <a:lstStyle/>
          <a:p>
            <a:pPr indent="0" marL="0">
              <a:buNone/>
            </a:pPr>
            <a:r>
              <a:rPr lang="en-US" sz="1900" b="1" dirty="0">
                <a:solidFill>
                  <a:srgbClr val="0B1220"/>
                </a:solidFill>
                <a:latin typeface="Avenir Next" pitchFamily="34" charset="0"/>
                <a:ea typeface="Avenir Next" pitchFamily="34" charset="-122"/>
                <a:cs typeface="Avenir Next" pitchFamily="34" charset="-120"/>
              </a:rPr>
              <a:t>pytest</a:t>
            </a:r>
            <a:endParaRPr lang="en-US" sz="1900" dirty="0"/>
          </a:p>
        </p:txBody>
      </p:sp>
      <p:sp>
        <p:nvSpPr>
          <p:cNvPr id="29" name="Text 27"/>
          <p:cNvSpPr txBox="1"/>
          <p:nvPr/>
        </p:nvSpPr>
        <p:spPr>
          <a:xfrm>
            <a:off x="7598481" y="4572000"/>
            <a:ext cx="1542227" cy="64008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Automated tests</a:t>
            </a:r>
            <a:endParaRPr lang="en-US" sz="1400" dirty="0"/>
          </a:p>
        </p:txBody>
      </p:sp>
      <p:sp>
        <p:nvSpPr>
          <p:cNvPr id="30" name="Shape 28"/>
          <p:cNvSpPr/>
          <p:nvPr/>
        </p:nvSpPr>
        <p:spPr>
          <a:xfrm>
            <a:off x="9643628" y="3657600"/>
            <a:ext cx="1999427" cy="1737360"/>
          </a:xfrm>
          <a:prstGeom prst="roundRect">
            <a:avLst>
              <a:gd name="adj" fmla="val 6316"/>
            </a:avLst>
          </a:prstGeom>
          <a:solidFill>
            <a:srgbClr val="F1F5F9"/>
          </a:solidFill>
          <a:ln w="12700">
            <a:solidFill>
              <a:srgbClr val="F1F5F9"/>
            </a:solidFill>
            <a:prstDash val="solid"/>
          </a:ln>
        </p:spPr>
      </p:sp>
      <p:sp>
        <p:nvSpPr>
          <p:cNvPr id="31" name="Text 29"/>
          <p:cNvSpPr txBox="1"/>
          <p:nvPr/>
        </p:nvSpPr>
        <p:spPr>
          <a:xfrm>
            <a:off x="9872228" y="4023360"/>
            <a:ext cx="1542227" cy="457200"/>
          </a:xfrm>
          <a:prstGeom prst="rect">
            <a:avLst/>
          </a:prstGeom>
          <a:noFill/>
          <a:ln/>
        </p:spPr>
        <p:txBody>
          <a:bodyPr wrap="square" lIns="0" tIns="0" rIns="0" bIns="0" rtlCol="0" anchor="t"/>
          <a:lstStyle/>
          <a:p>
            <a:pPr indent="0" marL="0">
              <a:buNone/>
            </a:pPr>
            <a:r>
              <a:rPr lang="en-US" sz="1900" b="1" dirty="0">
                <a:solidFill>
                  <a:srgbClr val="0B1220"/>
                </a:solidFill>
                <a:latin typeface="Avenir Next" pitchFamily="34" charset="0"/>
                <a:ea typeface="Avenir Next" pitchFamily="34" charset="-122"/>
                <a:cs typeface="Avenir Next" pitchFamily="34" charset="-120"/>
              </a:rPr>
              <a:t>Python 3</a:t>
            </a:r>
            <a:endParaRPr lang="en-US" sz="1900" dirty="0"/>
          </a:p>
        </p:txBody>
      </p:sp>
      <p:sp>
        <p:nvSpPr>
          <p:cNvPr id="32" name="Text 30"/>
          <p:cNvSpPr txBox="1"/>
          <p:nvPr/>
        </p:nvSpPr>
        <p:spPr>
          <a:xfrm>
            <a:off x="9872228" y="4572000"/>
            <a:ext cx="1542227" cy="64008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Primary language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Helvetica Neue"/>
                <a:ea typeface="Helvetica Neue"/>
                <a:cs typeface="Helvetica Neue"/>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400" b="1" dirty="0">
                <a:solidFill>
                  <a:srgbClr val="0B1220"/>
                </a:solidFill>
                <a:latin typeface="Avenir Next" pitchFamily="34" charset="0"/>
                <a:ea typeface="Avenir Next" pitchFamily="34" charset="-122"/>
                <a:cs typeface="Avenir Next" pitchFamily="34" charset="-120"/>
              </a:rPr>
              <a:t>FraudNet: a feed-forward neural network</a:t>
            </a:r>
            <a:endParaRPr lang="en-US" sz="3400" dirty="0"/>
          </a:p>
        </p:txBody>
      </p:sp>
      <p:sp>
        <p:nvSpPr>
          <p:cNvPr id="3" name="Shape 1"/>
          <p:cNvSpPr/>
          <p:nvPr/>
        </p:nvSpPr>
        <p:spPr>
          <a:xfrm>
            <a:off x="1261872" y="1627632"/>
            <a:ext cx="1920240" cy="914"/>
          </a:xfrm>
          <a:prstGeom prst="line">
            <a:avLst/>
          </a:prstGeom>
          <a:noFill/>
          <a:ln w="6350">
            <a:solidFill>
              <a:srgbClr val="CBD5E1"/>
            </a:solidFill>
            <a:prstDash val="solid"/>
          </a:ln>
        </p:spPr>
      </p:sp>
      <p:sp>
        <p:nvSpPr>
          <p:cNvPr id="4" name="Shape 2"/>
          <p:cNvSpPr/>
          <p:nvPr/>
        </p:nvSpPr>
        <p:spPr>
          <a:xfrm>
            <a:off x="1261872" y="1627632"/>
            <a:ext cx="1920240" cy="510540"/>
          </a:xfrm>
          <a:prstGeom prst="line">
            <a:avLst/>
          </a:prstGeom>
          <a:noFill/>
          <a:ln w="6350">
            <a:solidFill>
              <a:srgbClr val="CBD5E1"/>
            </a:solidFill>
            <a:prstDash val="solid"/>
          </a:ln>
        </p:spPr>
      </p:sp>
      <p:sp>
        <p:nvSpPr>
          <p:cNvPr id="5" name="Shape 3"/>
          <p:cNvSpPr/>
          <p:nvPr/>
        </p:nvSpPr>
        <p:spPr>
          <a:xfrm>
            <a:off x="1261872" y="1627632"/>
            <a:ext cx="1920240" cy="1021080"/>
          </a:xfrm>
          <a:prstGeom prst="line">
            <a:avLst/>
          </a:prstGeom>
          <a:noFill/>
          <a:ln w="6350">
            <a:solidFill>
              <a:srgbClr val="CBD5E1"/>
            </a:solidFill>
            <a:prstDash val="solid"/>
          </a:ln>
        </p:spPr>
      </p:sp>
      <p:sp>
        <p:nvSpPr>
          <p:cNvPr id="6" name="Shape 4"/>
          <p:cNvSpPr/>
          <p:nvPr/>
        </p:nvSpPr>
        <p:spPr>
          <a:xfrm>
            <a:off x="1261872" y="1627632"/>
            <a:ext cx="1920240" cy="1531620"/>
          </a:xfrm>
          <a:prstGeom prst="line">
            <a:avLst/>
          </a:prstGeom>
          <a:noFill/>
          <a:ln w="6350">
            <a:solidFill>
              <a:srgbClr val="CBD5E1"/>
            </a:solidFill>
            <a:prstDash val="solid"/>
          </a:ln>
        </p:spPr>
      </p:sp>
      <p:sp>
        <p:nvSpPr>
          <p:cNvPr id="7" name="Shape 5"/>
          <p:cNvSpPr/>
          <p:nvPr/>
        </p:nvSpPr>
        <p:spPr>
          <a:xfrm>
            <a:off x="1261872" y="1627632"/>
            <a:ext cx="1920240" cy="2042160"/>
          </a:xfrm>
          <a:prstGeom prst="line">
            <a:avLst/>
          </a:prstGeom>
          <a:noFill/>
          <a:ln w="6350">
            <a:solidFill>
              <a:srgbClr val="CBD5E1"/>
            </a:solidFill>
            <a:prstDash val="solid"/>
          </a:ln>
        </p:spPr>
      </p:sp>
      <p:sp>
        <p:nvSpPr>
          <p:cNvPr id="8" name="Shape 6"/>
          <p:cNvSpPr/>
          <p:nvPr/>
        </p:nvSpPr>
        <p:spPr>
          <a:xfrm>
            <a:off x="1261872" y="1627632"/>
            <a:ext cx="1920240" cy="2552700"/>
          </a:xfrm>
          <a:prstGeom prst="line">
            <a:avLst/>
          </a:prstGeom>
          <a:noFill/>
          <a:ln w="6350">
            <a:solidFill>
              <a:srgbClr val="CBD5E1"/>
            </a:solidFill>
            <a:prstDash val="solid"/>
          </a:ln>
        </p:spPr>
      </p:sp>
      <p:sp>
        <p:nvSpPr>
          <p:cNvPr id="9" name="Shape 7"/>
          <p:cNvSpPr/>
          <p:nvPr/>
        </p:nvSpPr>
        <p:spPr>
          <a:xfrm>
            <a:off x="1261872" y="1627632"/>
            <a:ext cx="1920240" cy="3063240"/>
          </a:xfrm>
          <a:prstGeom prst="line">
            <a:avLst/>
          </a:prstGeom>
          <a:noFill/>
          <a:ln w="6350">
            <a:solidFill>
              <a:srgbClr val="CBD5E1"/>
            </a:solidFill>
            <a:prstDash val="solid"/>
          </a:ln>
        </p:spPr>
      </p:sp>
      <p:sp>
        <p:nvSpPr>
          <p:cNvPr id="10" name="Shape 8"/>
          <p:cNvSpPr/>
          <p:nvPr/>
        </p:nvSpPr>
        <p:spPr>
          <a:xfrm flipV="1">
            <a:off x="1261872" y="1627632"/>
            <a:ext cx="1920240" cy="612648"/>
          </a:xfrm>
          <a:prstGeom prst="line">
            <a:avLst/>
          </a:prstGeom>
          <a:noFill/>
          <a:ln w="6350">
            <a:solidFill>
              <a:srgbClr val="CBD5E1"/>
            </a:solidFill>
            <a:prstDash val="solid"/>
          </a:ln>
        </p:spPr>
      </p:sp>
      <p:sp>
        <p:nvSpPr>
          <p:cNvPr id="11" name="Shape 9"/>
          <p:cNvSpPr/>
          <p:nvPr/>
        </p:nvSpPr>
        <p:spPr>
          <a:xfrm flipV="1">
            <a:off x="1261872" y="2138172"/>
            <a:ext cx="1920240" cy="102108"/>
          </a:xfrm>
          <a:prstGeom prst="line">
            <a:avLst/>
          </a:prstGeom>
          <a:noFill/>
          <a:ln w="6350">
            <a:solidFill>
              <a:srgbClr val="CBD5E1"/>
            </a:solidFill>
            <a:prstDash val="solid"/>
          </a:ln>
        </p:spPr>
      </p:sp>
      <p:sp>
        <p:nvSpPr>
          <p:cNvPr id="12" name="Shape 10"/>
          <p:cNvSpPr/>
          <p:nvPr/>
        </p:nvSpPr>
        <p:spPr>
          <a:xfrm>
            <a:off x="1261872" y="2240280"/>
            <a:ext cx="1920240" cy="408432"/>
          </a:xfrm>
          <a:prstGeom prst="line">
            <a:avLst/>
          </a:prstGeom>
          <a:noFill/>
          <a:ln w="6350">
            <a:solidFill>
              <a:srgbClr val="CBD5E1"/>
            </a:solidFill>
            <a:prstDash val="solid"/>
          </a:ln>
        </p:spPr>
      </p:sp>
      <p:sp>
        <p:nvSpPr>
          <p:cNvPr id="13" name="Shape 11"/>
          <p:cNvSpPr/>
          <p:nvPr/>
        </p:nvSpPr>
        <p:spPr>
          <a:xfrm>
            <a:off x="1261872" y="2240280"/>
            <a:ext cx="1920240" cy="918972"/>
          </a:xfrm>
          <a:prstGeom prst="line">
            <a:avLst/>
          </a:prstGeom>
          <a:noFill/>
          <a:ln w="6350">
            <a:solidFill>
              <a:srgbClr val="CBD5E1"/>
            </a:solidFill>
            <a:prstDash val="solid"/>
          </a:ln>
        </p:spPr>
      </p:sp>
      <p:sp>
        <p:nvSpPr>
          <p:cNvPr id="14" name="Shape 12"/>
          <p:cNvSpPr/>
          <p:nvPr/>
        </p:nvSpPr>
        <p:spPr>
          <a:xfrm>
            <a:off x="1261872" y="2240280"/>
            <a:ext cx="1920240" cy="1429512"/>
          </a:xfrm>
          <a:prstGeom prst="line">
            <a:avLst/>
          </a:prstGeom>
          <a:noFill/>
          <a:ln w="6350">
            <a:solidFill>
              <a:srgbClr val="CBD5E1"/>
            </a:solidFill>
            <a:prstDash val="solid"/>
          </a:ln>
        </p:spPr>
      </p:sp>
      <p:sp>
        <p:nvSpPr>
          <p:cNvPr id="15" name="Shape 13"/>
          <p:cNvSpPr/>
          <p:nvPr/>
        </p:nvSpPr>
        <p:spPr>
          <a:xfrm>
            <a:off x="1261872" y="2240280"/>
            <a:ext cx="1920240" cy="1940052"/>
          </a:xfrm>
          <a:prstGeom prst="line">
            <a:avLst/>
          </a:prstGeom>
          <a:noFill/>
          <a:ln w="6350">
            <a:solidFill>
              <a:srgbClr val="CBD5E1"/>
            </a:solidFill>
            <a:prstDash val="solid"/>
          </a:ln>
        </p:spPr>
      </p:sp>
      <p:sp>
        <p:nvSpPr>
          <p:cNvPr id="16" name="Shape 14"/>
          <p:cNvSpPr/>
          <p:nvPr/>
        </p:nvSpPr>
        <p:spPr>
          <a:xfrm>
            <a:off x="1261872" y="2240280"/>
            <a:ext cx="1920240" cy="2450592"/>
          </a:xfrm>
          <a:prstGeom prst="line">
            <a:avLst/>
          </a:prstGeom>
          <a:noFill/>
          <a:ln w="6350">
            <a:solidFill>
              <a:srgbClr val="CBD5E1"/>
            </a:solidFill>
            <a:prstDash val="solid"/>
          </a:ln>
        </p:spPr>
      </p:sp>
      <p:sp>
        <p:nvSpPr>
          <p:cNvPr id="17" name="Shape 15"/>
          <p:cNvSpPr/>
          <p:nvPr/>
        </p:nvSpPr>
        <p:spPr>
          <a:xfrm flipV="1">
            <a:off x="1261872" y="1627632"/>
            <a:ext cx="1920240" cy="1225296"/>
          </a:xfrm>
          <a:prstGeom prst="line">
            <a:avLst/>
          </a:prstGeom>
          <a:noFill/>
          <a:ln w="6350">
            <a:solidFill>
              <a:srgbClr val="CBD5E1"/>
            </a:solidFill>
            <a:prstDash val="solid"/>
          </a:ln>
        </p:spPr>
      </p:sp>
      <p:sp>
        <p:nvSpPr>
          <p:cNvPr id="18" name="Shape 16"/>
          <p:cNvSpPr/>
          <p:nvPr/>
        </p:nvSpPr>
        <p:spPr>
          <a:xfrm flipV="1">
            <a:off x="1261872" y="2138172"/>
            <a:ext cx="1920240" cy="714756"/>
          </a:xfrm>
          <a:prstGeom prst="line">
            <a:avLst/>
          </a:prstGeom>
          <a:noFill/>
          <a:ln w="6350">
            <a:solidFill>
              <a:srgbClr val="CBD5E1"/>
            </a:solidFill>
            <a:prstDash val="solid"/>
          </a:ln>
        </p:spPr>
      </p:sp>
      <p:sp>
        <p:nvSpPr>
          <p:cNvPr id="19" name="Shape 17"/>
          <p:cNvSpPr/>
          <p:nvPr/>
        </p:nvSpPr>
        <p:spPr>
          <a:xfrm flipV="1">
            <a:off x="1261872" y="2648712"/>
            <a:ext cx="1920240" cy="204216"/>
          </a:xfrm>
          <a:prstGeom prst="line">
            <a:avLst/>
          </a:prstGeom>
          <a:noFill/>
          <a:ln w="6350">
            <a:solidFill>
              <a:srgbClr val="CBD5E1"/>
            </a:solidFill>
            <a:prstDash val="solid"/>
          </a:ln>
        </p:spPr>
      </p:sp>
      <p:sp>
        <p:nvSpPr>
          <p:cNvPr id="20" name="Shape 18"/>
          <p:cNvSpPr/>
          <p:nvPr/>
        </p:nvSpPr>
        <p:spPr>
          <a:xfrm>
            <a:off x="1261872" y="2852928"/>
            <a:ext cx="1920240" cy="306324"/>
          </a:xfrm>
          <a:prstGeom prst="line">
            <a:avLst/>
          </a:prstGeom>
          <a:noFill/>
          <a:ln w="6350">
            <a:solidFill>
              <a:srgbClr val="CBD5E1"/>
            </a:solidFill>
            <a:prstDash val="solid"/>
          </a:ln>
        </p:spPr>
      </p:sp>
      <p:sp>
        <p:nvSpPr>
          <p:cNvPr id="21" name="Shape 19"/>
          <p:cNvSpPr/>
          <p:nvPr/>
        </p:nvSpPr>
        <p:spPr>
          <a:xfrm>
            <a:off x="1261872" y="2852928"/>
            <a:ext cx="1920240" cy="816864"/>
          </a:xfrm>
          <a:prstGeom prst="line">
            <a:avLst/>
          </a:prstGeom>
          <a:noFill/>
          <a:ln w="6350">
            <a:solidFill>
              <a:srgbClr val="CBD5E1"/>
            </a:solidFill>
            <a:prstDash val="solid"/>
          </a:ln>
        </p:spPr>
      </p:sp>
      <p:sp>
        <p:nvSpPr>
          <p:cNvPr id="22" name="Shape 20"/>
          <p:cNvSpPr/>
          <p:nvPr/>
        </p:nvSpPr>
        <p:spPr>
          <a:xfrm>
            <a:off x="1261872" y="2852928"/>
            <a:ext cx="1920240" cy="1327404"/>
          </a:xfrm>
          <a:prstGeom prst="line">
            <a:avLst/>
          </a:prstGeom>
          <a:noFill/>
          <a:ln w="6350">
            <a:solidFill>
              <a:srgbClr val="CBD5E1"/>
            </a:solidFill>
            <a:prstDash val="solid"/>
          </a:ln>
        </p:spPr>
      </p:sp>
      <p:sp>
        <p:nvSpPr>
          <p:cNvPr id="23" name="Shape 21"/>
          <p:cNvSpPr/>
          <p:nvPr/>
        </p:nvSpPr>
        <p:spPr>
          <a:xfrm>
            <a:off x="1261872" y="2852928"/>
            <a:ext cx="1920240" cy="1837944"/>
          </a:xfrm>
          <a:prstGeom prst="line">
            <a:avLst/>
          </a:prstGeom>
          <a:noFill/>
          <a:ln w="6350">
            <a:solidFill>
              <a:srgbClr val="CBD5E1"/>
            </a:solidFill>
            <a:prstDash val="solid"/>
          </a:ln>
        </p:spPr>
      </p:sp>
      <p:sp>
        <p:nvSpPr>
          <p:cNvPr id="24" name="Shape 22"/>
          <p:cNvSpPr/>
          <p:nvPr/>
        </p:nvSpPr>
        <p:spPr>
          <a:xfrm flipV="1">
            <a:off x="1261872" y="1627632"/>
            <a:ext cx="1920240" cy="1837944"/>
          </a:xfrm>
          <a:prstGeom prst="line">
            <a:avLst/>
          </a:prstGeom>
          <a:noFill/>
          <a:ln w="6350">
            <a:solidFill>
              <a:srgbClr val="CBD5E1"/>
            </a:solidFill>
            <a:prstDash val="solid"/>
          </a:ln>
        </p:spPr>
      </p:sp>
      <p:sp>
        <p:nvSpPr>
          <p:cNvPr id="25" name="Shape 23"/>
          <p:cNvSpPr/>
          <p:nvPr/>
        </p:nvSpPr>
        <p:spPr>
          <a:xfrm flipV="1">
            <a:off x="1261872" y="2138172"/>
            <a:ext cx="1920240" cy="1327404"/>
          </a:xfrm>
          <a:prstGeom prst="line">
            <a:avLst/>
          </a:prstGeom>
          <a:noFill/>
          <a:ln w="6350">
            <a:solidFill>
              <a:srgbClr val="CBD5E1"/>
            </a:solidFill>
            <a:prstDash val="solid"/>
          </a:ln>
        </p:spPr>
      </p:sp>
      <p:sp>
        <p:nvSpPr>
          <p:cNvPr id="26" name="Shape 24"/>
          <p:cNvSpPr/>
          <p:nvPr/>
        </p:nvSpPr>
        <p:spPr>
          <a:xfrm flipV="1">
            <a:off x="1261872" y="2648712"/>
            <a:ext cx="1920240" cy="816864"/>
          </a:xfrm>
          <a:prstGeom prst="line">
            <a:avLst/>
          </a:prstGeom>
          <a:noFill/>
          <a:ln w="6350">
            <a:solidFill>
              <a:srgbClr val="CBD5E1"/>
            </a:solidFill>
            <a:prstDash val="solid"/>
          </a:ln>
        </p:spPr>
      </p:sp>
      <p:sp>
        <p:nvSpPr>
          <p:cNvPr id="27" name="Shape 25"/>
          <p:cNvSpPr/>
          <p:nvPr/>
        </p:nvSpPr>
        <p:spPr>
          <a:xfrm flipV="1">
            <a:off x="1261872" y="3159252"/>
            <a:ext cx="1920240" cy="306324"/>
          </a:xfrm>
          <a:prstGeom prst="line">
            <a:avLst/>
          </a:prstGeom>
          <a:noFill/>
          <a:ln w="6350">
            <a:solidFill>
              <a:srgbClr val="CBD5E1"/>
            </a:solidFill>
            <a:prstDash val="solid"/>
          </a:ln>
        </p:spPr>
      </p:sp>
      <p:sp>
        <p:nvSpPr>
          <p:cNvPr id="28" name="Shape 26"/>
          <p:cNvSpPr/>
          <p:nvPr/>
        </p:nvSpPr>
        <p:spPr>
          <a:xfrm>
            <a:off x="1261872" y="3465576"/>
            <a:ext cx="1920240" cy="204216"/>
          </a:xfrm>
          <a:prstGeom prst="line">
            <a:avLst/>
          </a:prstGeom>
          <a:noFill/>
          <a:ln w="6350">
            <a:solidFill>
              <a:srgbClr val="CBD5E1"/>
            </a:solidFill>
            <a:prstDash val="solid"/>
          </a:ln>
        </p:spPr>
      </p:sp>
      <p:sp>
        <p:nvSpPr>
          <p:cNvPr id="29" name="Shape 27"/>
          <p:cNvSpPr/>
          <p:nvPr/>
        </p:nvSpPr>
        <p:spPr>
          <a:xfrm>
            <a:off x="1261872" y="3465576"/>
            <a:ext cx="1920240" cy="714756"/>
          </a:xfrm>
          <a:prstGeom prst="line">
            <a:avLst/>
          </a:prstGeom>
          <a:noFill/>
          <a:ln w="6350">
            <a:solidFill>
              <a:srgbClr val="CBD5E1"/>
            </a:solidFill>
            <a:prstDash val="solid"/>
          </a:ln>
        </p:spPr>
      </p:sp>
      <p:sp>
        <p:nvSpPr>
          <p:cNvPr id="30" name="Shape 28"/>
          <p:cNvSpPr/>
          <p:nvPr/>
        </p:nvSpPr>
        <p:spPr>
          <a:xfrm>
            <a:off x="1261872" y="3465576"/>
            <a:ext cx="1920240" cy="1225296"/>
          </a:xfrm>
          <a:prstGeom prst="line">
            <a:avLst/>
          </a:prstGeom>
          <a:noFill/>
          <a:ln w="6350">
            <a:solidFill>
              <a:srgbClr val="CBD5E1"/>
            </a:solidFill>
            <a:prstDash val="solid"/>
          </a:ln>
        </p:spPr>
      </p:sp>
      <p:sp>
        <p:nvSpPr>
          <p:cNvPr id="31" name="Shape 29"/>
          <p:cNvSpPr/>
          <p:nvPr/>
        </p:nvSpPr>
        <p:spPr>
          <a:xfrm flipV="1">
            <a:off x="1261872" y="1627632"/>
            <a:ext cx="1920240" cy="2450592"/>
          </a:xfrm>
          <a:prstGeom prst="line">
            <a:avLst/>
          </a:prstGeom>
          <a:noFill/>
          <a:ln w="6350">
            <a:solidFill>
              <a:srgbClr val="CBD5E1"/>
            </a:solidFill>
            <a:prstDash val="solid"/>
          </a:ln>
        </p:spPr>
      </p:sp>
      <p:sp>
        <p:nvSpPr>
          <p:cNvPr id="32" name="Shape 30"/>
          <p:cNvSpPr/>
          <p:nvPr/>
        </p:nvSpPr>
        <p:spPr>
          <a:xfrm flipV="1">
            <a:off x="1261872" y="2138172"/>
            <a:ext cx="1920240" cy="1940052"/>
          </a:xfrm>
          <a:prstGeom prst="line">
            <a:avLst/>
          </a:prstGeom>
          <a:noFill/>
          <a:ln w="6350">
            <a:solidFill>
              <a:srgbClr val="CBD5E1"/>
            </a:solidFill>
            <a:prstDash val="solid"/>
          </a:ln>
        </p:spPr>
      </p:sp>
      <p:sp>
        <p:nvSpPr>
          <p:cNvPr id="33" name="Shape 31"/>
          <p:cNvSpPr/>
          <p:nvPr/>
        </p:nvSpPr>
        <p:spPr>
          <a:xfrm flipV="1">
            <a:off x="1261872" y="2648712"/>
            <a:ext cx="1920240" cy="1429512"/>
          </a:xfrm>
          <a:prstGeom prst="line">
            <a:avLst/>
          </a:prstGeom>
          <a:noFill/>
          <a:ln w="6350">
            <a:solidFill>
              <a:srgbClr val="CBD5E1"/>
            </a:solidFill>
            <a:prstDash val="solid"/>
          </a:ln>
        </p:spPr>
      </p:sp>
      <p:sp>
        <p:nvSpPr>
          <p:cNvPr id="34" name="Shape 32"/>
          <p:cNvSpPr/>
          <p:nvPr/>
        </p:nvSpPr>
        <p:spPr>
          <a:xfrm flipV="1">
            <a:off x="1261872" y="3159252"/>
            <a:ext cx="1920240" cy="918972"/>
          </a:xfrm>
          <a:prstGeom prst="line">
            <a:avLst/>
          </a:prstGeom>
          <a:noFill/>
          <a:ln w="6350">
            <a:solidFill>
              <a:srgbClr val="CBD5E1"/>
            </a:solidFill>
            <a:prstDash val="solid"/>
          </a:ln>
        </p:spPr>
      </p:sp>
      <p:sp>
        <p:nvSpPr>
          <p:cNvPr id="35" name="Shape 33"/>
          <p:cNvSpPr/>
          <p:nvPr/>
        </p:nvSpPr>
        <p:spPr>
          <a:xfrm flipV="1">
            <a:off x="1261872" y="3669792"/>
            <a:ext cx="1920240" cy="408432"/>
          </a:xfrm>
          <a:prstGeom prst="line">
            <a:avLst/>
          </a:prstGeom>
          <a:noFill/>
          <a:ln w="6350">
            <a:solidFill>
              <a:srgbClr val="CBD5E1"/>
            </a:solidFill>
            <a:prstDash val="solid"/>
          </a:ln>
        </p:spPr>
      </p:sp>
      <p:sp>
        <p:nvSpPr>
          <p:cNvPr id="36" name="Shape 34"/>
          <p:cNvSpPr/>
          <p:nvPr/>
        </p:nvSpPr>
        <p:spPr>
          <a:xfrm>
            <a:off x="1261872" y="4078224"/>
            <a:ext cx="1920240" cy="102108"/>
          </a:xfrm>
          <a:prstGeom prst="line">
            <a:avLst/>
          </a:prstGeom>
          <a:noFill/>
          <a:ln w="6350">
            <a:solidFill>
              <a:srgbClr val="CBD5E1"/>
            </a:solidFill>
            <a:prstDash val="solid"/>
          </a:ln>
        </p:spPr>
      </p:sp>
      <p:sp>
        <p:nvSpPr>
          <p:cNvPr id="37" name="Shape 35"/>
          <p:cNvSpPr/>
          <p:nvPr/>
        </p:nvSpPr>
        <p:spPr>
          <a:xfrm>
            <a:off x="1261872" y="4078224"/>
            <a:ext cx="1920240" cy="612648"/>
          </a:xfrm>
          <a:prstGeom prst="line">
            <a:avLst/>
          </a:prstGeom>
          <a:noFill/>
          <a:ln w="6350">
            <a:solidFill>
              <a:srgbClr val="CBD5E1"/>
            </a:solidFill>
            <a:prstDash val="solid"/>
          </a:ln>
        </p:spPr>
      </p:sp>
      <p:sp>
        <p:nvSpPr>
          <p:cNvPr id="38" name="Shape 36"/>
          <p:cNvSpPr/>
          <p:nvPr/>
        </p:nvSpPr>
        <p:spPr>
          <a:xfrm flipV="1">
            <a:off x="1261872" y="1627632"/>
            <a:ext cx="1920240" cy="3063240"/>
          </a:xfrm>
          <a:prstGeom prst="line">
            <a:avLst/>
          </a:prstGeom>
          <a:noFill/>
          <a:ln w="6350">
            <a:solidFill>
              <a:srgbClr val="CBD5E1"/>
            </a:solidFill>
            <a:prstDash val="solid"/>
          </a:ln>
        </p:spPr>
      </p:sp>
      <p:sp>
        <p:nvSpPr>
          <p:cNvPr id="39" name="Shape 37"/>
          <p:cNvSpPr/>
          <p:nvPr/>
        </p:nvSpPr>
        <p:spPr>
          <a:xfrm flipV="1">
            <a:off x="1261872" y="2138172"/>
            <a:ext cx="1920240" cy="2552700"/>
          </a:xfrm>
          <a:prstGeom prst="line">
            <a:avLst/>
          </a:prstGeom>
          <a:noFill/>
          <a:ln w="6350">
            <a:solidFill>
              <a:srgbClr val="CBD5E1"/>
            </a:solidFill>
            <a:prstDash val="solid"/>
          </a:ln>
        </p:spPr>
      </p:sp>
      <p:sp>
        <p:nvSpPr>
          <p:cNvPr id="40" name="Shape 38"/>
          <p:cNvSpPr/>
          <p:nvPr/>
        </p:nvSpPr>
        <p:spPr>
          <a:xfrm flipV="1">
            <a:off x="1261872" y="2648712"/>
            <a:ext cx="1920240" cy="2042160"/>
          </a:xfrm>
          <a:prstGeom prst="line">
            <a:avLst/>
          </a:prstGeom>
          <a:noFill/>
          <a:ln w="6350">
            <a:solidFill>
              <a:srgbClr val="CBD5E1"/>
            </a:solidFill>
            <a:prstDash val="solid"/>
          </a:ln>
        </p:spPr>
      </p:sp>
      <p:sp>
        <p:nvSpPr>
          <p:cNvPr id="41" name="Shape 39"/>
          <p:cNvSpPr/>
          <p:nvPr/>
        </p:nvSpPr>
        <p:spPr>
          <a:xfrm flipV="1">
            <a:off x="1261872" y="3159252"/>
            <a:ext cx="1920240" cy="1531620"/>
          </a:xfrm>
          <a:prstGeom prst="line">
            <a:avLst/>
          </a:prstGeom>
          <a:noFill/>
          <a:ln w="6350">
            <a:solidFill>
              <a:srgbClr val="CBD5E1"/>
            </a:solidFill>
            <a:prstDash val="solid"/>
          </a:ln>
        </p:spPr>
      </p:sp>
      <p:sp>
        <p:nvSpPr>
          <p:cNvPr id="42" name="Shape 40"/>
          <p:cNvSpPr/>
          <p:nvPr/>
        </p:nvSpPr>
        <p:spPr>
          <a:xfrm flipV="1">
            <a:off x="1261872" y="3669792"/>
            <a:ext cx="1920240" cy="1021080"/>
          </a:xfrm>
          <a:prstGeom prst="line">
            <a:avLst/>
          </a:prstGeom>
          <a:noFill/>
          <a:ln w="6350">
            <a:solidFill>
              <a:srgbClr val="CBD5E1"/>
            </a:solidFill>
            <a:prstDash val="solid"/>
          </a:ln>
        </p:spPr>
      </p:sp>
      <p:sp>
        <p:nvSpPr>
          <p:cNvPr id="43" name="Shape 41"/>
          <p:cNvSpPr/>
          <p:nvPr/>
        </p:nvSpPr>
        <p:spPr>
          <a:xfrm flipV="1">
            <a:off x="1261872" y="4180332"/>
            <a:ext cx="1920240" cy="510540"/>
          </a:xfrm>
          <a:prstGeom prst="line">
            <a:avLst/>
          </a:prstGeom>
          <a:noFill/>
          <a:ln w="6350">
            <a:solidFill>
              <a:srgbClr val="CBD5E1"/>
            </a:solidFill>
            <a:prstDash val="solid"/>
          </a:ln>
        </p:spPr>
      </p:sp>
      <p:sp>
        <p:nvSpPr>
          <p:cNvPr id="44" name="Shape 42"/>
          <p:cNvSpPr/>
          <p:nvPr/>
        </p:nvSpPr>
        <p:spPr>
          <a:xfrm>
            <a:off x="1261872" y="4690872"/>
            <a:ext cx="1920240" cy="914"/>
          </a:xfrm>
          <a:prstGeom prst="line">
            <a:avLst/>
          </a:prstGeom>
          <a:noFill/>
          <a:ln w="6350">
            <a:solidFill>
              <a:srgbClr val="CBD5E1"/>
            </a:solidFill>
            <a:prstDash val="solid"/>
          </a:ln>
        </p:spPr>
      </p:sp>
      <p:sp>
        <p:nvSpPr>
          <p:cNvPr id="45" name="Shape 43"/>
          <p:cNvSpPr/>
          <p:nvPr/>
        </p:nvSpPr>
        <p:spPr>
          <a:xfrm>
            <a:off x="3182112" y="1627632"/>
            <a:ext cx="1920240" cy="914"/>
          </a:xfrm>
          <a:prstGeom prst="line">
            <a:avLst/>
          </a:prstGeom>
          <a:noFill/>
          <a:ln w="6350">
            <a:solidFill>
              <a:srgbClr val="CBD5E1"/>
            </a:solidFill>
            <a:prstDash val="solid"/>
          </a:ln>
        </p:spPr>
      </p:sp>
      <p:sp>
        <p:nvSpPr>
          <p:cNvPr id="46" name="Shape 44"/>
          <p:cNvSpPr/>
          <p:nvPr/>
        </p:nvSpPr>
        <p:spPr>
          <a:xfrm>
            <a:off x="3182112" y="1627632"/>
            <a:ext cx="1920240" cy="765810"/>
          </a:xfrm>
          <a:prstGeom prst="line">
            <a:avLst/>
          </a:prstGeom>
          <a:noFill/>
          <a:ln w="6350">
            <a:solidFill>
              <a:srgbClr val="CBD5E1"/>
            </a:solidFill>
            <a:prstDash val="solid"/>
          </a:ln>
        </p:spPr>
      </p:sp>
      <p:sp>
        <p:nvSpPr>
          <p:cNvPr id="47" name="Shape 45"/>
          <p:cNvSpPr/>
          <p:nvPr/>
        </p:nvSpPr>
        <p:spPr>
          <a:xfrm>
            <a:off x="3182112" y="1627632"/>
            <a:ext cx="1920240" cy="1531620"/>
          </a:xfrm>
          <a:prstGeom prst="line">
            <a:avLst/>
          </a:prstGeom>
          <a:noFill/>
          <a:ln w="6350">
            <a:solidFill>
              <a:srgbClr val="CBD5E1"/>
            </a:solidFill>
            <a:prstDash val="solid"/>
          </a:ln>
        </p:spPr>
      </p:sp>
      <p:sp>
        <p:nvSpPr>
          <p:cNvPr id="48" name="Shape 46"/>
          <p:cNvSpPr/>
          <p:nvPr/>
        </p:nvSpPr>
        <p:spPr>
          <a:xfrm>
            <a:off x="3182112" y="1627632"/>
            <a:ext cx="1920240" cy="2297430"/>
          </a:xfrm>
          <a:prstGeom prst="line">
            <a:avLst/>
          </a:prstGeom>
          <a:noFill/>
          <a:ln w="6350">
            <a:solidFill>
              <a:srgbClr val="CBD5E1"/>
            </a:solidFill>
            <a:prstDash val="solid"/>
          </a:ln>
        </p:spPr>
      </p:sp>
      <p:sp>
        <p:nvSpPr>
          <p:cNvPr id="49" name="Shape 47"/>
          <p:cNvSpPr/>
          <p:nvPr/>
        </p:nvSpPr>
        <p:spPr>
          <a:xfrm>
            <a:off x="3182112" y="1627632"/>
            <a:ext cx="1920240" cy="3063240"/>
          </a:xfrm>
          <a:prstGeom prst="line">
            <a:avLst/>
          </a:prstGeom>
          <a:noFill/>
          <a:ln w="6350">
            <a:solidFill>
              <a:srgbClr val="CBD5E1"/>
            </a:solidFill>
            <a:prstDash val="solid"/>
          </a:ln>
        </p:spPr>
      </p:sp>
      <p:sp>
        <p:nvSpPr>
          <p:cNvPr id="50" name="Shape 48"/>
          <p:cNvSpPr/>
          <p:nvPr/>
        </p:nvSpPr>
        <p:spPr>
          <a:xfrm flipV="1">
            <a:off x="3182112" y="1627632"/>
            <a:ext cx="1920240" cy="510540"/>
          </a:xfrm>
          <a:prstGeom prst="line">
            <a:avLst/>
          </a:prstGeom>
          <a:noFill/>
          <a:ln w="6350">
            <a:solidFill>
              <a:srgbClr val="CBD5E1"/>
            </a:solidFill>
            <a:prstDash val="solid"/>
          </a:ln>
        </p:spPr>
      </p:sp>
      <p:sp>
        <p:nvSpPr>
          <p:cNvPr id="51" name="Shape 49"/>
          <p:cNvSpPr/>
          <p:nvPr/>
        </p:nvSpPr>
        <p:spPr>
          <a:xfrm>
            <a:off x="3182112" y="2138172"/>
            <a:ext cx="1920240" cy="255270"/>
          </a:xfrm>
          <a:prstGeom prst="line">
            <a:avLst/>
          </a:prstGeom>
          <a:noFill/>
          <a:ln w="6350">
            <a:solidFill>
              <a:srgbClr val="CBD5E1"/>
            </a:solidFill>
            <a:prstDash val="solid"/>
          </a:ln>
        </p:spPr>
      </p:sp>
      <p:sp>
        <p:nvSpPr>
          <p:cNvPr id="52" name="Shape 50"/>
          <p:cNvSpPr/>
          <p:nvPr/>
        </p:nvSpPr>
        <p:spPr>
          <a:xfrm>
            <a:off x="3182112" y="2138172"/>
            <a:ext cx="1920240" cy="1021080"/>
          </a:xfrm>
          <a:prstGeom prst="line">
            <a:avLst/>
          </a:prstGeom>
          <a:noFill/>
          <a:ln w="6350">
            <a:solidFill>
              <a:srgbClr val="CBD5E1"/>
            </a:solidFill>
            <a:prstDash val="solid"/>
          </a:ln>
        </p:spPr>
      </p:sp>
      <p:sp>
        <p:nvSpPr>
          <p:cNvPr id="53" name="Shape 51"/>
          <p:cNvSpPr/>
          <p:nvPr/>
        </p:nvSpPr>
        <p:spPr>
          <a:xfrm>
            <a:off x="3182112" y="2138172"/>
            <a:ext cx="1920240" cy="1786890"/>
          </a:xfrm>
          <a:prstGeom prst="line">
            <a:avLst/>
          </a:prstGeom>
          <a:noFill/>
          <a:ln w="6350">
            <a:solidFill>
              <a:srgbClr val="CBD5E1"/>
            </a:solidFill>
            <a:prstDash val="solid"/>
          </a:ln>
        </p:spPr>
      </p:sp>
      <p:sp>
        <p:nvSpPr>
          <p:cNvPr id="54" name="Shape 52"/>
          <p:cNvSpPr/>
          <p:nvPr/>
        </p:nvSpPr>
        <p:spPr>
          <a:xfrm>
            <a:off x="3182112" y="2138172"/>
            <a:ext cx="1920240" cy="2552700"/>
          </a:xfrm>
          <a:prstGeom prst="line">
            <a:avLst/>
          </a:prstGeom>
          <a:noFill/>
          <a:ln w="6350">
            <a:solidFill>
              <a:srgbClr val="CBD5E1"/>
            </a:solidFill>
            <a:prstDash val="solid"/>
          </a:ln>
        </p:spPr>
      </p:sp>
      <p:sp>
        <p:nvSpPr>
          <p:cNvPr id="55" name="Shape 53"/>
          <p:cNvSpPr/>
          <p:nvPr/>
        </p:nvSpPr>
        <p:spPr>
          <a:xfrm flipV="1">
            <a:off x="3182112" y="1627632"/>
            <a:ext cx="1920240" cy="1021080"/>
          </a:xfrm>
          <a:prstGeom prst="line">
            <a:avLst/>
          </a:prstGeom>
          <a:noFill/>
          <a:ln w="6350">
            <a:solidFill>
              <a:srgbClr val="CBD5E1"/>
            </a:solidFill>
            <a:prstDash val="solid"/>
          </a:ln>
        </p:spPr>
      </p:sp>
      <p:sp>
        <p:nvSpPr>
          <p:cNvPr id="56" name="Shape 54"/>
          <p:cNvSpPr/>
          <p:nvPr/>
        </p:nvSpPr>
        <p:spPr>
          <a:xfrm flipV="1">
            <a:off x="3182112" y="2393442"/>
            <a:ext cx="1920240" cy="255270"/>
          </a:xfrm>
          <a:prstGeom prst="line">
            <a:avLst/>
          </a:prstGeom>
          <a:noFill/>
          <a:ln w="6350">
            <a:solidFill>
              <a:srgbClr val="CBD5E1"/>
            </a:solidFill>
            <a:prstDash val="solid"/>
          </a:ln>
        </p:spPr>
      </p:sp>
      <p:sp>
        <p:nvSpPr>
          <p:cNvPr id="57" name="Shape 55"/>
          <p:cNvSpPr/>
          <p:nvPr/>
        </p:nvSpPr>
        <p:spPr>
          <a:xfrm>
            <a:off x="3182112" y="2648712"/>
            <a:ext cx="1920240" cy="510540"/>
          </a:xfrm>
          <a:prstGeom prst="line">
            <a:avLst/>
          </a:prstGeom>
          <a:noFill/>
          <a:ln w="6350">
            <a:solidFill>
              <a:srgbClr val="CBD5E1"/>
            </a:solidFill>
            <a:prstDash val="solid"/>
          </a:ln>
        </p:spPr>
      </p:sp>
      <p:sp>
        <p:nvSpPr>
          <p:cNvPr id="58" name="Shape 56"/>
          <p:cNvSpPr/>
          <p:nvPr/>
        </p:nvSpPr>
        <p:spPr>
          <a:xfrm>
            <a:off x="3182112" y="2648712"/>
            <a:ext cx="1920240" cy="1276350"/>
          </a:xfrm>
          <a:prstGeom prst="line">
            <a:avLst/>
          </a:prstGeom>
          <a:noFill/>
          <a:ln w="6350">
            <a:solidFill>
              <a:srgbClr val="CBD5E1"/>
            </a:solidFill>
            <a:prstDash val="solid"/>
          </a:ln>
        </p:spPr>
      </p:sp>
      <p:sp>
        <p:nvSpPr>
          <p:cNvPr id="59" name="Shape 57"/>
          <p:cNvSpPr/>
          <p:nvPr/>
        </p:nvSpPr>
        <p:spPr>
          <a:xfrm>
            <a:off x="3182112" y="2648712"/>
            <a:ext cx="1920240" cy="2042160"/>
          </a:xfrm>
          <a:prstGeom prst="line">
            <a:avLst/>
          </a:prstGeom>
          <a:noFill/>
          <a:ln w="6350">
            <a:solidFill>
              <a:srgbClr val="CBD5E1"/>
            </a:solidFill>
            <a:prstDash val="solid"/>
          </a:ln>
        </p:spPr>
      </p:sp>
      <p:sp>
        <p:nvSpPr>
          <p:cNvPr id="60" name="Shape 58"/>
          <p:cNvSpPr/>
          <p:nvPr/>
        </p:nvSpPr>
        <p:spPr>
          <a:xfrm flipV="1">
            <a:off x="3182112" y="1627632"/>
            <a:ext cx="1920240" cy="1531620"/>
          </a:xfrm>
          <a:prstGeom prst="line">
            <a:avLst/>
          </a:prstGeom>
          <a:noFill/>
          <a:ln w="6350">
            <a:solidFill>
              <a:srgbClr val="CBD5E1"/>
            </a:solidFill>
            <a:prstDash val="solid"/>
          </a:ln>
        </p:spPr>
      </p:sp>
      <p:sp>
        <p:nvSpPr>
          <p:cNvPr id="61" name="Shape 59"/>
          <p:cNvSpPr/>
          <p:nvPr/>
        </p:nvSpPr>
        <p:spPr>
          <a:xfrm flipV="1">
            <a:off x="3182112" y="2393442"/>
            <a:ext cx="1920240" cy="765810"/>
          </a:xfrm>
          <a:prstGeom prst="line">
            <a:avLst/>
          </a:prstGeom>
          <a:noFill/>
          <a:ln w="6350">
            <a:solidFill>
              <a:srgbClr val="CBD5E1"/>
            </a:solidFill>
            <a:prstDash val="solid"/>
          </a:ln>
        </p:spPr>
      </p:sp>
      <p:sp>
        <p:nvSpPr>
          <p:cNvPr id="62" name="Shape 60"/>
          <p:cNvSpPr/>
          <p:nvPr/>
        </p:nvSpPr>
        <p:spPr>
          <a:xfrm>
            <a:off x="3182112" y="3159252"/>
            <a:ext cx="1920240" cy="914"/>
          </a:xfrm>
          <a:prstGeom prst="line">
            <a:avLst/>
          </a:prstGeom>
          <a:noFill/>
          <a:ln w="6350">
            <a:solidFill>
              <a:srgbClr val="CBD5E1"/>
            </a:solidFill>
            <a:prstDash val="solid"/>
          </a:ln>
        </p:spPr>
      </p:sp>
      <p:sp>
        <p:nvSpPr>
          <p:cNvPr id="63" name="Shape 61"/>
          <p:cNvSpPr/>
          <p:nvPr/>
        </p:nvSpPr>
        <p:spPr>
          <a:xfrm>
            <a:off x="3182112" y="3159252"/>
            <a:ext cx="1920240" cy="765810"/>
          </a:xfrm>
          <a:prstGeom prst="line">
            <a:avLst/>
          </a:prstGeom>
          <a:noFill/>
          <a:ln w="6350">
            <a:solidFill>
              <a:srgbClr val="CBD5E1"/>
            </a:solidFill>
            <a:prstDash val="solid"/>
          </a:ln>
        </p:spPr>
      </p:sp>
      <p:sp>
        <p:nvSpPr>
          <p:cNvPr id="64" name="Shape 62"/>
          <p:cNvSpPr/>
          <p:nvPr/>
        </p:nvSpPr>
        <p:spPr>
          <a:xfrm>
            <a:off x="3182112" y="3159252"/>
            <a:ext cx="1920240" cy="1531620"/>
          </a:xfrm>
          <a:prstGeom prst="line">
            <a:avLst/>
          </a:prstGeom>
          <a:noFill/>
          <a:ln w="6350">
            <a:solidFill>
              <a:srgbClr val="CBD5E1"/>
            </a:solidFill>
            <a:prstDash val="solid"/>
          </a:ln>
        </p:spPr>
      </p:sp>
      <p:sp>
        <p:nvSpPr>
          <p:cNvPr id="65" name="Shape 63"/>
          <p:cNvSpPr/>
          <p:nvPr/>
        </p:nvSpPr>
        <p:spPr>
          <a:xfrm flipV="1">
            <a:off x="3182112" y="1627632"/>
            <a:ext cx="1920240" cy="2042160"/>
          </a:xfrm>
          <a:prstGeom prst="line">
            <a:avLst/>
          </a:prstGeom>
          <a:noFill/>
          <a:ln w="6350">
            <a:solidFill>
              <a:srgbClr val="CBD5E1"/>
            </a:solidFill>
            <a:prstDash val="solid"/>
          </a:ln>
        </p:spPr>
      </p:sp>
      <p:sp>
        <p:nvSpPr>
          <p:cNvPr id="66" name="Shape 64"/>
          <p:cNvSpPr/>
          <p:nvPr/>
        </p:nvSpPr>
        <p:spPr>
          <a:xfrm flipV="1">
            <a:off x="3182112" y="2393442"/>
            <a:ext cx="1920240" cy="1276350"/>
          </a:xfrm>
          <a:prstGeom prst="line">
            <a:avLst/>
          </a:prstGeom>
          <a:noFill/>
          <a:ln w="6350">
            <a:solidFill>
              <a:srgbClr val="CBD5E1"/>
            </a:solidFill>
            <a:prstDash val="solid"/>
          </a:ln>
        </p:spPr>
      </p:sp>
      <p:sp>
        <p:nvSpPr>
          <p:cNvPr id="67" name="Shape 65"/>
          <p:cNvSpPr/>
          <p:nvPr/>
        </p:nvSpPr>
        <p:spPr>
          <a:xfrm flipV="1">
            <a:off x="3182112" y="3159252"/>
            <a:ext cx="1920240" cy="510540"/>
          </a:xfrm>
          <a:prstGeom prst="line">
            <a:avLst/>
          </a:prstGeom>
          <a:noFill/>
          <a:ln w="6350">
            <a:solidFill>
              <a:srgbClr val="CBD5E1"/>
            </a:solidFill>
            <a:prstDash val="solid"/>
          </a:ln>
        </p:spPr>
      </p:sp>
      <p:sp>
        <p:nvSpPr>
          <p:cNvPr id="68" name="Shape 66"/>
          <p:cNvSpPr/>
          <p:nvPr/>
        </p:nvSpPr>
        <p:spPr>
          <a:xfrm>
            <a:off x="3182112" y="3669792"/>
            <a:ext cx="1920240" cy="255270"/>
          </a:xfrm>
          <a:prstGeom prst="line">
            <a:avLst/>
          </a:prstGeom>
          <a:noFill/>
          <a:ln w="6350">
            <a:solidFill>
              <a:srgbClr val="CBD5E1"/>
            </a:solidFill>
            <a:prstDash val="solid"/>
          </a:ln>
        </p:spPr>
      </p:sp>
      <p:sp>
        <p:nvSpPr>
          <p:cNvPr id="69" name="Shape 67"/>
          <p:cNvSpPr/>
          <p:nvPr/>
        </p:nvSpPr>
        <p:spPr>
          <a:xfrm>
            <a:off x="3182112" y="3669792"/>
            <a:ext cx="1920240" cy="1021080"/>
          </a:xfrm>
          <a:prstGeom prst="line">
            <a:avLst/>
          </a:prstGeom>
          <a:noFill/>
          <a:ln w="6350">
            <a:solidFill>
              <a:srgbClr val="CBD5E1"/>
            </a:solidFill>
            <a:prstDash val="solid"/>
          </a:ln>
        </p:spPr>
      </p:sp>
      <p:sp>
        <p:nvSpPr>
          <p:cNvPr id="70" name="Shape 68"/>
          <p:cNvSpPr/>
          <p:nvPr/>
        </p:nvSpPr>
        <p:spPr>
          <a:xfrm flipV="1">
            <a:off x="3182112" y="1627632"/>
            <a:ext cx="1920240" cy="2552700"/>
          </a:xfrm>
          <a:prstGeom prst="line">
            <a:avLst/>
          </a:prstGeom>
          <a:noFill/>
          <a:ln w="6350">
            <a:solidFill>
              <a:srgbClr val="CBD5E1"/>
            </a:solidFill>
            <a:prstDash val="solid"/>
          </a:ln>
        </p:spPr>
      </p:sp>
      <p:sp>
        <p:nvSpPr>
          <p:cNvPr id="71" name="Shape 69"/>
          <p:cNvSpPr/>
          <p:nvPr/>
        </p:nvSpPr>
        <p:spPr>
          <a:xfrm flipV="1">
            <a:off x="3182112" y="2393442"/>
            <a:ext cx="1920240" cy="1786890"/>
          </a:xfrm>
          <a:prstGeom prst="line">
            <a:avLst/>
          </a:prstGeom>
          <a:noFill/>
          <a:ln w="6350">
            <a:solidFill>
              <a:srgbClr val="CBD5E1"/>
            </a:solidFill>
            <a:prstDash val="solid"/>
          </a:ln>
        </p:spPr>
      </p:sp>
      <p:sp>
        <p:nvSpPr>
          <p:cNvPr id="72" name="Shape 70"/>
          <p:cNvSpPr/>
          <p:nvPr/>
        </p:nvSpPr>
        <p:spPr>
          <a:xfrm flipV="1">
            <a:off x="3182112" y="3159252"/>
            <a:ext cx="1920240" cy="1021080"/>
          </a:xfrm>
          <a:prstGeom prst="line">
            <a:avLst/>
          </a:prstGeom>
          <a:noFill/>
          <a:ln w="6350">
            <a:solidFill>
              <a:srgbClr val="CBD5E1"/>
            </a:solidFill>
            <a:prstDash val="solid"/>
          </a:ln>
        </p:spPr>
      </p:sp>
      <p:sp>
        <p:nvSpPr>
          <p:cNvPr id="73" name="Shape 71"/>
          <p:cNvSpPr/>
          <p:nvPr/>
        </p:nvSpPr>
        <p:spPr>
          <a:xfrm flipV="1">
            <a:off x="3182112" y="3925062"/>
            <a:ext cx="1920240" cy="255270"/>
          </a:xfrm>
          <a:prstGeom prst="line">
            <a:avLst/>
          </a:prstGeom>
          <a:noFill/>
          <a:ln w="6350">
            <a:solidFill>
              <a:srgbClr val="CBD5E1"/>
            </a:solidFill>
            <a:prstDash val="solid"/>
          </a:ln>
        </p:spPr>
      </p:sp>
      <p:sp>
        <p:nvSpPr>
          <p:cNvPr id="74" name="Shape 72"/>
          <p:cNvSpPr/>
          <p:nvPr/>
        </p:nvSpPr>
        <p:spPr>
          <a:xfrm>
            <a:off x="3182112" y="4180332"/>
            <a:ext cx="1920240" cy="510540"/>
          </a:xfrm>
          <a:prstGeom prst="line">
            <a:avLst/>
          </a:prstGeom>
          <a:noFill/>
          <a:ln w="6350">
            <a:solidFill>
              <a:srgbClr val="CBD5E1"/>
            </a:solidFill>
            <a:prstDash val="solid"/>
          </a:ln>
        </p:spPr>
      </p:sp>
      <p:sp>
        <p:nvSpPr>
          <p:cNvPr id="75" name="Shape 73"/>
          <p:cNvSpPr/>
          <p:nvPr/>
        </p:nvSpPr>
        <p:spPr>
          <a:xfrm flipV="1">
            <a:off x="3182112" y="1627632"/>
            <a:ext cx="1920240" cy="3063240"/>
          </a:xfrm>
          <a:prstGeom prst="line">
            <a:avLst/>
          </a:prstGeom>
          <a:noFill/>
          <a:ln w="6350">
            <a:solidFill>
              <a:srgbClr val="CBD5E1"/>
            </a:solidFill>
            <a:prstDash val="solid"/>
          </a:ln>
        </p:spPr>
      </p:sp>
      <p:sp>
        <p:nvSpPr>
          <p:cNvPr id="76" name="Shape 74"/>
          <p:cNvSpPr/>
          <p:nvPr/>
        </p:nvSpPr>
        <p:spPr>
          <a:xfrm flipV="1">
            <a:off x="3182112" y="2393442"/>
            <a:ext cx="1920240" cy="2297430"/>
          </a:xfrm>
          <a:prstGeom prst="line">
            <a:avLst/>
          </a:prstGeom>
          <a:noFill/>
          <a:ln w="6350">
            <a:solidFill>
              <a:srgbClr val="CBD5E1"/>
            </a:solidFill>
            <a:prstDash val="solid"/>
          </a:ln>
        </p:spPr>
      </p:sp>
      <p:sp>
        <p:nvSpPr>
          <p:cNvPr id="77" name="Shape 75"/>
          <p:cNvSpPr/>
          <p:nvPr/>
        </p:nvSpPr>
        <p:spPr>
          <a:xfrm flipV="1">
            <a:off x="3182112" y="3159252"/>
            <a:ext cx="1920240" cy="1531620"/>
          </a:xfrm>
          <a:prstGeom prst="line">
            <a:avLst/>
          </a:prstGeom>
          <a:noFill/>
          <a:ln w="6350">
            <a:solidFill>
              <a:srgbClr val="CBD5E1"/>
            </a:solidFill>
            <a:prstDash val="solid"/>
          </a:ln>
        </p:spPr>
      </p:sp>
      <p:sp>
        <p:nvSpPr>
          <p:cNvPr id="78" name="Shape 76"/>
          <p:cNvSpPr/>
          <p:nvPr/>
        </p:nvSpPr>
        <p:spPr>
          <a:xfrm flipV="1">
            <a:off x="3182112" y="3925062"/>
            <a:ext cx="1920240" cy="765810"/>
          </a:xfrm>
          <a:prstGeom prst="line">
            <a:avLst/>
          </a:prstGeom>
          <a:noFill/>
          <a:ln w="6350">
            <a:solidFill>
              <a:srgbClr val="CBD5E1"/>
            </a:solidFill>
            <a:prstDash val="solid"/>
          </a:ln>
        </p:spPr>
      </p:sp>
      <p:sp>
        <p:nvSpPr>
          <p:cNvPr id="79" name="Shape 77"/>
          <p:cNvSpPr/>
          <p:nvPr/>
        </p:nvSpPr>
        <p:spPr>
          <a:xfrm>
            <a:off x="3182112" y="4690872"/>
            <a:ext cx="1920240" cy="914"/>
          </a:xfrm>
          <a:prstGeom prst="line">
            <a:avLst/>
          </a:prstGeom>
          <a:noFill/>
          <a:ln w="6350">
            <a:solidFill>
              <a:srgbClr val="CBD5E1"/>
            </a:solidFill>
            <a:prstDash val="solid"/>
          </a:ln>
        </p:spPr>
      </p:sp>
      <p:sp>
        <p:nvSpPr>
          <p:cNvPr id="80" name="Shape 78"/>
          <p:cNvSpPr/>
          <p:nvPr/>
        </p:nvSpPr>
        <p:spPr>
          <a:xfrm>
            <a:off x="5102352" y="1627632"/>
            <a:ext cx="1920240" cy="1531620"/>
          </a:xfrm>
          <a:prstGeom prst="line">
            <a:avLst/>
          </a:prstGeom>
          <a:noFill/>
          <a:ln w="6350">
            <a:solidFill>
              <a:srgbClr val="CBD5E1"/>
            </a:solidFill>
            <a:prstDash val="solid"/>
          </a:ln>
        </p:spPr>
      </p:sp>
      <p:sp>
        <p:nvSpPr>
          <p:cNvPr id="81" name="Shape 79"/>
          <p:cNvSpPr/>
          <p:nvPr/>
        </p:nvSpPr>
        <p:spPr>
          <a:xfrm>
            <a:off x="5102352" y="2393442"/>
            <a:ext cx="1920240" cy="765810"/>
          </a:xfrm>
          <a:prstGeom prst="line">
            <a:avLst/>
          </a:prstGeom>
          <a:noFill/>
          <a:ln w="6350">
            <a:solidFill>
              <a:srgbClr val="CBD5E1"/>
            </a:solidFill>
            <a:prstDash val="solid"/>
          </a:ln>
        </p:spPr>
      </p:sp>
      <p:sp>
        <p:nvSpPr>
          <p:cNvPr id="82" name="Shape 80"/>
          <p:cNvSpPr/>
          <p:nvPr/>
        </p:nvSpPr>
        <p:spPr>
          <a:xfrm>
            <a:off x="5102352" y="3159252"/>
            <a:ext cx="1920240" cy="914"/>
          </a:xfrm>
          <a:prstGeom prst="line">
            <a:avLst/>
          </a:prstGeom>
          <a:noFill/>
          <a:ln w="6350">
            <a:solidFill>
              <a:srgbClr val="CBD5E1"/>
            </a:solidFill>
            <a:prstDash val="solid"/>
          </a:ln>
        </p:spPr>
      </p:sp>
      <p:sp>
        <p:nvSpPr>
          <p:cNvPr id="83" name="Shape 81"/>
          <p:cNvSpPr/>
          <p:nvPr/>
        </p:nvSpPr>
        <p:spPr>
          <a:xfrm flipV="1">
            <a:off x="5102352" y="3159252"/>
            <a:ext cx="1920240" cy="765810"/>
          </a:xfrm>
          <a:prstGeom prst="line">
            <a:avLst/>
          </a:prstGeom>
          <a:noFill/>
          <a:ln w="6350">
            <a:solidFill>
              <a:srgbClr val="CBD5E1"/>
            </a:solidFill>
            <a:prstDash val="solid"/>
          </a:ln>
        </p:spPr>
      </p:sp>
      <p:sp>
        <p:nvSpPr>
          <p:cNvPr id="84" name="Shape 82"/>
          <p:cNvSpPr/>
          <p:nvPr/>
        </p:nvSpPr>
        <p:spPr>
          <a:xfrm flipV="1">
            <a:off x="5102352" y="3159252"/>
            <a:ext cx="1920240" cy="1531620"/>
          </a:xfrm>
          <a:prstGeom prst="line">
            <a:avLst/>
          </a:prstGeom>
          <a:noFill/>
          <a:ln w="6350">
            <a:solidFill>
              <a:srgbClr val="CBD5E1"/>
            </a:solidFill>
            <a:prstDash val="solid"/>
          </a:ln>
        </p:spPr>
      </p:sp>
      <p:sp>
        <p:nvSpPr>
          <p:cNvPr id="85" name="Shape 83"/>
          <p:cNvSpPr/>
          <p:nvPr/>
        </p:nvSpPr>
        <p:spPr>
          <a:xfrm>
            <a:off x="1097280" y="1463040"/>
            <a:ext cx="329184" cy="329184"/>
          </a:xfrm>
          <a:prstGeom prst="ellipse">
            <a:avLst/>
          </a:prstGeom>
          <a:solidFill>
            <a:srgbClr val="1E293B"/>
          </a:solidFill>
          <a:ln w="19050">
            <a:solidFill>
              <a:srgbClr val="FFFFFF"/>
            </a:solidFill>
            <a:prstDash val="solid"/>
          </a:ln>
        </p:spPr>
      </p:sp>
      <p:sp>
        <p:nvSpPr>
          <p:cNvPr id="86" name="Shape 84"/>
          <p:cNvSpPr/>
          <p:nvPr/>
        </p:nvSpPr>
        <p:spPr>
          <a:xfrm>
            <a:off x="1097280" y="2075688"/>
            <a:ext cx="329184" cy="329184"/>
          </a:xfrm>
          <a:prstGeom prst="ellipse">
            <a:avLst/>
          </a:prstGeom>
          <a:solidFill>
            <a:srgbClr val="1E293B"/>
          </a:solidFill>
          <a:ln w="19050">
            <a:solidFill>
              <a:srgbClr val="FFFFFF"/>
            </a:solidFill>
            <a:prstDash val="solid"/>
          </a:ln>
        </p:spPr>
      </p:sp>
      <p:sp>
        <p:nvSpPr>
          <p:cNvPr id="87" name="Shape 85"/>
          <p:cNvSpPr/>
          <p:nvPr/>
        </p:nvSpPr>
        <p:spPr>
          <a:xfrm>
            <a:off x="1097280" y="2688336"/>
            <a:ext cx="329184" cy="329184"/>
          </a:xfrm>
          <a:prstGeom prst="ellipse">
            <a:avLst/>
          </a:prstGeom>
          <a:solidFill>
            <a:srgbClr val="1E293B"/>
          </a:solidFill>
          <a:ln w="19050">
            <a:solidFill>
              <a:srgbClr val="FFFFFF"/>
            </a:solidFill>
            <a:prstDash val="solid"/>
          </a:ln>
        </p:spPr>
      </p:sp>
      <p:sp>
        <p:nvSpPr>
          <p:cNvPr id="88" name="Shape 86"/>
          <p:cNvSpPr/>
          <p:nvPr/>
        </p:nvSpPr>
        <p:spPr>
          <a:xfrm>
            <a:off x="1097280" y="3300984"/>
            <a:ext cx="329184" cy="329184"/>
          </a:xfrm>
          <a:prstGeom prst="ellipse">
            <a:avLst/>
          </a:prstGeom>
          <a:solidFill>
            <a:srgbClr val="1E293B"/>
          </a:solidFill>
          <a:ln w="19050">
            <a:solidFill>
              <a:srgbClr val="FFFFFF"/>
            </a:solidFill>
            <a:prstDash val="solid"/>
          </a:ln>
        </p:spPr>
      </p:sp>
      <p:sp>
        <p:nvSpPr>
          <p:cNvPr id="89" name="Shape 87"/>
          <p:cNvSpPr/>
          <p:nvPr/>
        </p:nvSpPr>
        <p:spPr>
          <a:xfrm>
            <a:off x="1097280" y="3913632"/>
            <a:ext cx="329184" cy="329184"/>
          </a:xfrm>
          <a:prstGeom prst="ellipse">
            <a:avLst/>
          </a:prstGeom>
          <a:solidFill>
            <a:srgbClr val="1E293B"/>
          </a:solidFill>
          <a:ln w="19050">
            <a:solidFill>
              <a:srgbClr val="FFFFFF"/>
            </a:solidFill>
            <a:prstDash val="solid"/>
          </a:ln>
        </p:spPr>
      </p:sp>
      <p:sp>
        <p:nvSpPr>
          <p:cNvPr id="90" name="Shape 88"/>
          <p:cNvSpPr/>
          <p:nvPr/>
        </p:nvSpPr>
        <p:spPr>
          <a:xfrm>
            <a:off x="1097280" y="4526280"/>
            <a:ext cx="329184" cy="329184"/>
          </a:xfrm>
          <a:prstGeom prst="ellipse">
            <a:avLst/>
          </a:prstGeom>
          <a:solidFill>
            <a:srgbClr val="1E293B"/>
          </a:solidFill>
          <a:ln w="19050">
            <a:solidFill>
              <a:srgbClr val="FFFFFF"/>
            </a:solidFill>
            <a:prstDash val="solid"/>
          </a:ln>
        </p:spPr>
      </p:sp>
      <p:sp>
        <p:nvSpPr>
          <p:cNvPr id="91" name="Text 89"/>
          <p:cNvSpPr txBox="1"/>
          <p:nvPr/>
        </p:nvSpPr>
        <p:spPr>
          <a:xfrm>
            <a:off x="457200" y="5074920"/>
            <a:ext cx="1609344" cy="320040"/>
          </a:xfrm>
          <a:prstGeom prst="rect">
            <a:avLst/>
          </a:prstGeom>
          <a:noFill/>
          <a:ln/>
        </p:spPr>
        <p:txBody>
          <a:bodyPr wrap="square" lIns="0" tIns="0" rIns="0" bIns="0" rtlCol="0" anchor="t"/>
          <a:lstStyle/>
          <a:p>
            <a:pPr algn="ctr" indent="0" marL="0">
              <a:buNone/>
            </a:pPr>
            <a:r>
              <a:rPr lang="en-US" sz="1500" b="1" dirty="0">
                <a:solidFill>
                  <a:srgbClr val="0B1220"/>
                </a:solidFill>
                <a:latin typeface="Avenir Next" pitchFamily="34" charset="0"/>
                <a:ea typeface="Avenir Next" pitchFamily="34" charset="-122"/>
                <a:cs typeface="Avenir Next" pitchFamily="34" charset="-120"/>
              </a:rPr>
              <a:t>Input</a:t>
            </a:r>
            <a:endParaRPr lang="en-US" sz="1500" dirty="0"/>
          </a:p>
        </p:txBody>
      </p:sp>
      <p:sp>
        <p:nvSpPr>
          <p:cNvPr id="92" name="Text 90"/>
          <p:cNvSpPr txBox="1"/>
          <p:nvPr/>
        </p:nvSpPr>
        <p:spPr>
          <a:xfrm>
            <a:off x="320040" y="5394960"/>
            <a:ext cx="1883664" cy="457200"/>
          </a:xfrm>
          <a:prstGeom prst="rect">
            <a:avLst/>
          </a:prstGeom>
          <a:noFill/>
          <a:ln/>
        </p:spPr>
        <p:txBody>
          <a:bodyPr wrap="square" lIns="0" tIns="0" rIns="0" bIns="0" rtlCol="0" anchor="t"/>
          <a:lstStyle/>
          <a:p>
            <a:pPr algn="ctr" indent="0" marL="0">
              <a:buNone/>
            </a:pPr>
            <a:r>
              <a:rPr lang="en-US" sz="1200" dirty="0">
                <a:solidFill>
                  <a:srgbClr val="64748B"/>
                </a:solidFill>
                <a:latin typeface="Helvetica Neue" pitchFamily="34" charset="0"/>
                <a:ea typeface="Helvetica Neue" pitchFamily="34" charset="-122"/>
                <a:cs typeface="Helvetica Neue" pitchFamily="34" charset="-120"/>
              </a:rPr>
              <a:t>30 features</a:t>
            </a:r>
            <a:endParaRPr lang="en-US" sz="1200" dirty="0"/>
          </a:p>
        </p:txBody>
      </p:sp>
      <p:sp>
        <p:nvSpPr>
          <p:cNvPr id="93" name="Shape 91"/>
          <p:cNvSpPr/>
          <p:nvPr/>
        </p:nvSpPr>
        <p:spPr>
          <a:xfrm>
            <a:off x="3017520" y="1463040"/>
            <a:ext cx="329184" cy="329184"/>
          </a:xfrm>
          <a:prstGeom prst="ellipse">
            <a:avLst/>
          </a:prstGeom>
          <a:solidFill>
            <a:srgbClr val="0F766E"/>
          </a:solidFill>
          <a:ln w="19050">
            <a:solidFill>
              <a:srgbClr val="FFFFFF"/>
            </a:solidFill>
            <a:prstDash val="solid"/>
          </a:ln>
        </p:spPr>
      </p:sp>
      <p:sp>
        <p:nvSpPr>
          <p:cNvPr id="94" name="Shape 92"/>
          <p:cNvSpPr/>
          <p:nvPr/>
        </p:nvSpPr>
        <p:spPr>
          <a:xfrm>
            <a:off x="3017520" y="1973580"/>
            <a:ext cx="329184" cy="329184"/>
          </a:xfrm>
          <a:prstGeom prst="ellipse">
            <a:avLst/>
          </a:prstGeom>
          <a:solidFill>
            <a:srgbClr val="0F766E"/>
          </a:solidFill>
          <a:ln w="19050">
            <a:solidFill>
              <a:srgbClr val="FFFFFF"/>
            </a:solidFill>
            <a:prstDash val="solid"/>
          </a:ln>
        </p:spPr>
      </p:sp>
      <p:sp>
        <p:nvSpPr>
          <p:cNvPr id="95" name="Shape 93"/>
          <p:cNvSpPr/>
          <p:nvPr/>
        </p:nvSpPr>
        <p:spPr>
          <a:xfrm>
            <a:off x="3017520" y="2484120"/>
            <a:ext cx="329184" cy="329184"/>
          </a:xfrm>
          <a:prstGeom prst="ellipse">
            <a:avLst/>
          </a:prstGeom>
          <a:solidFill>
            <a:srgbClr val="0F766E"/>
          </a:solidFill>
          <a:ln w="19050">
            <a:solidFill>
              <a:srgbClr val="FFFFFF"/>
            </a:solidFill>
            <a:prstDash val="solid"/>
          </a:ln>
        </p:spPr>
      </p:sp>
      <p:sp>
        <p:nvSpPr>
          <p:cNvPr id="96" name="Shape 94"/>
          <p:cNvSpPr/>
          <p:nvPr/>
        </p:nvSpPr>
        <p:spPr>
          <a:xfrm>
            <a:off x="3017520" y="2994660"/>
            <a:ext cx="329184" cy="329184"/>
          </a:xfrm>
          <a:prstGeom prst="ellipse">
            <a:avLst/>
          </a:prstGeom>
          <a:solidFill>
            <a:srgbClr val="0F766E"/>
          </a:solidFill>
          <a:ln w="19050">
            <a:solidFill>
              <a:srgbClr val="FFFFFF"/>
            </a:solidFill>
            <a:prstDash val="solid"/>
          </a:ln>
        </p:spPr>
      </p:sp>
      <p:sp>
        <p:nvSpPr>
          <p:cNvPr id="97" name="Shape 95"/>
          <p:cNvSpPr/>
          <p:nvPr/>
        </p:nvSpPr>
        <p:spPr>
          <a:xfrm>
            <a:off x="3017520" y="3505200"/>
            <a:ext cx="329184" cy="329184"/>
          </a:xfrm>
          <a:prstGeom prst="ellipse">
            <a:avLst/>
          </a:prstGeom>
          <a:solidFill>
            <a:srgbClr val="0F766E"/>
          </a:solidFill>
          <a:ln w="19050">
            <a:solidFill>
              <a:srgbClr val="FFFFFF"/>
            </a:solidFill>
            <a:prstDash val="solid"/>
          </a:ln>
        </p:spPr>
      </p:sp>
      <p:sp>
        <p:nvSpPr>
          <p:cNvPr id="98" name="Shape 96"/>
          <p:cNvSpPr/>
          <p:nvPr/>
        </p:nvSpPr>
        <p:spPr>
          <a:xfrm>
            <a:off x="3017520" y="4015740"/>
            <a:ext cx="329184" cy="329184"/>
          </a:xfrm>
          <a:prstGeom prst="ellipse">
            <a:avLst/>
          </a:prstGeom>
          <a:solidFill>
            <a:srgbClr val="0F766E"/>
          </a:solidFill>
          <a:ln w="19050">
            <a:solidFill>
              <a:srgbClr val="FFFFFF"/>
            </a:solidFill>
            <a:prstDash val="solid"/>
          </a:ln>
        </p:spPr>
      </p:sp>
      <p:sp>
        <p:nvSpPr>
          <p:cNvPr id="99" name="Shape 97"/>
          <p:cNvSpPr/>
          <p:nvPr/>
        </p:nvSpPr>
        <p:spPr>
          <a:xfrm>
            <a:off x="3017520" y="4526280"/>
            <a:ext cx="329184" cy="329184"/>
          </a:xfrm>
          <a:prstGeom prst="ellipse">
            <a:avLst/>
          </a:prstGeom>
          <a:solidFill>
            <a:srgbClr val="0F766E"/>
          </a:solidFill>
          <a:ln w="19050">
            <a:solidFill>
              <a:srgbClr val="FFFFFF"/>
            </a:solidFill>
            <a:prstDash val="solid"/>
          </a:ln>
        </p:spPr>
      </p:sp>
      <p:sp>
        <p:nvSpPr>
          <p:cNvPr id="100" name="Text 98"/>
          <p:cNvSpPr txBox="1"/>
          <p:nvPr/>
        </p:nvSpPr>
        <p:spPr>
          <a:xfrm>
            <a:off x="2377440" y="5074920"/>
            <a:ext cx="1609344" cy="320040"/>
          </a:xfrm>
          <a:prstGeom prst="rect">
            <a:avLst/>
          </a:prstGeom>
          <a:noFill/>
          <a:ln/>
        </p:spPr>
        <p:txBody>
          <a:bodyPr wrap="square" lIns="0" tIns="0" rIns="0" bIns="0" rtlCol="0" anchor="t"/>
          <a:lstStyle/>
          <a:p>
            <a:pPr algn="ctr" indent="0" marL="0">
              <a:buNone/>
            </a:pPr>
            <a:r>
              <a:rPr lang="en-US" sz="1500" b="1" dirty="0">
                <a:solidFill>
                  <a:srgbClr val="0B1220"/>
                </a:solidFill>
                <a:latin typeface="Avenir Next" pitchFamily="34" charset="0"/>
                <a:ea typeface="Avenir Next" pitchFamily="34" charset="-122"/>
                <a:cs typeface="Avenir Next" pitchFamily="34" charset="-120"/>
              </a:rPr>
              <a:t>Hidden 1</a:t>
            </a:r>
            <a:endParaRPr lang="en-US" sz="1500" dirty="0"/>
          </a:p>
        </p:txBody>
      </p:sp>
      <p:sp>
        <p:nvSpPr>
          <p:cNvPr id="101" name="Text 99"/>
          <p:cNvSpPr txBox="1"/>
          <p:nvPr/>
        </p:nvSpPr>
        <p:spPr>
          <a:xfrm>
            <a:off x="2240280" y="5394960"/>
            <a:ext cx="1883664" cy="457200"/>
          </a:xfrm>
          <a:prstGeom prst="rect">
            <a:avLst/>
          </a:prstGeom>
          <a:noFill/>
          <a:ln/>
        </p:spPr>
        <p:txBody>
          <a:bodyPr wrap="square" lIns="0" tIns="0" rIns="0" bIns="0" rtlCol="0" anchor="t"/>
          <a:lstStyle/>
          <a:p>
            <a:pPr algn="ctr" indent="0" marL="0">
              <a:buNone/>
            </a:pPr>
            <a:r>
              <a:rPr lang="en-US" sz="1200" dirty="0">
                <a:solidFill>
                  <a:srgbClr val="64748B"/>
                </a:solidFill>
                <a:latin typeface="Helvetica Neue" pitchFamily="34" charset="0"/>
                <a:ea typeface="Helvetica Neue" pitchFamily="34" charset="-122"/>
                <a:cs typeface="Helvetica Neue" pitchFamily="34" charset="-120"/>
              </a:rPr>
              <a:t>64 · ReLU · Dropout 0.2</a:t>
            </a:r>
            <a:endParaRPr lang="en-US" sz="1200" dirty="0"/>
          </a:p>
        </p:txBody>
      </p:sp>
      <p:sp>
        <p:nvSpPr>
          <p:cNvPr id="102" name="Shape 100"/>
          <p:cNvSpPr/>
          <p:nvPr/>
        </p:nvSpPr>
        <p:spPr>
          <a:xfrm>
            <a:off x="4937760" y="1463040"/>
            <a:ext cx="329184" cy="329184"/>
          </a:xfrm>
          <a:prstGeom prst="ellipse">
            <a:avLst/>
          </a:prstGeom>
          <a:solidFill>
            <a:srgbClr val="0F766E"/>
          </a:solidFill>
          <a:ln w="19050">
            <a:solidFill>
              <a:srgbClr val="FFFFFF"/>
            </a:solidFill>
            <a:prstDash val="solid"/>
          </a:ln>
        </p:spPr>
      </p:sp>
      <p:sp>
        <p:nvSpPr>
          <p:cNvPr id="103" name="Shape 101"/>
          <p:cNvSpPr/>
          <p:nvPr/>
        </p:nvSpPr>
        <p:spPr>
          <a:xfrm>
            <a:off x="4937760" y="2228850"/>
            <a:ext cx="329184" cy="329184"/>
          </a:xfrm>
          <a:prstGeom prst="ellipse">
            <a:avLst/>
          </a:prstGeom>
          <a:solidFill>
            <a:srgbClr val="0F766E"/>
          </a:solidFill>
          <a:ln w="19050">
            <a:solidFill>
              <a:srgbClr val="FFFFFF"/>
            </a:solidFill>
            <a:prstDash val="solid"/>
          </a:ln>
        </p:spPr>
      </p:sp>
      <p:sp>
        <p:nvSpPr>
          <p:cNvPr id="104" name="Shape 102"/>
          <p:cNvSpPr/>
          <p:nvPr/>
        </p:nvSpPr>
        <p:spPr>
          <a:xfrm>
            <a:off x="4937760" y="2994660"/>
            <a:ext cx="329184" cy="329184"/>
          </a:xfrm>
          <a:prstGeom prst="ellipse">
            <a:avLst/>
          </a:prstGeom>
          <a:solidFill>
            <a:srgbClr val="0F766E"/>
          </a:solidFill>
          <a:ln w="19050">
            <a:solidFill>
              <a:srgbClr val="FFFFFF"/>
            </a:solidFill>
            <a:prstDash val="solid"/>
          </a:ln>
        </p:spPr>
      </p:sp>
      <p:sp>
        <p:nvSpPr>
          <p:cNvPr id="105" name="Shape 103"/>
          <p:cNvSpPr/>
          <p:nvPr/>
        </p:nvSpPr>
        <p:spPr>
          <a:xfrm>
            <a:off x="4937760" y="3760470"/>
            <a:ext cx="329184" cy="329184"/>
          </a:xfrm>
          <a:prstGeom prst="ellipse">
            <a:avLst/>
          </a:prstGeom>
          <a:solidFill>
            <a:srgbClr val="0F766E"/>
          </a:solidFill>
          <a:ln w="19050">
            <a:solidFill>
              <a:srgbClr val="FFFFFF"/>
            </a:solidFill>
            <a:prstDash val="solid"/>
          </a:ln>
        </p:spPr>
      </p:sp>
      <p:sp>
        <p:nvSpPr>
          <p:cNvPr id="106" name="Shape 104"/>
          <p:cNvSpPr/>
          <p:nvPr/>
        </p:nvSpPr>
        <p:spPr>
          <a:xfrm>
            <a:off x="4937760" y="4526280"/>
            <a:ext cx="329184" cy="329184"/>
          </a:xfrm>
          <a:prstGeom prst="ellipse">
            <a:avLst/>
          </a:prstGeom>
          <a:solidFill>
            <a:srgbClr val="0F766E"/>
          </a:solidFill>
          <a:ln w="19050">
            <a:solidFill>
              <a:srgbClr val="FFFFFF"/>
            </a:solidFill>
            <a:prstDash val="solid"/>
          </a:ln>
        </p:spPr>
      </p:sp>
      <p:sp>
        <p:nvSpPr>
          <p:cNvPr id="107" name="Text 105"/>
          <p:cNvSpPr txBox="1"/>
          <p:nvPr/>
        </p:nvSpPr>
        <p:spPr>
          <a:xfrm>
            <a:off x="4297680" y="5074920"/>
            <a:ext cx="1609344" cy="320040"/>
          </a:xfrm>
          <a:prstGeom prst="rect">
            <a:avLst/>
          </a:prstGeom>
          <a:noFill/>
          <a:ln/>
        </p:spPr>
        <p:txBody>
          <a:bodyPr wrap="square" lIns="0" tIns="0" rIns="0" bIns="0" rtlCol="0" anchor="t"/>
          <a:lstStyle/>
          <a:p>
            <a:pPr algn="ctr" indent="0" marL="0">
              <a:buNone/>
            </a:pPr>
            <a:r>
              <a:rPr lang="en-US" sz="1500" b="1" dirty="0">
                <a:solidFill>
                  <a:srgbClr val="0B1220"/>
                </a:solidFill>
                <a:latin typeface="Avenir Next" pitchFamily="34" charset="0"/>
                <a:ea typeface="Avenir Next" pitchFamily="34" charset="-122"/>
                <a:cs typeface="Avenir Next" pitchFamily="34" charset="-120"/>
              </a:rPr>
              <a:t>Hidden 2</a:t>
            </a:r>
            <a:endParaRPr lang="en-US" sz="1500" dirty="0"/>
          </a:p>
        </p:txBody>
      </p:sp>
      <p:sp>
        <p:nvSpPr>
          <p:cNvPr id="108" name="Text 106"/>
          <p:cNvSpPr txBox="1"/>
          <p:nvPr/>
        </p:nvSpPr>
        <p:spPr>
          <a:xfrm>
            <a:off x="4160520" y="5394960"/>
            <a:ext cx="1883664" cy="457200"/>
          </a:xfrm>
          <a:prstGeom prst="rect">
            <a:avLst/>
          </a:prstGeom>
          <a:noFill/>
          <a:ln/>
        </p:spPr>
        <p:txBody>
          <a:bodyPr wrap="square" lIns="0" tIns="0" rIns="0" bIns="0" rtlCol="0" anchor="t"/>
          <a:lstStyle/>
          <a:p>
            <a:pPr algn="ctr" indent="0" marL="0">
              <a:buNone/>
            </a:pPr>
            <a:r>
              <a:rPr lang="en-US" sz="1200" dirty="0">
                <a:solidFill>
                  <a:srgbClr val="64748B"/>
                </a:solidFill>
                <a:latin typeface="Helvetica Neue" pitchFamily="34" charset="0"/>
                <a:ea typeface="Helvetica Neue" pitchFamily="34" charset="-122"/>
                <a:cs typeface="Helvetica Neue" pitchFamily="34" charset="-120"/>
              </a:rPr>
              <a:t>32 · ReLU · Dropout 0.1</a:t>
            </a:r>
            <a:endParaRPr lang="en-US" sz="1200" dirty="0"/>
          </a:p>
        </p:txBody>
      </p:sp>
      <p:sp>
        <p:nvSpPr>
          <p:cNvPr id="109" name="Shape 107"/>
          <p:cNvSpPr/>
          <p:nvPr/>
        </p:nvSpPr>
        <p:spPr>
          <a:xfrm>
            <a:off x="6858000" y="2994660"/>
            <a:ext cx="329184" cy="329184"/>
          </a:xfrm>
          <a:prstGeom prst="ellipse">
            <a:avLst/>
          </a:prstGeom>
          <a:solidFill>
            <a:srgbClr val="EE4C2C"/>
          </a:solidFill>
          <a:ln w="19050">
            <a:solidFill>
              <a:srgbClr val="FFFFFF"/>
            </a:solidFill>
            <a:prstDash val="solid"/>
          </a:ln>
        </p:spPr>
      </p:sp>
      <p:sp>
        <p:nvSpPr>
          <p:cNvPr id="110" name="Text 108"/>
          <p:cNvSpPr txBox="1"/>
          <p:nvPr/>
        </p:nvSpPr>
        <p:spPr>
          <a:xfrm>
            <a:off x="6217920" y="5074920"/>
            <a:ext cx="1609344" cy="320040"/>
          </a:xfrm>
          <a:prstGeom prst="rect">
            <a:avLst/>
          </a:prstGeom>
          <a:noFill/>
          <a:ln/>
        </p:spPr>
        <p:txBody>
          <a:bodyPr wrap="square" lIns="0" tIns="0" rIns="0" bIns="0" rtlCol="0" anchor="t"/>
          <a:lstStyle/>
          <a:p>
            <a:pPr algn="ctr" indent="0" marL="0">
              <a:buNone/>
            </a:pPr>
            <a:r>
              <a:rPr lang="en-US" sz="1500" b="1" dirty="0">
                <a:solidFill>
                  <a:srgbClr val="0B1220"/>
                </a:solidFill>
                <a:latin typeface="Avenir Next" pitchFamily="34" charset="0"/>
                <a:ea typeface="Avenir Next" pitchFamily="34" charset="-122"/>
                <a:cs typeface="Avenir Next" pitchFamily="34" charset="-120"/>
              </a:rPr>
              <a:t>Output</a:t>
            </a:r>
            <a:endParaRPr lang="en-US" sz="1500" dirty="0"/>
          </a:p>
        </p:txBody>
      </p:sp>
      <p:sp>
        <p:nvSpPr>
          <p:cNvPr id="111" name="Text 109"/>
          <p:cNvSpPr txBox="1"/>
          <p:nvPr/>
        </p:nvSpPr>
        <p:spPr>
          <a:xfrm>
            <a:off x="6080760" y="5394960"/>
            <a:ext cx="1883664" cy="457200"/>
          </a:xfrm>
          <a:prstGeom prst="rect">
            <a:avLst/>
          </a:prstGeom>
          <a:noFill/>
          <a:ln/>
        </p:spPr>
        <p:txBody>
          <a:bodyPr wrap="square" lIns="0" tIns="0" rIns="0" bIns="0" rtlCol="0" anchor="t"/>
          <a:lstStyle/>
          <a:p>
            <a:pPr algn="ctr" indent="0" marL="0">
              <a:buNone/>
            </a:pPr>
            <a:r>
              <a:rPr lang="en-US" sz="1200" dirty="0">
                <a:solidFill>
                  <a:srgbClr val="64748B"/>
                </a:solidFill>
                <a:latin typeface="Helvetica Neue" pitchFamily="34" charset="0"/>
                <a:ea typeface="Helvetica Neue" pitchFamily="34" charset="-122"/>
                <a:cs typeface="Helvetica Neue" pitchFamily="34" charset="-120"/>
              </a:rPr>
              <a:t>1 logit → sigmoid</a:t>
            </a:r>
            <a:endParaRPr lang="en-US" sz="1200" dirty="0"/>
          </a:p>
        </p:txBody>
      </p:sp>
      <p:sp>
        <p:nvSpPr>
          <p:cNvPr id="112" name="Shape 110"/>
          <p:cNvSpPr/>
          <p:nvPr/>
        </p:nvSpPr>
        <p:spPr>
          <a:xfrm>
            <a:off x="8183880" y="1463040"/>
            <a:ext cx="3456432" cy="4389120"/>
          </a:xfrm>
          <a:prstGeom prst="roundRect">
            <a:avLst>
              <a:gd name="adj" fmla="val 3175"/>
            </a:avLst>
          </a:prstGeom>
          <a:solidFill>
            <a:srgbClr val="F1F5F9"/>
          </a:solidFill>
          <a:ln w="12700">
            <a:solidFill>
              <a:srgbClr val="F1F5F9"/>
            </a:solidFill>
            <a:prstDash val="solid"/>
          </a:ln>
        </p:spPr>
      </p:sp>
      <p:sp>
        <p:nvSpPr>
          <p:cNvPr id="113" name="Text 111"/>
          <p:cNvSpPr txBox="1"/>
          <p:nvPr/>
        </p:nvSpPr>
        <p:spPr>
          <a:xfrm>
            <a:off x="8503920" y="1737360"/>
            <a:ext cx="2926080" cy="777240"/>
          </a:xfrm>
          <a:prstGeom prst="rect">
            <a:avLst/>
          </a:prstGeom>
          <a:noFill/>
          <a:ln/>
        </p:spPr>
        <p:txBody>
          <a:bodyPr wrap="square" lIns="0" tIns="0" rIns="0" bIns="0" rtlCol="0" anchor="ctr"/>
          <a:lstStyle/>
          <a:p>
            <a:pPr indent="0" marL="0">
              <a:buNone/>
            </a:pPr>
            <a:r>
              <a:rPr lang="en-US" sz="4800" b="1" dirty="0">
                <a:solidFill>
                  <a:srgbClr val="EE4C2C"/>
                </a:solidFill>
                <a:latin typeface="Avenir Next" pitchFamily="34" charset="0"/>
                <a:ea typeface="Avenir Next" pitchFamily="34" charset="-122"/>
                <a:cs typeface="Avenir Next" pitchFamily="34" charset="-120"/>
              </a:rPr>
              <a:t>4,097</a:t>
            </a:r>
            <a:endParaRPr lang="en-US" sz="4800" dirty="0"/>
          </a:p>
        </p:txBody>
      </p:sp>
      <p:sp>
        <p:nvSpPr>
          <p:cNvPr id="114" name="Text 112"/>
          <p:cNvSpPr txBox="1"/>
          <p:nvPr/>
        </p:nvSpPr>
        <p:spPr>
          <a:xfrm>
            <a:off x="8503920" y="2514600"/>
            <a:ext cx="2926080" cy="320040"/>
          </a:xfrm>
          <a:prstGeom prst="rect">
            <a:avLst/>
          </a:prstGeom>
          <a:noFill/>
          <a:ln/>
        </p:spPr>
        <p:txBody>
          <a:bodyPr wrap="square" lIns="0" tIns="0" rIns="0" bIns="0" rtlCol="0" anchor="t"/>
          <a:lstStyle/>
          <a:p>
            <a:pPr indent="0" marL="0">
              <a:buNone/>
            </a:pPr>
            <a:r>
              <a:rPr lang="en-US" sz="1500" dirty="0">
                <a:solidFill>
                  <a:srgbClr val="64748B"/>
                </a:solidFill>
                <a:latin typeface="Helvetica Neue" pitchFamily="34" charset="0"/>
                <a:ea typeface="Helvetica Neue" pitchFamily="34" charset="-122"/>
                <a:cs typeface="Helvetica Neue" pitchFamily="34" charset="-120"/>
              </a:rPr>
              <a:t>trainable weights</a:t>
            </a:r>
            <a:endParaRPr lang="en-US" sz="1500" dirty="0"/>
          </a:p>
        </p:txBody>
      </p:sp>
      <p:sp>
        <p:nvSpPr>
          <p:cNvPr id="115" name="Text 113"/>
          <p:cNvSpPr txBox="1"/>
          <p:nvPr/>
        </p:nvSpPr>
        <p:spPr>
          <a:xfrm>
            <a:off x="8503920" y="3063240"/>
            <a:ext cx="2926080" cy="2651760"/>
          </a:xfrm>
          <a:prstGeom prst="rect">
            <a:avLst/>
          </a:prstGeom>
          <a:noFill/>
          <a:ln/>
        </p:spPr>
        <p:txBody>
          <a:bodyPr wrap="square" lIns="0" tIns="0" rIns="0" bIns="0" rtlCol="0" anchor="t"/>
          <a:lstStyle/>
          <a:p>
            <a:pPr indent="0" marL="0">
              <a:buNone/>
            </a:pPr>
            <a:r>
              <a:rPr lang="en-US" sz="1500" b="1" dirty="0">
                <a:solidFill>
                  <a:srgbClr val="0B1220"/>
                </a:solidFill>
                <a:latin typeface="Helvetica Neue" pitchFamily="34" charset="0"/>
                <a:ea typeface="Helvetica Neue" pitchFamily="34" charset="-122"/>
                <a:cs typeface="Helvetica Neue" pitchFamily="34" charset="-120"/>
              </a:rPr>
              <a:t>Loss</a:t>
            </a:r>
            <a:endParaRPr lang="en-US" sz="1500" dirty="0"/>
          </a:p>
          <a:p>
            <a:pPr indent="0" marL="0">
              <a:buNone/>
            </a:pPr>
            <a:r>
              <a:rPr lang="en-US" sz="1500" dirty="0">
                <a:solidFill>
                  <a:srgbClr val="1E293B"/>
                </a:solidFill>
                <a:latin typeface="Helvetica Neue" pitchFamily="34" charset="0"/>
                <a:ea typeface="Helvetica Neue" pitchFamily="34" charset="-122"/>
                <a:cs typeface="Helvetica Neue" pitchFamily="34" charset="-120"/>
              </a:rPr>
              <a:t>BCEWithLogitsLoss, weighted for fraud</a:t>
            </a:r>
            <a:endParaRPr lang="en-US" sz="1500" dirty="0"/>
          </a:p>
          <a:p>
            <a:pPr indent="0" marL="0">
              <a:buNone/>
            </a:pPr>
            <a:r>
              <a:rPr lang="en-US" sz="800" dirty="0">
                <a:solidFill>
                  <a:srgbClr val="1E293B"/>
                </a:solidFill>
                <a:latin typeface="Helvetica Neue" pitchFamily="34" charset="0"/>
                <a:ea typeface="Helvetica Neue" pitchFamily="34" charset="-122"/>
                <a:cs typeface="Helvetica Neue" pitchFamily="34" charset="-120"/>
              </a:rPr>
              <a:t> </a:t>
            </a:r>
            <a:endParaRPr lang="en-US" sz="1500" dirty="0"/>
          </a:p>
          <a:p>
            <a:pPr indent="0" marL="0">
              <a:buNone/>
            </a:pPr>
            <a:r>
              <a:rPr lang="en-US" sz="1500" b="1" dirty="0">
                <a:solidFill>
                  <a:srgbClr val="0B1220"/>
                </a:solidFill>
                <a:latin typeface="Helvetica Neue" pitchFamily="34" charset="0"/>
                <a:ea typeface="Helvetica Neue" pitchFamily="34" charset="-122"/>
                <a:cs typeface="Helvetica Neue" pitchFamily="34" charset="-120"/>
              </a:rPr>
              <a:t>Optimizer</a:t>
            </a:r>
            <a:endParaRPr lang="en-US" sz="1500" dirty="0"/>
          </a:p>
          <a:p>
            <a:pPr indent="0" marL="0">
              <a:buNone/>
            </a:pPr>
            <a:r>
              <a:rPr lang="en-US" sz="1500" dirty="0">
                <a:solidFill>
                  <a:srgbClr val="1E293B"/>
                </a:solidFill>
                <a:latin typeface="Helvetica Neue" pitchFamily="34" charset="0"/>
                <a:ea typeface="Helvetica Neue" pitchFamily="34" charset="-122"/>
                <a:cs typeface="Helvetica Neue" pitchFamily="34" charset="-120"/>
              </a:rPr>
              <a:t>Adam, learning rate 0.001</a:t>
            </a:r>
            <a:endParaRPr lang="en-US" sz="1500" dirty="0"/>
          </a:p>
          <a:p>
            <a:pPr indent="0" marL="0">
              <a:buNone/>
            </a:pPr>
            <a:r>
              <a:rPr lang="en-US" sz="800" dirty="0">
                <a:solidFill>
                  <a:srgbClr val="1E293B"/>
                </a:solidFill>
                <a:latin typeface="Helvetica Neue" pitchFamily="34" charset="0"/>
                <a:ea typeface="Helvetica Neue" pitchFamily="34" charset="-122"/>
                <a:cs typeface="Helvetica Neue" pitchFamily="34" charset="-120"/>
              </a:rPr>
              <a:t> </a:t>
            </a:r>
            <a:endParaRPr lang="en-US" sz="1500" dirty="0"/>
          </a:p>
          <a:p>
            <a:pPr indent="0" marL="0">
              <a:buNone/>
            </a:pPr>
            <a:r>
              <a:rPr lang="en-US" sz="1500" b="1" dirty="0">
                <a:solidFill>
                  <a:srgbClr val="0B1220"/>
                </a:solidFill>
                <a:latin typeface="Helvetica Neue" pitchFamily="34" charset="0"/>
                <a:ea typeface="Helvetica Neue" pitchFamily="34" charset="-122"/>
                <a:cs typeface="Helvetica Neue" pitchFamily="34" charset="-120"/>
              </a:rPr>
              <a:t>Output</a:t>
            </a:r>
            <a:endParaRPr lang="en-US" sz="1500" dirty="0"/>
          </a:p>
          <a:p>
            <a:pPr indent="0" marL="0">
              <a:buNone/>
            </a:pPr>
            <a:r>
              <a:rPr lang="en-US" sz="1500" dirty="0">
                <a:solidFill>
                  <a:srgbClr val="1E293B"/>
                </a:solidFill>
                <a:latin typeface="Helvetica Neue" pitchFamily="34" charset="0"/>
                <a:ea typeface="Helvetica Neue" pitchFamily="34" charset="-122"/>
                <a:cs typeface="Helvetica Neue" pitchFamily="34" charset="-120"/>
              </a:rPr>
              <a:t>Risk score between 0 and 1</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Helvetica Neue"/>
                <a:ea typeface="Helvetica Neue"/>
                <a:cs typeface="Helvetica Neue"/>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400" b="1" dirty="0">
                <a:solidFill>
                  <a:srgbClr val="0B1220"/>
                </a:solidFill>
                <a:latin typeface="Avenir Next" pitchFamily="34" charset="0"/>
                <a:ea typeface="Avenir Next" pitchFamily="34" charset="-122"/>
                <a:cs typeface="Avenir Next" pitchFamily="34" charset="-120"/>
              </a:rPr>
              <a:t>Training without data leakage</a:t>
            </a:r>
            <a:endParaRPr lang="en-US" sz="3400" dirty="0"/>
          </a:p>
        </p:txBody>
      </p:sp>
      <p:sp>
        <p:nvSpPr>
          <p:cNvPr id="3" name="Shape 1"/>
          <p:cNvSpPr/>
          <p:nvPr/>
        </p:nvSpPr>
        <p:spPr>
          <a:xfrm>
            <a:off x="548640" y="1600200"/>
            <a:ext cx="7729515" cy="914400"/>
          </a:xfrm>
          <a:prstGeom prst="rect">
            <a:avLst/>
          </a:prstGeom>
          <a:solidFill>
            <a:srgbClr val="1E293B"/>
          </a:solidFill>
          <a:ln w="12700">
            <a:solidFill>
              <a:srgbClr val="1E293B"/>
            </a:solidFill>
            <a:prstDash val="solid"/>
          </a:ln>
        </p:spPr>
      </p:sp>
      <p:sp>
        <p:nvSpPr>
          <p:cNvPr id="4" name="Text 2"/>
          <p:cNvSpPr txBox="1"/>
          <p:nvPr/>
        </p:nvSpPr>
        <p:spPr>
          <a:xfrm>
            <a:off x="731520" y="1691640"/>
            <a:ext cx="7491771" cy="365760"/>
          </a:xfrm>
          <a:prstGeom prst="rect">
            <a:avLst/>
          </a:prstGeom>
          <a:noFill/>
          <a:ln/>
        </p:spPr>
        <p:txBody>
          <a:bodyPr wrap="square" lIns="0" tIns="0" rIns="0" bIns="0" rtlCol="0" anchor="t"/>
          <a:lstStyle/>
          <a:p>
            <a:pPr indent="0" marL="0">
              <a:buNone/>
            </a:pPr>
            <a:r>
              <a:rPr lang="en-US" sz="1600" b="1" dirty="0">
                <a:solidFill>
                  <a:srgbClr val="FFFFFF"/>
                </a:solidFill>
                <a:latin typeface="Avenir Next" pitchFamily="34" charset="0"/>
                <a:ea typeface="Avenir Next" pitchFamily="34" charset="-122"/>
                <a:cs typeface="Avenir Next" pitchFamily="34" charset="-120"/>
              </a:rPr>
              <a:t>Train</a:t>
            </a:r>
            <a:endParaRPr lang="en-US" sz="1600" dirty="0"/>
          </a:p>
        </p:txBody>
      </p:sp>
      <p:sp>
        <p:nvSpPr>
          <p:cNvPr id="5" name="Text 3"/>
          <p:cNvSpPr txBox="1"/>
          <p:nvPr/>
        </p:nvSpPr>
        <p:spPr>
          <a:xfrm>
            <a:off x="731520" y="2057400"/>
            <a:ext cx="7491771" cy="320040"/>
          </a:xfrm>
          <a:prstGeom prst="rect">
            <a:avLst/>
          </a:prstGeom>
          <a:noFill/>
          <a:ln/>
        </p:spPr>
        <p:txBody>
          <a:bodyPr wrap="square" lIns="0" tIns="0" rIns="0" bIns="0" rtlCol="0" anchor="t"/>
          <a:lstStyle/>
          <a:p>
            <a:pPr indent="0" marL="0">
              <a:buNone/>
            </a:pPr>
            <a:r>
              <a:rPr lang="en-US" sz="1200" dirty="0">
                <a:solidFill>
                  <a:srgbClr val="FFFFFF"/>
                </a:solidFill>
                <a:latin typeface="Helvetica Neue" pitchFamily="34" charset="0"/>
                <a:ea typeface="Helvetica Neue" pitchFamily="34" charset="-122"/>
                <a:cs typeface="Helvetica Neue" pitchFamily="34" charset="-120"/>
              </a:rPr>
              <a:t>70%  ·  199,364 rows</a:t>
            </a:r>
            <a:endParaRPr lang="en-US" sz="1200" dirty="0"/>
          </a:p>
        </p:txBody>
      </p:sp>
      <p:sp>
        <p:nvSpPr>
          <p:cNvPr id="6" name="Shape 4"/>
          <p:cNvSpPr/>
          <p:nvPr/>
        </p:nvSpPr>
        <p:spPr>
          <a:xfrm>
            <a:off x="8314731" y="1600200"/>
            <a:ext cx="1627586" cy="914400"/>
          </a:xfrm>
          <a:prstGeom prst="rect">
            <a:avLst/>
          </a:prstGeom>
          <a:solidFill>
            <a:srgbClr val="0F766E"/>
          </a:solidFill>
          <a:ln w="12700">
            <a:solidFill>
              <a:srgbClr val="0F766E"/>
            </a:solidFill>
            <a:prstDash val="solid"/>
          </a:ln>
        </p:spPr>
      </p:sp>
      <p:sp>
        <p:nvSpPr>
          <p:cNvPr id="7" name="Text 5"/>
          <p:cNvSpPr txBox="1"/>
          <p:nvPr/>
        </p:nvSpPr>
        <p:spPr>
          <a:xfrm>
            <a:off x="8497611" y="1691640"/>
            <a:ext cx="1389842" cy="365760"/>
          </a:xfrm>
          <a:prstGeom prst="rect">
            <a:avLst/>
          </a:prstGeom>
          <a:noFill/>
          <a:ln/>
        </p:spPr>
        <p:txBody>
          <a:bodyPr wrap="square" lIns="0" tIns="0" rIns="0" bIns="0" rtlCol="0" anchor="t"/>
          <a:lstStyle/>
          <a:p>
            <a:pPr indent="0" marL="0">
              <a:buNone/>
            </a:pPr>
            <a:r>
              <a:rPr lang="en-US" sz="1600" b="1" dirty="0">
                <a:solidFill>
                  <a:srgbClr val="FFFFFF"/>
                </a:solidFill>
                <a:latin typeface="Avenir Next" pitchFamily="34" charset="0"/>
                <a:ea typeface="Avenir Next" pitchFamily="34" charset="-122"/>
                <a:cs typeface="Avenir Next" pitchFamily="34" charset="-120"/>
              </a:rPr>
              <a:t>Validation</a:t>
            </a:r>
            <a:endParaRPr lang="en-US" sz="1600" dirty="0"/>
          </a:p>
        </p:txBody>
      </p:sp>
      <p:sp>
        <p:nvSpPr>
          <p:cNvPr id="8" name="Text 6"/>
          <p:cNvSpPr txBox="1"/>
          <p:nvPr/>
        </p:nvSpPr>
        <p:spPr>
          <a:xfrm>
            <a:off x="8497611" y="2057400"/>
            <a:ext cx="1389842" cy="320040"/>
          </a:xfrm>
          <a:prstGeom prst="rect">
            <a:avLst/>
          </a:prstGeom>
          <a:noFill/>
          <a:ln/>
        </p:spPr>
        <p:txBody>
          <a:bodyPr wrap="square" lIns="0" tIns="0" rIns="0" bIns="0" rtlCol="0" anchor="t"/>
          <a:lstStyle/>
          <a:p>
            <a:pPr indent="0" marL="0">
              <a:buNone/>
            </a:pPr>
            <a:r>
              <a:rPr lang="en-US" sz="1200" dirty="0">
                <a:solidFill>
                  <a:srgbClr val="FFFFFF"/>
                </a:solidFill>
                <a:latin typeface="Helvetica Neue" pitchFamily="34" charset="0"/>
                <a:ea typeface="Helvetica Neue" pitchFamily="34" charset="-122"/>
                <a:cs typeface="Helvetica Neue" pitchFamily="34" charset="-120"/>
              </a:rPr>
              <a:t>15%  ·  42,721 rows</a:t>
            </a:r>
            <a:endParaRPr lang="en-US" sz="1200" dirty="0"/>
          </a:p>
        </p:txBody>
      </p:sp>
      <p:sp>
        <p:nvSpPr>
          <p:cNvPr id="9" name="Shape 7"/>
          <p:cNvSpPr/>
          <p:nvPr/>
        </p:nvSpPr>
        <p:spPr>
          <a:xfrm>
            <a:off x="9978893" y="1600200"/>
            <a:ext cx="1627586" cy="914400"/>
          </a:xfrm>
          <a:prstGeom prst="rect">
            <a:avLst/>
          </a:prstGeom>
          <a:solidFill>
            <a:srgbClr val="EE4C2C"/>
          </a:solidFill>
          <a:ln w="12700">
            <a:solidFill>
              <a:srgbClr val="EE4C2C"/>
            </a:solidFill>
            <a:prstDash val="solid"/>
          </a:ln>
        </p:spPr>
      </p:sp>
      <p:sp>
        <p:nvSpPr>
          <p:cNvPr id="10" name="Text 8"/>
          <p:cNvSpPr txBox="1"/>
          <p:nvPr/>
        </p:nvSpPr>
        <p:spPr>
          <a:xfrm>
            <a:off x="10161773" y="1691640"/>
            <a:ext cx="1389842" cy="365760"/>
          </a:xfrm>
          <a:prstGeom prst="rect">
            <a:avLst/>
          </a:prstGeom>
          <a:noFill/>
          <a:ln/>
        </p:spPr>
        <p:txBody>
          <a:bodyPr wrap="square" lIns="0" tIns="0" rIns="0" bIns="0" rtlCol="0" anchor="t"/>
          <a:lstStyle/>
          <a:p>
            <a:pPr indent="0" marL="0">
              <a:buNone/>
            </a:pPr>
            <a:r>
              <a:rPr lang="en-US" sz="1600" b="1" dirty="0">
                <a:solidFill>
                  <a:srgbClr val="FFFFFF"/>
                </a:solidFill>
                <a:latin typeface="Avenir Next" pitchFamily="34" charset="0"/>
                <a:ea typeface="Avenir Next" pitchFamily="34" charset="-122"/>
                <a:cs typeface="Avenir Next" pitchFamily="34" charset="-120"/>
              </a:rPr>
              <a:t>Test</a:t>
            </a:r>
            <a:endParaRPr lang="en-US" sz="1600" dirty="0"/>
          </a:p>
        </p:txBody>
      </p:sp>
      <p:sp>
        <p:nvSpPr>
          <p:cNvPr id="11" name="Text 9"/>
          <p:cNvSpPr txBox="1"/>
          <p:nvPr/>
        </p:nvSpPr>
        <p:spPr>
          <a:xfrm>
            <a:off x="10161773" y="2057400"/>
            <a:ext cx="1389842" cy="320040"/>
          </a:xfrm>
          <a:prstGeom prst="rect">
            <a:avLst/>
          </a:prstGeom>
          <a:noFill/>
          <a:ln/>
        </p:spPr>
        <p:txBody>
          <a:bodyPr wrap="square" lIns="0" tIns="0" rIns="0" bIns="0" rtlCol="0" anchor="t"/>
          <a:lstStyle/>
          <a:p>
            <a:pPr indent="0" marL="0">
              <a:buNone/>
            </a:pPr>
            <a:r>
              <a:rPr lang="en-US" sz="1200" dirty="0">
                <a:solidFill>
                  <a:srgbClr val="FFFFFF"/>
                </a:solidFill>
                <a:latin typeface="Helvetica Neue" pitchFamily="34" charset="0"/>
                <a:ea typeface="Helvetica Neue" pitchFamily="34" charset="-122"/>
                <a:cs typeface="Helvetica Neue" pitchFamily="34" charset="-120"/>
              </a:rPr>
              <a:t>15%  ·  42,722 rows</a:t>
            </a:r>
            <a:endParaRPr lang="en-US" sz="1200" dirty="0"/>
          </a:p>
        </p:txBody>
      </p:sp>
      <p:sp>
        <p:nvSpPr>
          <p:cNvPr id="12" name="Text 10"/>
          <p:cNvSpPr txBox="1"/>
          <p:nvPr/>
        </p:nvSpPr>
        <p:spPr>
          <a:xfrm>
            <a:off x="548640" y="2651760"/>
            <a:ext cx="9144000" cy="32004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Stratified split: every part keeps the same 0.17% fraud rate (344 / 74 / 74 frauds)</a:t>
            </a:r>
            <a:endParaRPr lang="en-US" sz="1400" dirty="0"/>
          </a:p>
        </p:txBody>
      </p:sp>
      <p:sp>
        <p:nvSpPr>
          <p:cNvPr id="13" name="Shape 11"/>
          <p:cNvSpPr/>
          <p:nvPr/>
        </p:nvSpPr>
        <p:spPr>
          <a:xfrm>
            <a:off x="548640" y="3246120"/>
            <a:ext cx="2567864" cy="2423160"/>
          </a:xfrm>
          <a:prstGeom prst="roundRect">
            <a:avLst>
              <a:gd name="adj" fmla="val 4528"/>
            </a:avLst>
          </a:prstGeom>
          <a:solidFill>
            <a:srgbClr val="F1F5F9"/>
          </a:solidFill>
          <a:ln w="12700">
            <a:solidFill>
              <a:srgbClr val="F1F5F9"/>
            </a:solidFill>
            <a:prstDash val="solid"/>
          </a:ln>
        </p:spPr>
      </p:sp>
      <p:sp>
        <p:nvSpPr>
          <p:cNvPr id="14" name="Shape 12"/>
          <p:cNvSpPr/>
          <p:nvPr/>
        </p:nvSpPr>
        <p:spPr>
          <a:xfrm>
            <a:off x="822960" y="3520440"/>
            <a:ext cx="685800" cy="685800"/>
          </a:xfrm>
          <a:prstGeom prst="ellipse">
            <a:avLst/>
          </a:prstGeom>
          <a:solidFill>
            <a:srgbClr val="1E293B"/>
          </a:solidFill>
          <a:ln w="12700">
            <a:solidFill>
              <a:srgbClr val="1E293B"/>
            </a:solidFill>
            <a:prstDash val="solid"/>
          </a:ln>
        </p:spPr>
      </p:sp>
      <p:pic>
        <p:nvPicPr>
          <p:cNvPr id="15" name="Image 0" descr="preencoded.png">    </p:cNvPr>
          <p:cNvPicPr>
            <a:picLocks noChangeAspect="1"/>
          </p:cNvPicPr>
          <p:nvPr/>
        </p:nvPicPr>
        <p:blipFill>
          <a:blip r:embed="rId1"/>
          <a:stretch>
            <a:fillRect/>
          </a:stretch>
        </p:blipFill>
        <p:spPr>
          <a:xfrm>
            <a:off x="973836" y="3671316"/>
            <a:ext cx="384048" cy="384048"/>
          </a:xfrm>
          <a:prstGeom prst="rect">
            <a:avLst/>
          </a:prstGeom>
        </p:spPr>
      </p:pic>
      <p:sp>
        <p:nvSpPr>
          <p:cNvPr id="16" name="Text 13"/>
          <p:cNvSpPr txBox="1"/>
          <p:nvPr/>
        </p:nvSpPr>
        <p:spPr>
          <a:xfrm>
            <a:off x="822960" y="4343400"/>
            <a:ext cx="2019224" cy="411480"/>
          </a:xfrm>
          <a:prstGeom prst="rect">
            <a:avLst/>
          </a:prstGeom>
          <a:noFill/>
          <a:ln/>
        </p:spPr>
        <p:txBody>
          <a:bodyPr wrap="square" lIns="0" tIns="0" rIns="0" bIns="0" rtlCol="0" anchor="t"/>
          <a:lstStyle/>
          <a:p>
            <a:pPr indent="0" marL="0">
              <a:buNone/>
            </a:pPr>
            <a:r>
              <a:rPr lang="en-US" sz="1700" b="1" dirty="0">
                <a:solidFill>
                  <a:srgbClr val="0B1220"/>
                </a:solidFill>
                <a:latin typeface="Avenir Next" pitchFamily="34" charset="0"/>
                <a:ea typeface="Avenir Next" pitchFamily="34" charset="-122"/>
                <a:cs typeface="Avenir Next" pitchFamily="34" charset="-120"/>
              </a:rPr>
              <a:t>Train-only scaling</a:t>
            </a:r>
            <a:endParaRPr lang="en-US" sz="1700" dirty="0"/>
          </a:p>
        </p:txBody>
      </p:sp>
      <p:sp>
        <p:nvSpPr>
          <p:cNvPr id="17" name="Text 14"/>
          <p:cNvSpPr txBox="1"/>
          <p:nvPr/>
        </p:nvSpPr>
        <p:spPr>
          <a:xfrm>
            <a:off x="822960" y="4800600"/>
            <a:ext cx="2019224" cy="777240"/>
          </a:xfrm>
          <a:prstGeom prst="rect">
            <a:avLst/>
          </a:prstGeom>
          <a:noFill/>
          <a:ln/>
        </p:spPr>
        <p:txBody>
          <a:bodyPr wrap="square" lIns="0" tIns="0" rIns="0" bIns="0" rtlCol="0" anchor="t"/>
          <a:lstStyle/>
          <a:p>
            <a:pPr indent="0" marL="0">
              <a:buNone/>
            </a:pPr>
            <a:r>
              <a:rPr lang="en-US" sz="1300" dirty="0">
                <a:solidFill>
                  <a:srgbClr val="64748B"/>
                </a:solidFill>
                <a:latin typeface="Helvetica Neue" pitchFamily="34" charset="0"/>
                <a:ea typeface="Helvetica Neue" pitchFamily="34" charset="-122"/>
                <a:cs typeface="Helvetica Neue" pitchFamily="34" charset="-120"/>
              </a:rPr>
              <a:t>Mean and std learned from training data, then applied to validation and test</a:t>
            </a:r>
            <a:endParaRPr lang="en-US" sz="1300" dirty="0"/>
          </a:p>
        </p:txBody>
      </p:sp>
      <p:sp>
        <p:nvSpPr>
          <p:cNvPr id="18" name="Shape 15"/>
          <p:cNvSpPr/>
          <p:nvPr/>
        </p:nvSpPr>
        <p:spPr>
          <a:xfrm>
            <a:off x="3390824" y="3246120"/>
            <a:ext cx="2567864" cy="2423160"/>
          </a:xfrm>
          <a:prstGeom prst="roundRect">
            <a:avLst>
              <a:gd name="adj" fmla="val 4528"/>
            </a:avLst>
          </a:prstGeom>
          <a:solidFill>
            <a:srgbClr val="F1F5F9"/>
          </a:solidFill>
          <a:ln w="12700">
            <a:solidFill>
              <a:srgbClr val="F1F5F9"/>
            </a:solidFill>
            <a:prstDash val="solid"/>
          </a:ln>
        </p:spPr>
      </p:sp>
      <p:sp>
        <p:nvSpPr>
          <p:cNvPr id="19" name="Shape 16"/>
          <p:cNvSpPr/>
          <p:nvPr/>
        </p:nvSpPr>
        <p:spPr>
          <a:xfrm>
            <a:off x="3665144" y="3520440"/>
            <a:ext cx="685800" cy="685800"/>
          </a:xfrm>
          <a:prstGeom prst="ellipse">
            <a:avLst/>
          </a:prstGeom>
          <a:solidFill>
            <a:srgbClr val="EE4C2C"/>
          </a:solidFill>
          <a:ln w="12700">
            <a:solidFill>
              <a:srgbClr val="EE4C2C"/>
            </a:solidFill>
            <a:prstDash val="solid"/>
          </a:ln>
        </p:spPr>
      </p:sp>
      <p:pic>
        <p:nvPicPr>
          <p:cNvPr id="20" name="Image 1" descr="preencoded.png">    </p:cNvPr>
          <p:cNvPicPr>
            <a:picLocks noChangeAspect="1"/>
          </p:cNvPicPr>
          <p:nvPr/>
        </p:nvPicPr>
        <p:blipFill>
          <a:blip r:embed="rId2"/>
          <a:stretch>
            <a:fillRect/>
          </a:stretch>
        </p:blipFill>
        <p:spPr>
          <a:xfrm>
            <a:off x="3816020" y="3671316"/>
            <a:ext cx="384048" cy="384048"/>
          </a:xfrm>
          <a:prstGeom prst="rect">
            <a:avLst/>
          </a:prstGeom>
        </p:spPr>
      </p:pic>
      <p:sp>
        <p:nvSpPr>
          <p:cNvPr id="21" name="Text 17"/>
          <p:cNvSpPr txBox="1"/>
          <p:nvPr/>
        </p:nvSpPr>
        <p:spPr>
          <a:xfrm>
            <a:off x="3665144" y="4343400"/>
            <a:ext cx="2019224" cy="411480"/>
          </a:xfrm>
          <a:prstGeom prst="rect">
            <a:avLst/>
          </a:prstGeom>
          <a:noFill/>
          <a:ln/>
        </p:spPr>
        <p:txBody>
          <a:bodyPr wrap="square" lIns="0" tIns="0" rIns="0" bIns="0" rtlCol="0" anchor="t"/>
          <a:lstStyle/>
          <a:p>
            <a:pPr indent="0" marL="0">
              <a:buNone/>
            </a:pPr>
            <a:r>
              <a:rPr lang="en-US" sz="1700" b="1" dirty="0">
                <a:solidFill>
                  <a:srgbClr val="0B1220"/>
                </a:solidFill>
                <a:latin typeface="Avenir Next" pitchFamily="34" charset="0"/>
                <a:ea typeface="Avenir Next" pitchFamily="34" charset="-122"/>
                <a:cs typeface="Avenir Next" pitchFamily="34" charset="-120"/>
              </a:rPr>
              <a:t>pos_weight ≈ 579</a:t>
            </a:r>
            <a:endParaRPr lang="en-US" sz="1700" dirty="0"/>
          </a:p>
        </p:txBody>
      </p:sp>
      <p:sp>
        <p:nvSpPr>
          <p:cNvPr id="22" name="Text 18"/>
          <p:cNvSpPr txBox="1"/>
          <p:nvPr/>
        </p:nvSpPr>
        <p:spPr>
          <a:xfrm>
            <a:off x="3665144" y="4800600"/>
            <a:ext cx="2019224" cy="777240"/>
          </a:xfrm>
          <a:prstGeom prst="rect">
            <a:avLst/>
          </a:prstGeom>
          <a:noFill/>
          <a:ln/>
        </p:spPr>
        <p:txBody>
          <a:bodyPr wrap="square" lIns="0" tIns="0" rIns="0" bIns="0" rtlCol="0" anchor="t"/>
          <a:lstStyle/>
          <a:p>
            <a:pPr indent="0" marL="0">
              <a:buNone/>
            </a:pPr>
            <a:r>
              <a:rPr lang="en-US" sz="1300" dirty="0">
                <a:solidFill>
                  <a:srgbClr val="64748B"/>
                </a:solidFill>
                <a:latin typeface="Helvetica Neue" pitchFamily="34" charset="0"/>
                <a:ea typeface="Helvetica Neue" pitchFamily="34" charset="-122"/>
                <a:cs typeface="Helvetica Neue" pitchFamily="34" charset="-120"/>
              </a:rPr>
              <a:t>Missing a fraud costs ~579× more than a false alarm in the loss</a:t>
            </a:r>
            <a:endParaRPr lang="en-US" sz="1300" dirty="0"/>
          </a:p>
        </p:txBody>
      </p:sp>
      <p:sp>
        <p:nvSpPr>
          <p:cNvPr id="23" name="Shape 19"/>
          <p:cNvSpPr/>
          <p:nvPr/>
        </p:nvSpPr>
        <p:spPr>
          <a:xfrm>
            <a:off x="6233008" y="3246120"/>
            <a:ext cx="2567864" cy="2423160"/>
          </a:xfrm>
          <a:prstGeom prst="roundRect">
            <a:avLst>
              <a:gd name="adj" fmla="val 4528"/>
            </a:avLst>
          </a:prstGeom>
          <a:solidFill>
            <a:srgbClr val="F1F5F9"/>
          </a:solidFill>
          <a:ln w="12700">
            <a:solidFill>
              <a:srgbClr val="F1F5F9"/>
            </a:solidFill>
            <a:prstDash val="solid"/>
          </a:ln>
        </p:spPr>
      </p:sp>
      <p:sp>
        <p:nvSpPr>
          <p:cNvPr id="24" name="Shape 20"/>
          <p:cNvSpPr/>
          <p:nvPr/>
        </p:nvSpPr>
        <p:spPr>
          <a:xfrm>
            <a:off x="6507328" y="3520440"/>
            <a:ext cx="685800" cy="685800"/>
          </a:xfrm>
          <a:prstGeom prst="ellipse">
            <a:avLst/>
          </a:prstGeom>
          <a:solidFill>
            <a:srgbClr val="1E293B"/>
          </a:solidFill>
          <a:ln w="12700">
            <a:solidFill>
              <a:srgbClr val="1E293B"/>
            </a:solidFill>
            <a:prstDash val="solid"/>
          </a:ln>
        </p:spPr>
      </p:sp>
      <p:pic>
        <p:nvPicPr>
          <p:cNvPr id="25" name="Image 2" descr="preencoded.png">    </p:cNvPr>
          <p:cNvPicPr>
            <a:picLocks noChangeAspect="1"/>
          </p:cNvPicPr>
          <p:nvPr/>
        </p:nvPicPr>
        <p:blipFill>
          <a:blip r:embed="rId3"/>
          <a:stretch>
            <a:fillRect/>
          </a:stretch>
        </p:blipFill>
        <p:spPr>
          <a:xfrm>
            <a:off x="6658204" y="3671316"/>
            <a:ext cx="384048" cy="384048"/>
          </a:xfrm>
          <a:prstGeom prst="rect">
            <a:avLst/>
          </a:prstGeom>
        </p:spPr>
      </p:pic>
      <p:sp>
        <p:nvSpPr>
          <p:cNvPr id="26" name="Text 21"/>
          <p:cNvSpPr txBox="1"/>
          <p:nvPr/>
        </p:nvSpPr>
        <p:spPr>
          <a:xfrm>
            <a:off x="6507328" y="4343400"/>
            <a:ext cx="2019224" cy="411480"/>
          </a:xfrm>
          <a:prstGeom prst="rect">
            <a:avLst/>
          </a:prstGeom>
          <a:noFill/>
          <a:ln/>
        </p:spPr>
        <p:txBody>
          <a:bodyPr wrap="square" lIns="0" tIns="0" rIns="0" bIns="0" rtlCol="0" anchor="t"/>
          <a:lstStyle/>
          <a:p>
            <a:pPr indent="0" marL="0">
              <a:buNone/>
            </a:pPr>
            <a:r>
              <a:rPr lang="en-US" sz="1700" b="1" dirty="0">
                <a:solidFill>
                  <a:srgbClr val="0B1220"/>
                </a:solidFill>
                <a:latin typeface="Avenir Next" pitchFamily="34" charset="0"/>
                <a:ea typeface="Avenir Next" pitchFamily="34" charset="-122"/>
                <a:cs typeface="Avenir Next" pitchFamily="34" charset="-120"/>
              </a:rPr>
              <a:t>Adam optimizer</a:t>
            </a:r>
            <a:endParaRPr lang="en-US" sz="1700" dirty="0"/>
          </a:p>
        </p:txBody>
      </p:sp>
      <p:sp>
        <p:nvSpPr>
          <p:cNvPr id="27" name="Text 22"/>
          <p:cNvSpPr txBox="1"/>
          <p:nvPr/>
        </p:nvSpPr>
        <p:spPr>
          <a:xfrm>
            <a:off x="6507328" y="4800600"/>
            <a:ext cx="2019224" cy="777240"/>
          </a:xfrm>
          <a:prstGeom prst="rect">
            <a:avLst/>
          </a:prstGeom>
          <a:noFill/>
          <a:ln/>
        </p:spPr>
        <p:txBody>
          <a:bodyPr wrap="square" lIns="0" tIns="0" rIns="0" bIns="0" rtlCol="0" anchor="t"/>
          <a:lstStyle/>
          <a:p>
            <a:pPr indent="0" marL="0">
              <a:buNone/>
            </a:pPr>
            <a:r>
              <a:rPr lang="en-US" sz="1300" dirty="0">
                <a:solidFill>
                  <a:srgbClr val="64748B"/>
                </a:solidFill>
                <a:latin typeface="Helvetica Neue" pitchFamily="34" charset="0"/>
                <a:ea typeface="Helvetica Neue" pitchFamily="34" charset="-122"/>
                <a:cs typeface="Helvetica Neue" pitchFamily="34" charset="-120"/>
              </a:rPr>
              <a:t>Learning rate 0.001, batch 2,048, 10 epochs on Apple MPS or CPU</a:t>
            </a:r>
            <a:endParaRPr lang="en-US" sz="1300" dirty="0"/>
          </a:p>
        </p:txBody>
      </p:sp>
      <p:sp>
        <p:nvSpPr>
          <p:cNvPr id="28" name="Shape 23"/>
          <p:cNvSpPr/>
          <p:nvPr/>
        </p:nvSpPr>
        <p:spPr>
          <a:xfrm>
            <a:off x="9075191" y="3246120"/>
            <a:ext cx="2567864" cy="2423160"/>
          </a:xfrm>
          <a:prstGeom prst="roundRect">
            <a:avLst>
              <a:gd name="adj" fmla="val 4528"/>
            </a:avLst>
          </a:prstGeom>
          <a:solidFill>
            <a:srgbClr val="F1F5F9"/>
          </a:solidFill>
          <a:ln w="12700">
            <a:solidFill>
              <a:srgbClr val="F1F5F9"/>
            </a:solidFill>
            <a:prstDash val="solid"/>
          </a:ln>
        </p:spPr>
      </p:sp>
      <p:sp>
        <p:nvSpPr>
          <p:cNvPr id="29" name="Shape 24"/>
          <p:cNvSpPr/>
          <p:nvPr/>
        </p:nvSpPr>
        <p:spPr>
          <a:xfrm>
            <a:off x="9349511" y="3520440"/>
            <a:ext cx="685800" cy="685800"/>
          </a:xfrm>
          <a:prstGeom prst="ellipse">
            <a:avLst/>
          </a:prstGeom>
          <a:solidFill>
            <a:srgbClr val="1E293B"/>
          </a:solidFill>
          <a:ln w="12700">
            <a:solidFill>
              <a:srgbClr val="1E293B"/>
            </a:solidFill>
            <a:prstDash val="solid"/>
          </a:ln>
        </p:spPr>
      </p:sp>
      <p:pic>
        <p:nvPicPr>
          <p:cNvPr id="30" name="Image 3" descr="preencoded.png">    </p:cNvPr>
          <p:cNvPicPr>
            <a:picLocks noChangeAspect="1"/>
          </p:cNvPicPr>
          <p:nvPr/>
        </p:nvPicPr>
        <p:blipFill>
          <a:blip r:embed="rId4"/>
          <a:stretch>
            <a:fillRect/>
          </a:stretch>
        </p:blipFill>
        <p:spPr>
          <a:xfrm>
            <a:off x="9500387" y="3671316"/>
            <a:ext cx="384048" cy="384048"/>
          </a:xfrm>
          <a:prstGeom prst="rect">
            <a:avLst/>
          </a:prstGeom>
        </p:spPr>
      </p:pic>
      <p:sp>
        <p:nvSpPr>
          <p:cNvPr id="31" name="Text 25"/>
          <p:cNvSpPr txBox="1"/>
          <p:nvPr/>
        </p:nvSpPr>
        <p:spPr>
          <a:xfrm>
            <a:off x="9349511" y="4343400"/>
            <a:ext cx="2019224" cy="411480"/>
          </a:xfrm>
          <a:prstGeom prst="rect">
            <a:avLst/>
          </a:prstGeom>
          <a:noFill/>
          <a:ln/>
        </p:spPr>
        <p:txBody>
          <a:bodyPr wrap="square" lIns="0" tIns="0" rIns="0" bIns="0" rtlCol="0" anchor="t"/>
          <a:lstStyle/>
          <a:p>
            <a:pPr indent="0" marL="0">
              <a:buNone/>
            </a:pPr>
            <a:r>
              <a:rPr lang="en-US" sz="1700" b="1" dirty="0">
                <a:solidFill>
                  <a:srgbClr val="0B1220"/>
                </a:solidFill>
                <a:latin typeface="Avenir Next" pitchFamily="34" charset="0"/>
                <a:ea typeface="Avenir Next" pitchFamily="34" charset="-122"/>
                <a:cs typeface="Avenir Next" pitchFamily="34" charset="-120"/>
              </a:rPr>
              <a:t>Reproducible</a:t>
            </a:r>
            <a:endParaRPr lang="en-US" sz="1700" dirty="0"/>
          </a:p>
        </p:txBody>
      </p:sp>
      <p:sp>
        <p:nvSpPr>
          <p:cNvPr id="32" name="Text 26"/>
          <p:cNvSpPr txBox="1"/>
          <p:nvPr/>
        </p:nvSpPr>
        <p:spPr>
          <a:xfrm>
            <a:off x="9349511" y="4800600"/>
            <a:ext cx="2019224" cy="777240"/>
          </a:xfrm>
          <a:prstGeom prst="rect">
            <a:avLst/>
          </a:prstGeom>
          <a:noFill/>
          <a:ln/>
        </p:spPr>
        <p:txBody>
          <a:bodyPr wrap="square" lIns="0" tIns="0" rIns="0" bIns="0" rtlCol="0" anchor="t"/>
          <a:lstStyle/>
          <a:p>
            <a:pPr indent="0" marL="0">
              <a:buNone/>
            </a:pPr>
            <a:r>
              <a:rPr lang="en-US" sz="1300" dirty="0">
                <a:solidFill>
                  <a:srgbClr val="64748B"/>
                </a:solidFill>
                <a:latin typeface="Helvetica Neue" pitchFamily="34" charset="0"/>
                <a:ea typeface="Helvetica Neue" pitchFamily="34" charset="-122"/>
                <a:cs typeface="Helvetica Neue" pitchFamily="34" charset="-120"/>
              </a:rPr>
              <a:t>Fixed seed 42 for Python, NumPy and PyTorch</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Helvetica Neue"/>
                <a:ea typeface="Helvetica Neue"/>
                <a:cs typeface="Helvetica Neue"/>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400" b="1" dirty="0">
                <a:solidFill>
                  <a:srgbClr val="0B1220"/>
                </a:solidFill>
                <a:latin typeface="Avenir Next" pitchFamily="34" charset="0"/>
                <a:ea typeface="Avenir Next" pitchFamily="34" charset="-122"/>
                <a:cs typeface="Avenir Next" pitchFamily="34" charset="-120"/>
              </a:rPr>
              <a:t>Choosing the alert threshold</a:t>
            </a:r>
            <a:endParaRPr lang="en-US" sz="3400" dirty="0"/>
          </a:p>
        </p:txBody>
      </p:sp>
      <p:sp>
        <p:nvSpPr>
          <p:cNvPr id="3" name="Shape 1"/>
          <p:cNvSpPr/>
          <p:nvPr/>
        </p:nvSpPr>
        <p:spPr>
          <a:xfrm>
            <a:off x="548640" y="1600200"/>
            <a:ext cx="548640" cy="548640"/>
          </a:xfrm>
          <a:prstGeom prst="ellipse">
            <a:avLst/>
          </a:prstGeom>
          <a:solidFill>
            <a:srgbClr val="1E293B"/>
          </a:solidFill>
          <a:ln w="12700">
            <a:solidFill>
              <a:srgbClr val="1E293B"/>
            </a:solidFill>
            <a:prstDash val="solid"/>
          </a:ln>
        </p:spPr>
      </p:sp>
      <p:sp>
        <p:nvSpPr>
          <p:cNvPr id="4" name="Text 2"/>
          <p:cNvSpPr txBox="1"/>
          <p:nvPr/>
        </p:nvSpPr>
        <p:spPr>
          <a:xfrm>
            <a:off x="548640" y="1600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venir Next" pitchFamily="34" charset="0"/>
                <a:ea typeface="Avenir Next" pitchFamily="34" charset="-122"/>
                <a:cs typeface="Avenir Next" pitchFamily="34" charset="-120"/>
              </a:rPr>
              <a:t>1</a:t>
            </a:r>
            <a:endParaRPr lang="en-US" sz="1800" dirty="0"/>
          </a:p>
        </p:txBody>
      </p:sp>
      <p:sp>
        <p:nvSpPr>
          <p:cNvPr id="5" name="Text 3"/>
          <p:cNvSpPr txBox="1"/>
          <p:nvPr/>
        </p:nvSpPr>
        <p:spPr>
          <a:xfrm>
            <a:off x="1325880" y="1600200"/>
            <a:ext cx="5120640" cy="548640"/>
          </a:xfrm>
          <a:prstGeom prst="rect">
            <a:avLst/>
          </a:prstGeom>
          <a:noFill/>
          <a:ln/>
        </p:spPr>
        <p:txBody>
          <a:bodyPr wrap="square" lIns="0" tIns="0" rIns="0" bIns="0" rtlCol="0" anchor="ctr"/>
          <a:lstStyle/>
          <a:p>
            <a:pPr indent="0" marL="0">
              <a:buNone/>
            </a:pPr>
            <a:r>
              <a:rPr lang="en-US" sz="1700" dirty="0">
                <a:solidFill>
                  <a:srgbClr val="0B1220"/>
                </a:solidFill>
                <a:latin typeface="Helvetica Neue" pitchFamily="34" charset="0"/>
                <a:ea typeface="Helvetica Neue" pitchFamily="34" charset="-122"/>
                <a:cs typeface="Helvetica Neue" pitchFamily="34" charset="-120"/>
              </a:rPr>
              <a:t>Score every validation transaction</a:t>
            </a:r>
            <a:endParaRPr lang="en-US" sz="1700" dirty="0"/>
          </a:p>
        </p:txBody>
      </p:sp>
      <p:sp>
        <p:nvSpPr>
          <p:cNvPr id="6" name="Shape 4"/>
          <p:cNvSpPr/>
          <p:nvPr/>
        </p:nvSpPr>
        <p:spPr>
          <a:xfrm>
            <a:off x="548640" y="2468880"/>
            <a:ext cx="548640" cy="548640"/>
          </a:xfrm>
          <a:prstGeom prst="ellipse">
            <a:avLst/>
          </a:prstGeom>
          <a:solidFill>
            <a:srgbClr val="1E293B"/>
          </a:solidFill>
          <a:ln w="12700">
            <a:solidFill>
              <a:srgbClr val="1E293B"/>
            </a:solidFill>
            <a:prstDash val="solid"/>
          </a:ln>
        </p:spPr>
      </p:sp>
      <p:sp>
        <p:nvSpPr>
          <p:cNvPr id="7" name="Text 5"/>
          <p:cNvSpPr txBox="1"/>
          <p:nvPr/>
        </p:nvSpPr>
        <p:spPr>
          <a:xfrm>
            <a:off x="548640" y="2468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venir Next" pitchFamily="34" charset="0"/>
                <a:ea typeface="Avenir Next" pitchFamily="34" charset="-122"/>
                <a:cs typeface="Avenir Next" pitchFamily="34" charset="-120"/>
              </a:rPr>
              <a:t>2</a:t>
            </a:r>
            <a:endParaRPr lang="en-US" sz="1800" dirty="0"/>
          </a:p>
        </p:txBody>
      </p:sp>
      <p:sp>
        <p:nvSpPr>
          <p:cNvPr id="8" name="Text 6"/>
          <p:cNvSpPr txBox="1"/>
          <p:nvPr/>
        </p:nvSpPr>
        <p:spPr>
          <a:xfrm>
            <a:off x="1325880" y="2468880"/>
            <a:ext cx="5120640" cy="548640"/>
          </a:xfrm>
          <a:prstGeom prst="rect">
            <a:avLst/>
          </a:prstGeom>
          <a:noFill/>
          <a:ln/>
        </p:spPr>
        <p:txBody>
          <a:bodyPr wrap="square" lIns="0" tIns="0" rIns="0" bIns="0" rtlCol="0" anchor="ctr"/>
          <a:lstStyle/>
          <a:p>
            <a:pPr indent="0" marL="0">
              <a:buNone/>
            </a:pPr>
            <a:r>
              <a:rPr lang="en-US" sz="1700" dirty="0">
                <a:solidFill>
                  <a:srgbClr val="0B1220"/>
                </a:solidFill>
                <a:latin typeface="Helvetica Neue" pitchFamily="34" charset="0"/>
                <a:ea typeface="Helvetica Neue" pitchFamily="34" charset="-122"/>
                <a:cs typeface="Helvetica Neue" pitchFamily="34" charset="-120"/>
              </a:rPr>
              <a:t>Try every possible cut-off (precision-recall curve)</a:t>
            </a:r>
            <a:endParaRPr lang="en-US" sz="1700" dirty="0"/>
          </a:p>
        </p:txBody>
      </p:sp>
      <p:sp>
        <p:nvSpPr>
          <p:cNvPr id="9" name="Shape 7"/>
          <p:cNvSpPr/>
          <p:nvPr/>
        </p:nvSpPr>
        <p:spPr>
          <a:xfrm>
            <a:off x="548640" y="3337560"/>
            <a:ext cx="548640" cy="548640"/>
          </a:xfrm>
          <a:prstGeom prst="ellipse">
            <a:avLst/>
          </a:prstGeom>
          <a:solidFill>
            <a:srgbClr val="1E293B"/>
          </a:solidFill>
          <a:ln w="12700">
            <a:solidFill>
              <a:srgbClr val="1E293B"/>
            </a:solidFill>
            <a:prstDash val="solid"/>
          </a:ln>
        </p:spPr>
      </p:sp>
      <p:sp>
        <p:nvSpPr>
          <p:cNvPr id="10" name="Text 8"/>
          <p:cNvSpPr txBox="1"/>
          <p:nvPr/>
        </p:nvSpPr>
        <p:spPr>
          <a:xfrm>
            <a:off x="548640" y="3337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venir Next" pitchFamily="34" charset="0"/>
                <a:ea typeface="Avenir Next" pitchFamily="34" charset="-122"/>
                <a:cs typeface="Avenir Next" pitchFamily="34" charset="-120"/>
              </a:rPr>
              <a:t>3</a:t>
            </a:r>
            <a:endParaRPr lang="en-US" sz="1800" dirty="0"/>
          </a:p>
        </p:txBody>
      </p:sp>
      <p:sp>
        <p:nvSpPr>
          <p:cNvPr id="11" name="Text 9"/>
          <p:cNvSpPr txBox="1"/>
          <p:nvPr/>
        </p:nvSpPr>
        <p:spPr>
          <a:xfrm>
            <a:off x="1325880" y="3337560"/>
            <a:ext cx="5120640" cy="548640"/>
          </a:xfrm>
          <a:prstGeom prst="rect">
            <a:avLst/>
          </a:prstGeom>
          <a:noFill/>
          <a:ln/>
        </p:spPr>
        <p:txBody>
          <a:bodyPr wrap="square" lIns="0" tIns="0" rIns="0" bIns="0" rtlCol="0" anchor="ctr"/>
          <a:lstStyle/>
          <a:p>
            <a:pPr indent="0" marL="0">
              <a:buNone/>
            </a:pPr>
            <a:r>
              <a:rPr lang="en-US" sz="1700" dirty="0">
                <a:solidFill>
                  <a:srgbClr val="0B1220"/>
                </a:solidFill>
                <a:latin typeface="Helvetica Neue" pitchFamily="34" charset="0"/>
                <a:ea typeface="Helvetica Neue" pitchFamily="34" charset="-122"/>
                <a:cs typeface="Helvetica Neue" pitchFamily="34" charset="-120"/>
              </a:rPr>
              <a:t>Keep the cut-off with the best F1 score</a:t>
            </a:r>
            <a:endParaRPr lang="en-US" sz="1700" dirty="0"/>
          </a:p>
        </p:txBody>
      </p:sp>
      <p:sp>
        <p:nvSpPr>
          <p:cNvPr id="12" name="Shape 10"/>
          <p:cNvSpPr/>
          <p:nvPr/>
        </p:nvSpPr>
        <p:spPr>
          <a:xfrm>
            <a:off x="548640" y="4206240"/>
            <a:ext cx="548640" cy="548640"/>
          </a:xfrm>
          <a:prstGeom prst="ellipse">
            <a:avLst/>
          </a:prstGeom>
          <a:solidFill>
            <a:srgbClr val="0F766E"/>
          </a:solidFill>
          <a:ln w="12700">
            <a:solidFill>
              <a:srgbClr val="0F766E"/>
            </a:solidFill>
            <a:prstDash val="solid"/>
          </a:ln>
        </p:spPr>
      </p:sp>
      <p:sp>
        <p:nvSpPr>
          <p:cNvPr id="13" name="Text 11"/>
          <p:cNvSpPr txBox="1"/>
          <p:nvPr/>
        </p:nvSpPr>
        <p:spPr>
          <a:xfrm>
            <a:off x="548640" y="42062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venir Next" pitchFamily="34" charset="0"/>
                <a:ea typeface="Avenir Next" pitchFamily="34" charset="-122"/>
                <a:cs typeface="Avenir Next" pitchFamily="34" charset="-120"/>
              </a:rPr>
              <a:t>4</a:t>
            </a:r>
            <a:endParaRPr lang="en-US" sz="1800" dirty="0"/>
          </a:p>
        </p:txBody>
      </p:sp>
      <p:sp>
        <p:nvSpPr>
          <p:cNvPr id="14" name="Text 12"/>
          <p:cNvSpPr txBox="1"/>
          <p:nvPr/>
        </p:nvSpPr>
        <p:spPr>
          <a:xfrm>
            <a:off x="1325880" y="4206240"/>
            <a:ext cx="5120640" cy="548640"/>
          </a:xfrm>
          <a:prstGeom prst="rect">
            <a:avLst/>
          </a:prstGeom>
          <a:noFill/>
          <a:ln/>
        </p:spPr>
        <p:txBody>
          <a:bodyPr wrap="square" lIns="0" tIns="0" rIns="0" bIns="0" rtlCol="0" anchor="ctr"/>
          <a:lstStyle/>
          <a:p>
            <a:pPr indent="0" marL="0">
              <a:buNone/>
            </a:pPr>
            <a:r>
              <a:rPr lang="en-US" sz="1700" dirty="0">
                <a:solidFill>
                  <a:srgbClr val="0B1220"/>
                </a:solidFill>
                <a:latin typeface="Helvetica Neue" pitchFamily="34" charset="0"/>
                <a:ea typeface="Helvetica Neue" pitchFamily="34" charset="-122"/>
                <a:cs typeface="Helvetica Neue" pitchFamily="34" charset="-120"/>
              </a:rPr>
              <a:t>Test set stays untouched until the final report</a:t>
            </a:r>
            <a:endParaRPr lang="en-US" sz="1700" dirty="0"/>
          </a:p>
        </p:txBody>
      </p:sp>
      <p:sp>
        <p:nvSpPr>
          <p:cNvPr id="15" name="Shape 13"/>
          <p:cNvSpPr/>
          <p:nvPr/>
        </p:nvSpPr>
        <p:spPr>
          <a:xfrm>
            <a:off x="6766560" y="1463040"/>
            <a:ext cx="4873752" cy="3383280"/>
          </a:xfrm>
          <a:prstGeom prst="roundRect">
            <a:avLst>
              <a:gd name="adj" fmla="val 3243"/>
            </a:avLst>
          </a:prstGeom>
          <a:solidFill>
            <a:srgbClr val="FDE7E2"/>
          </a:solidFill>
          <a:ln w="12700">
            <a:solidFill>
              <a:srgbClr val="FDE7E2"/>
            </a:solidFill>
            <a:prstDash val="solid"/>
          </a:ln>
        </p:spPr>
      </p:sp>
      <p:sp>
        <p:nvSpPr>
          <p:cNvPr id="16" name="Text 14"/>
          <p:cNvSpPr txBox="1"/>
          <p:nvPr/>
        </p:nvSpPr>
        <p:spPr>
          <a:xfrm>
            <a:off x="7132320" y="1737360"/>
            <a:ext cx="4206240" cy="1097280"/>
          </a:xfrm>
          <a:prstGeom prst="rect">
            <a:avLst/>
          </a:prstGeom>
          <a:noFill/>
          <a:ln/>
        </p:spPr>
        <p:txBody>
          <a:bodyPr wrap="square" lIns="0" tIns="0" rIns="0" bIns="0" rtlCol="0" anchor="ctr"/>
          <a:lstStyle/>
          <a:p>
            <a:pPr indent="0" marL="0">
              <a:buNone/>
            </a:pPr>
            <a:r>
              <a:rPr lang="en-US" sz="8000" b="1" dirty="0">
                <a:solidFill>
                  <a:srgbClr val="EE4C2C"/>
                </a:solidFill>
                <a:latin typeface="Avenir Next" pitchFamily="34" charset="0"/>
                <a:ea typeface="Avenir Next" pitchFamily="34" charset="-122"/>
                <a:cs typeface="Avenir Next" pitchFamily="34" charset="-120"/>
              </a:rPr>
              <a:t>0.998</a:t>
            </a:r>
            <a:endParaRPr lang="en-US" sz="8000" dirty="0"/>
          </a:p>
        </p:txBody>
      </p:sp>
      <p:sp>
        <p:nvSpPr>
          <p:cNvPr id="17" name="Text 15"/>
          <p:cNvSpPr txBox="1"/>
          <p:nvPr/>
        </p:nvSpPr>
        <p:spPr>
          <a:xfrm>
            <a:off x="7132320" y="2834640"/>
            <a:ext cx="4206240" cy="365760"/>
          </a:xfrm>
          <a:prstGeom prst="rect">
            <a:avLst/>
          </a:prstGeom>
          <a:noFill/>
          <a:ln/>
        </p:spPr>
        <p:txBody>
          <a:bodyPr wrap="square" lIns="0" tIns="0" rIns="0" bIns="0" rtlCol="0" anchor="t"/>
          <a:lstStyle/>
          <a:p>
            <a:pPr indent="0" marL="0">
              <a:buNone/>
            </a:pPr>
            <a:r>
              <a:rPr lang="en-US" sz="1800" b="1" dirty="0">
                <a:solidFill>
                  <a:srgbClr val="0B1220"/>
                </a:solidFill>
                <a:latin typeface="Avenir Next" pitchFamily="34" charset="0"/>
                <a:ea typeface="Avenir Next" pitchFamily="34" charset="-122"/>
                <a:cs typeface="Avenir Next" pitchFamily="34" charset="-120"/>
              </a:rPr>
              <a:t>selected threshold</a:t>
            </a:r>
            <a:endParaRPr lang="en-US" sz="1800" dirty="0"/>
          </a:p>
        </p:txBody>
      </p:sp>
      <p:sp>
        <p:nvSpPr>
          <p:cNvPr id="18" name="Text 16"/>
          <p:cNvSpPr txBox="1"/>
          <p:nvPr/>
        </p:nvSpPr>
        <p:spPr>
          <a:xfrm>
            <a:off x="7132320" y="3291840"/>
            <a:ext cx="4160520" cy="1188720"/>
          </a:xfrm>
          <a:prstGeom prst="rect">
            <a:avLst/>
          </a:prstGeom>
          <a:noFill/>
          <a:ln/>
        </p:spPr>
        <p:txBody>
          <a:bodyPr wrap="square" lIns="0" tIns="0" rIns="0" bIns="0" rtlCol="0" anchor="t"/>
          <a:lstStyle/>
          <a:p>
            <a:pPr indent="0" marL="0">
              <a:buNone/>
            </a:pPr>
            <a:r>
              <a:rPr lang="en-US" sz="1500" dirty="0">
                <a:solidFill>
                  <a:srgbClr val="1E293B"/>
                </a:solidFill>
                <a:latin typeface="Helvetica Neue" pitchFamily="34" charset="0"/>
                <a:ea typeface="Helvetica Neue" pitchFamily="34" charset="-122"/>
                <a:cs typeface="Helvetica Neue" pitchFamily="34" charset="-120"/>
              </a:rPr>
              <a:t>High because the weighted loss pushes all scores upward. Scores rank risk — they are not calibrated probabilities.</a:t>
            </a:r>
            <a:endParaRPr lang="en-US" sz="1500" dirty="0"/>
          </a:p>
        </p:txBody>
      </p:sp>
      <p:sp>
        <p:nvSpPr>
          <p:cNvPr id="19" name="Shape 17"/>
          <p:cNvSpPr/>
          <p:nvPr/>
        </p:nvSpPr>
        <p:spPr>
          <a:xfrm>
            <a:off x="548640" y="5257800"/>
            <a:ext cx="9763085" cy="292608"/>
          </a:xfrm>
          <a:prstGeom prst="rect">
            <a:avLst/>
          </a:prstGeom>
          <a:solidFill>
            <a:srgbClr val="0F766E"/>
          </a:solidFill>
          <a:ln w="12700">
            <a:solidFill>
              <a:srgbClr val="0F766E"/>
            </a:solidFill>
            <a:prstDash val="solid"/>
          </a:ln>
        </p:spPr>
      </p:sp>
      <p:sp>
        <p:nvSpPr>
          <p:cNvPr id="20" name="Shape 18"/>
          <p:cNvSpPr/>
          <p:nvPr/>
        </p:nvSpPr>
        <p:spPr>
          <a:xfrm>
            <a:off x="10311725" y="5257800"/>
            <a:ext cx="1331330" cy="292608"/>
          </a:xfrm>
          <a:prstGeom prst="rect">
            <a:avLst/>
          </a:prstGeom>
          <a:solidFill>
            <a:srgbClr val="EE4C2C"/>
          </a:solidFill>
          <a:ln w="12700">
            <a:solidFill>
              <a:srgbClr val="EE4C2C"/>
            </a:solidFill>
            <a:prstDash val="solid"/>
          </a:ln>
        </p:spPr>
      </p:sp>
      <p:sp>
        <p:nvSpPr>
          <p:cNvPr id="21" name="Text 19"/>
          <p:cNvSpPr txBox="1"/>
          <p:nvPr/>
        </p:nvSpPr>
        <p:spPr>
          <a:xfrm>
            <a:off x="685800" y="5257800"/>
            <a:ext cx="2743200" cy="292608"/>
          </a:xfrm>
          <a:prstGeom prst="rect">
            <a:avLst/>
          </a:prstGeom>
          <a:noFill/>
          <a:ln/>
        </p:spPr>
        <p:txBody>
          <a:bodyPr wrap="square" lIns="0" tIns="0" rIns="0" bIns="0" rtlCol="0" anchor="ctr"/>
          <a:lstStyle/>
          <a:p>
            <a:pPr indent="0" marL="0">
              <a:buNone/>
            </a:pPr>
            <a:r>
              <a:rPr lang="en-US" sz="1200" b="1" dirty="0">
                <a:solidFill>
                  <a:srgbClr val="FFFFFF"/>
                </a:solidFill>
                <a:latin typeface="Avenir Next" pitchFamily="34" charset="0"/>
                <a:ea typeface="Avenir Next" pitchFamily="34" charset="-122"/>
                <a:cs typeface="Avenir Next" pitchFamily="34" charset="-120"/>
              </a:rPr>
              <a:t>LOWER_RISK</a:t>
            </a:r>
            <a:endParaRPr lang="en-US" sz="1200" dirty="0"/>
          </a:p>
        </p:txBody>
      </p:sp>
      <p:sp>
        <p:nvSpPr>
          <p:cNvPr id="22" name="Text 20"/>
          <p:cNvSpPr txBox="1"/>
          <p:nvPr/>
        </p:nvSpPr>
        <p:spPr>
          <a:xfrm>
            <a:off x="10311725" y="5257800"/>
            <a:ext cx="133133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venir Next" pitchFamily="34" charset="0"/>
                <a:ea typeface="Avenir Next" pitchFamily="34" charset="-122"/>
                <a:cs typeface="Avenir Next" pitchFamily="34" charset="-120"/>
              </a:rPr>
              <a:t>REVIEW</a:t>
            </a:r>
            <a:endParaRPr lang="en-US" sz="1200" dirty="0"/>
          </a:p>
        </p:txBody>
      </p:sp>
      <p:sp>
        <p:nvSpPr>
          <p:cNvPr id="23" name="Text 21"/>
          <p:cNvSpPr txBox="1"/>
          <p:nvPr/>
        </p:nvSpPr>
        <p:spPr>
          <a:xfrm>
            <a:off x="548640" y="5605272"/>
            <a:ext cx="1828800" cy="274320"/>
          </a:xfrm>
          <a:prstGeom prst="rect">
            <a:avLst/>
          </a:prstGeom>
          <a:noFill/>
          <a:ln/>
        </p:spPr>
        <p:txBody>
          <a:bodyPr wrap="square" lIns="0" tIns="0" rIns="0" bIns="0" rtlCol="0" anchor="t"/>
          <a:lstStyle/>
          <a:p>
            <a:pPr indent="0" marL="0">
              <a:buNone/>
            </a:pPr>
            <a:r>
              <a:rPr lang="en-US" sz="1100" dirty="0">
                <a:solidFill>
                  <a:srgbClr val="64748B"/>
                </a:solidFill>
                <a:latin typeface="Helvetica Neue" pitchFamily="34" charset="0"/>
                <a:ea typeface="Helvetica Neue" pitchFamily="34" charset="-122"/>
                <a:cs typeface="Helvetica Neue" pitchFamily="34" charset="-120"/>
              </a:rPr>
              <a:t>risk score 0</a:t>
            </a:r>
            <a:endParaRPr lang="en-US" sz="1100" dirty="0"/>
          </a:p>
        </p:txBody>
      </p:sp>
      <p:sp>
        <p:nvSpPr>
          <p:cNvPr id="24" name="Text 22"/>
          <p:cNvSpPr txBox="1"/>
          <p:nvPr/>
        </p:nvSpPr>
        <p:spPr>
          <a:xfrm>
            <a:off x="8442655" y="5605272"/>
            <a:ext cx="3200400" cy="274320"/>
          </a:xfrm>
          <a:prstGeom prst="rect">
            <a:avLst/>
          </a:prstGeom>
          <a:noFill/>
          <a:ln/>
        </p:spPr>
        <p:txBody>
          <a:bodyPr wrap="square" lIns="0" tIns="0" rIns="0" bIns="0" rtlCol="0" anchor="t"/>
          <a:lstStyle/>
          <a:p>
            <a:pPr algn="r" indent="0" marL="0">
              <a:buNone/>
            </a:pPr>
            <a:r>
              <a:rPr lang="en-US" sz="1100" dirty="0">
                <a:solidFill>
                  <a:srgbClr val="64748B"/>
                </a:solidFill>
                <a:latin typeface="Helvetica Neue" pitchFamily="34" charset="0"/>
                <a:ea typeface="Helvetica Neue" pitchFamily="34" charset="-122"/>
                <a:cs typeface="Helvetica Neue" pitchFamily="34" charset="-120"/>
              </a:rPr>
              <a:t>0.998 (not to scale)        1</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Helvetica Neue"/>
                <a:ea typeface="Helvetica Neue"/>
                <a:cs typeface="Helvetica Neue"/>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400" b="1" dirty="0">
                <a:solidFill>
                  <a:srgbClr val="0B1220"/>
                </a:solidFill>
                <a:latin typeface="Avenir Next" pitchFamily="34" charset="0"/>
                <a:ea typeface="Avenir Next" pitchFamily="34" charset="-122"/>
                <a:cs typeface="Avenir Next" pitchFamily="34" charset="-120"/>
              </a:rPr>
              <a:t>Results on the held-out test set</a:t>
            </a:r>
            <a:endParaRPr lang="en-US" sz="3400" dirty="0"/>
          </a:p>
        </p:txBody>
      </p:sp>
      <p:sp>
        <p:nvSpPr>
          <p:cNvPr id="3" name="Shape 1"/>
          <p:cNvSpPr/>
          <p:nvPr/>
        </p:nvSpPr>
        <p:spPr>
          <a:xfrm>
            <a:off x="548640" y="1600200"/>
            <a:ext cx="2567864" cy="2926080"/>
          </a:xfrm>
          <a:prstGeom prst="roundRect">
            <a:avLst>
              <a:gd name="adj" fmla="val 4273"/>
            </a:avLst>
          </a:prstGeom>
          <a:solidFill>
            <a:srgbClr val="F1F5F9"/>
          </a:solidFill>
          <a:ln w="12700">
            <a:solidFill>
              <a:srgbClr val="F1F5F9"/>
            </a:solidFill>
            <a:prstDash val="solid"/>
          </a:ln>
        </p:spPr>
      </p:sp>
      <p:sp>
        <p:nvSpPr>
          <p:cNvPr id="4" name="Text 2"/>
          <p:cNvSpPr txBox="1"/>
          <p:nvPr/>
        </p:nvSpPr>
        <p:spPr>
          <a:xfrm>
            <a:off x="822960" y="1920240"/>
            <a:ext cx="2019224" cy="1005840"/>
          </a:xfrm>
          <a:prstGeom prst="rect">
            <a:avLst/>
          </a:prstGeom>
          <a:noFill/>
          <a:ln/>
        </p:spPr>
        <p:txBody>
          <a:bodyPr wrap="square" lIns="0" tIns="0" rIns="0" bIns="0" rtlCol="0" anchor="ctr"/>
          <a:lstStyle/>
          <a:p>
            <a:pPr indent="0" marL="0">
              <a:buNone/>
            </a:pPr>
            <a:r>
              <a:rPr lang="en-US" sz="5400" b="1" dirty="0">
                <a:solidFill>
                  <a:srgbClr val="EE4C2C"/>
                </a:solidFill>
                <a:latin typeface="Avenir Next" pitchFamily="34" charset="0"/>
                <a:ea typeface="Avenir Next" pitchFamily="34" charset="-122"/>
                <a:cs typeface="Avenir Next" pitchFamily="34" charset="-120"/>
              </a:rPr>
              <a:t>80%</a:t>
            </a:r>
            <a:endParaRPr lang="en-US" sz="5400" dirty="0"/>
          </a:p>
        </p:txBody>
      </p:sp>
      <p:sp>
        <p:nvSpPr>
          <p:cNvPr id="5" name="Text 3"/>
          <p:cNvSpPr txBox="1"/>
          <p:nvPr/>
        </p:nvSpPr>
        <p:spPr>
          <a:xfrm>
            <a:off x="822960" y="3063240"/>
            <a:ext cx="2019224" cy="411480"/>
          </a:xfrm>
          <a:prstGeom prst="rect">
            <a:avLst/>
          </a:prstGeom>
          <a:noFill/>
          <a:ln/>
        </p:spPr>
        <p:txBody>
          <a:bodyPr wrap="square" lIns="0" tIns="0" rIns="0" bIns="0" rtlCol="0" anchor="t"/>
          <a:lstStyle/>
          <a:p>
            <a:pPr indent="0" marL="0">
              <a:buNone/>
            </a:pPr>
            <a:r>
              <a:rPr lang="en-US" sz="2000" b="1" dirty="0">
                <a:solidFill>
                  <a:srgbClr val="0B1220"/>
                </a:solidFill>
                <a:latin typeface="Avenir Next" pitchFamily="34" charset="0"/>
                <a:ea typeface="Avenir Next" pitchFamily="34" charset="-122"/>
                <a:cs typeface="Avenir Next" pitchFamily="34" charset="-120"/>
              </a:rPr>
              <a:t>Recall</a:t>
            </a:r>
            <a:endParaRPr lang="en-US" sz="2000" dirty="0"/>
          </a:p>
        </p:txBody>
      </p:sp>
      <p:sp>
        <p:nvSpPr>
          <p:cNvPr id="6" name="Text 4"/>
          <p:cNvSpPr txBox="1"/>
          <p:nvPr/>
        </p:nvSpPr>
        <p:spPr>
          <a:xfrm>
            <a:off x="822960" y="3520440"/>
            <a:ext cx="2019224" cy="73152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59 of 74 frauds caught</a:t>
            </a:r>
            <a:endParaRPr lang="en-US" sz="1400" dirty="0"/>
          </a:p>
        </p:txBody>
      </p:sp>
      <p:sp>
        <p:nvSpPr>
          <p:cNvPr id="7" name="Shape 5"/>
          <p:cNvSpPr/>
          <p:nvPr/>
        </p:nvSpPr>
        <p:spPr>
          <a:xfrm>
            <a:off x="3390824" y="1600200"/>
            <a:ext cx="2567864" cy="2926080"/>
          </a:xfrm>
          <a:prstGeom prst="roundRect">
            <a:avLst>
              <a:gd name="adj" fmla="val 4273"/>
            </a:avLst>
          </a:prstGeom>
          <a:solidFill>
            <a:srgbClr val="F1F5F9"/>
          </a:solidFill>
          <a:ln w="12700">
            <a:solidFill>
              <a:srgbClr val="F1F5F9"/>
            </a:solidFill>
            <a:prstDash val="solid"/>
          </a:ln>
        </p:spPr>
      </p:sp>
      <p:sp>
        <p:nvSpPr>
          <p:cNvPr id="8" name="Text 6"/>
          <p:cNvSpPr txBox="1"/>
          <p:nvPr/>
        </p:nvSpPr>
        <p:spPr>
          <a:xfrm>
            <a:off x="3665144" y="1920240"/>
            <a:ext cx="2019224" cy="1005840"/>
          </a:xfrm>
          <a:prstGeom prst="rect">
            <a:avLst/>
          </a:prstGeom>
          <a:noFill/>
          <a:ln/>
        </p:spPr>
        <p:txBody>
          <a:bodyPr wrap="square" lIns="0" tIns="0" rIns="0" bIns="0" rtlCol="0" anchor="ctr"/>
          <a:lstStyle/>
          <a:p>
            <a:pPr indent="0" marL="0">
              <a:buNone/>
            </a:pPr>
            <a:r>
              <a:rPr lang="en-US" sz="5400" b="1" dirty="0">
                <a:solidFill>
                  <a:srgbClr val="EE4C2C"/>
                </a:solidFill>
                <a:latin typeface="Avenir Next" pitchFamily="34" charset="0"/>
                <a:ea typeface="Avenir Next" pitchFamily="34" charset="-122"/>
                <a:cs typeface="Avenir Next" pitchFamily="34" charset="-120"/>
              </a:rPr>
              <a:t>89%</a:t>
            </a:r>
            <a:endParaRPr lang="en-US" sz="5400" dirty="0"/>
          </a:p>
        </p:txBody>
      </p:sp>
      <p:sp>
        <p:nvSpPr>
          <p:cNvPr id="9" name="Text 7"/>
          <p:cNvSpPr txBox="1"/>
          <p:nvPr/>
        </p:nvSpPr>
        <p:spPr>
          <a:xfrm>
            <a:off x="3665144" y="3063240"/>
            <a:ext cx="2019224" cy="411480"/>
          </a:xfrm>
          <a:prstGeom prst="rect">
            <a:avLst/>
          </a:prstGeom>
          <a:noFill/>
          <a:ln/>
        </p:spPr>
        <p:txBody>
          <a:bodyPr wrap="square" lIns="0" tIns="0" rIns="0" bIns="0" rtlCol="0" anchor="t"/>
          <a:lstStyle/>
          <a:p>
            <a:pPr indent="0" marL="0">
              <a:buNone/>
            </a:pPr>
            <a:r>
              <a:rPr lang="en-US" sz="2000" b="1" dirty="0">
                <a:solidFill>
                  <a:srgbClr val="0B1220"/>
                </a:solidFill>
                <a:latin typeface="Avenir Next" pitchFamily="34" charset="0"/>
                <a:ea typeface="Avenir Next" pitchFamily="34" charset="-122"/>
                <a:cs typeface="Avenir Next" pitchFamily="34" charset="-120"/>
              </a:rPr>
              <a:t>Precision</a:t>
            </a:r>
            <a:endParaRPr lang="en-US" sz="2000" dirty="0"/>
          </a:p>
        </p:txBody>
      </p:sp>
      <p:sp>
        <p:nvSpPr>
          <p:cNvPr id="10" name="Text 8"/>
          <p:cNvSpPr txBox="1"/>
          <p:nvPr/>
        </p:nvSpPr>
        <p:spPr>
          <a:xfrm>
            <a:off x="3665144" y="3520440"/>
            <a:ext cx="2019224" cy="73152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59 of 66 alerts were real fraud</a:t>
            </a:r>
            <a:endParaRPr lang="en-US" sz="1400" dirty="0"/>
          </a:p>
        </p:txBody>
      </p:sp>
      <p:sp>
        <p:nvSpPr>
          <p:cNvPr id="11" name="Shape 9"/>
          <p:cNvSpPr/>
          <p:nvPr/>
        </p:nvSpPr>
        <p:spPr>
          <a:xfrm>
            <a:off x="6233008" y="1600200"/>
            <a:ext cx="2567864" cy="2926080"/>
          </a:xfrm>
          <a:prstGeom prst="roundRect">
            <a:avLst>
              <a:gd name="adj" fmla="val 4273"/>
            </a:avLst>
          </a:prstGeom>
          <a:solidFill>
            <a:srgbClr val="F1F5F9"/>
          </a:solidFill>
          <a:ln w="12700">
            <a:solidFill>
              <a:srgbClr val="F1F5F9"/>
            </a:solidFill>
            <a:prstDash val="solid"/>
          </a:ln>
        </p:spPr>
      </p:sp>
      <p:sp>
        <p:nvSpPr>
          <p:cNvPr id="12" name="Text 10"/>
          <p:cNvSpPr txBox="1"/>
          <p:nvPr/>
        </p:nvSpPr>
        <p:spPr>
          <a:xfrm>
            <a:off x="6507328" y="1920240"/>
            <a:ext cx="2019224" cy="1005840"/>
          </a:xfrm>
          <a:prstGeom prst="rect">
            <a:avLst/>
          </a:prstGeom>
          <a:noFill/>
          <a:ln/>
        </p:spPr>
        <p:txBody>
          <a:bodyPr wrap="square" lIns="0" tIns="0" rIns="0" bIns="0" rtlCol="0" anchor="ctr"/>
          <a:lstStyle/>
          <a:p>
            <a:pPr indent="0" marL="0">
              <a:buNone/>
            </a:pPr>
            <a:r>
              <a:rPr lang="en-US" sz="5400" b="1" dirty="0">
                <a:solidFill>
                  <a:srgbClr val="0F766E"/>
                </a:solidFill>
                <a:latin typeface="Avenir Next" pitchFamily="34" charset="0"/>
                <a:ea typeface="Avenir Next" pitchFamily="34" charset="-122"/>
                <a:cs typeface="Avenir Next" pitchFamily="34" charset="-120"/>
              </a:rPr>
              <a:t>0.978</a:t>
            </a:r>
            <a:endParaRPr lang="en-US" sz="5400" dirty="0"/>
          </a:p>
        </p:txBody>
      </p:sp>
      <p:sp>
        <p:nvSpPr>
          <p:cNvPr id="13" name="Text 11"/>
          <p:cNvSpPr txBox="1"/>
          <p:nvPr/>
        </p:nvSpPr>
        <p:spPr>
          <a:xfrm>
            <a:off x="6507328" y="3063240"/>
            <a:ext cx="2019224" cy="411480"/>
          </a:xfrm>
          <a:prstGeom prst="rect">
            <a:avLst/>
          </a:prstGeom>
          <a:noFill/>
          <a:ln/>
        </p:spPr>
        <p:txBody>
          <a:bodyPr wrap="square" lIns="0" tIns="0" rIns="0" bIns="0" rtlCol="0" anchor="t"/>
          <a:lstStyle/>
          <a:p>
            <a:pPr indent="0" marL="0">
              <a:buNone/>
            </a:pPr>
            <a:r>
              <a:rPr lang="en-US" sz="2000" b="1" dirty="0">
                <a:solidFill>
                  <a:srgbClr val="0B1220"/>
                </a:solidFill>
                <a:latin typeface="Avenir Next" pitchFamily="34" charset="0"/>
                <a:ea typeface="Avenir Next" pitchFamily="34" charset="-122"/>
                <a:cs typeface="Avenir Next" pitchFamily="34" charset="-120"/>
              </a:rPr>
              <a:t>ROC-AUC</a:t>
            </a:r>
            <a:endParaRPr lang="en-US" sz="2000" dirty="0"/>
          </a:p>
        </p:txBody>
      </p:sp>
      <p:sp>
        <p:nvSpPr>
          <p:cNvPr id="14" name="Text 12"/>
          <p:cNvSpPr txBox="1"/>
          <p:nvPr/>
        </p:nvSpPr>
        <p:spPr>
          <a:xfrm>
            <a:off x="6507328" y="3520440"/>
            <a:ext cx="2019224" cy="73152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Ranks fraud above legitimate</a:t>
            </a:r>
            <a:endParaRPr lang="en-US" sz="1400" dirty="0"/>
          </a:p>
        </p:txBody>
      </p:sp>
      <p:sp>
        <p:nvSpPr>
          <p:cNvPr id="15" name="Shape 13"/>
          <p:cNvSpPr/>
          <p:nvPr/>
        </p:nvSpPr>
        <p:spPr>
          <a:xfrm>
            <a:off x="9075191" y="1600200"/>
            <a:ext cx="2567864" cy="2926080"/>
          </a:xfrm>
          <a:prstGeom prst="roundRect">
            <a:avLst>
              <a:gd name="adj" fmla="val 4273"/>
            </a:avLst>
          </a:prstGeom>
          <a:solidFill>
            <a:srgbClr val="F1F5F9"/>
          </a:solidFill>
          <a:ln w="12700">
            <a:solidFill>
              <a:srgbClr val="F1F5F9"/>
            </a:solidFill>
            <a:prstDash val="solid"/>
          </a:ln>
        </p:spPr>
      </p:sp>
      <p:sp>
        <p:nvSpPr>
          <p:cNvPr id="16" name="Text 14"/>
          <p:cNvSpPr txBox="1"/>
          <p:nvPr/>
        </p:nvSpPr>
        <p:spPr>
          <a:xfrm>
            <a:off x="9349511" y="1920240"/>
            <a:ext cx="2019224" cy="1005840"/>
          </a:xfrm>
          <a:prstGeom prst="rect">
            <a:avLst/>
          </a:prstGeom>
          <a:noFill/>
          <a:ln/>
        </p:spPr>
        <p:txBody>
          <a:bodyPr wrap="square" lIns="0" tIns="0" rIns="0" bIns="0" rtlCol="0" anchor="ctr"/>
          <a:lstStyle/>
          <a:p>
            <a:pPr indent="0" marL="0">
              <a:buNone/>
            </a:pPr>
            <a:r>
              <a:rPr lang="en-US" sz="5400" b="1" dirty="0">
                <a:solidFill>
                  <a:srgbClr val="0F766E"/>
                </a:solidFill>
                <a:latin typeface="Avenir Next" pitchFamily="34" charset="0"/>
                <a:ea typeface="Avenir Next" pitchFamily="34" charset="-122"/>
                <a:cs typeface="Avenir Next" pitchFamily="34" charset="-120"/>
              </a:rPr>
              <a:t>0.757</a:t>
            </a:r>
            <a:endParaRPr lang="en-US" sz="5400" dirty="0"/>
          </a:p>
        </p:txBody>
      </p:sp>
      <p:sp>
        <p:nvSpPr>
          <p:cNvPr id="17" name="Text 15"/>
          <p:cNvSpPr txBox="1"/>
          <p:nvPr/>
        </p:nvSpPr>
        <p:spPr>
          <a:xfrm>
            <a:off x="9349511" y="3063240"/>
            <a:ext cx="2019224" cy="411480"/>
          </a:xfrm>
          <a:prstGeom prst="rect">
            <a:avLst/>
          </a:prstGeom>
          <a:noFill/>
          <a:ln/>
        </p:spPr>
        <p:txBody>
          <a:bodyPr wrap="square" lIns="0" tIns="0" rIns="0" bIns="0" rtlCol="0" anchor="t"/>
          <a:lstStyle/>
          <a:p>
            <a:pPr indent="0" marL="0">
              <a:buNone/>
            </a:pPr>
            <a:r>
              <a:rPr lang="en-US" sz="2000" b="1" dirty="0">
                <a:solidFill>
                  <a:srgbClr val="0B1220"/>
                </a:solidFill>
                <a:latin typeface="Avenir Next" pitchFamily="34" charset="0"/>
                <a:ea typeface="Avenir Next" pitchFamily="34" charset="-122"/>
                <a:cs typeface="Avenir Next" pitchFamily="34" charset="-120"/>
              </a:rPr>
              <a:t>PR-AUC</a:t>
            </a:r>
            <a:endParaRPr lang="en-US" sz="2000" dirty="0"/>
          </a:p>
        </p:txBody>
      </p:sp>
      <p:sp>
        <p:nvSpPr>
          <p:cNvPr id="18" name="Text 16"/>
          <p:cNvSpPr txBox="1"/>
          <p:nvPr/>
        </p:nvSpPr>
        <p:spPr>
          <a:xfrm>
            <a:off x="9349511" y="3520440"/>
            <a:ext cx="2019224" cy="73152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Best metric for rare classes</a:t>
            </a:r>
            <a:endParaRPr lang="en-US" sz="1400" dirty="0"/>
          </a:p>
        </p:txBody>
      </p:sp>
      <p:sp>
        <p:nvSpPr>
          <p:cNvPr id="19" name="Shape 17"/>
          <p:cNvSpPr/>
          <p:nvPr/>
        </p:nvSpPr>
        <p:spPr>
          <a:xfrm>
            <a:off x="548640" y="4846320"/>
            <a:ext cx="11094415" cy="868680"/>
          </a:xfrm>
          <a:prstGeom prst="roundRect">
            <a:avLst>
              <a:gd name="adj" fmla="val 12632"/>
            </a:avLst>
          </a:prstGeom>
          <a:solidFill>
            <a:srgbClr val="F1F5F9"/>
          </a:solidFill>
          <a:ln w="12700">
            <a:solidFill>
              <a:srgbClr val="F1F5F9"/>
            </a:solidFill>
            <a:prstDash val="solid"/>
          </a:ln>
        </p:spPr>
      </p:sp>
      <p:sp>
        <p:nvSpPr>
          <p:cNvPr id="20" name="Text 18"/>
          <p:cNvSpPr txBox="1"/>
          <p:nvPr/>
        </p:nvSpPr>
        <p:spPr>
          <a:xfrm>
            <a:off x="868680" y="4846320"/>
            <a:ext cx="10454335" cy="868680"/>
          </a:xfrm>
          <a:prstGeom prst="rect">
            <a:avLst/>
          </a:prstGeom>
          <a:noFill/>
          <a:ln/>
        </p:spPr>
        <p:txBody>
          <a:bodyPr wrap="square" lIns="0" tIns="0" rIns="0" bIns="0" rtlCol="0" anchor="ctr"/>
          <a:lstStyle/>
          <a:p>
            <a:pPr indent="0" marL="0">
              <a:buNone/>
            </a:pPr>
            <a:r>
              <a:rPr lang="en-US" sz="1500" b="1" dirty="0">
                <a:solidFill>
                  <a:srgbClr val="0B1220"/>
                </a:solidFill>
                <a:latin typeface="Helvetica Neue" pitchFamily="34" charset="0"/>
                <a:ea typeface="Helvetica Neue" pitchFamily="34" charset="-122"/>
                <a:cs typeface="Helvetica Neue" pitchFamily="34" charset="-120"/>
              </a:rPr>
              <a:t>Test set: </a:t>
            </a:r>
            <a:pPr indent="0" marL="0">
              <a:buNone/>
            </a:pPr>
            <a:r>
              <a:rPr lang="en-US" sz="1500" dirty="0">
                <a:solidFill>
                  <a:srgbClr val="1E293B"/>
                </a:solidFill>
                <a:latin typeface="Helvetica Neue" pitchFamily="34" charset="0"/>
                <a:ea typeface="Helvetica Neue" pitchFamily="34" charset="-122"/>
                <a:cs typeface="Helvetica Neue" pitchFamily="34" charset="-120"/>
              </a:rPr>
              <a:t>42,722 transactions never seen during training or threshold selection, including 74 frauds. F1 for fraud = 0.84.</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Helvetica Neue"/>
                <a:ea typeface="Helvetica Neue"/>
                <a:cs typeface="Helvetica Neue"/>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400" b="1" dirty="0">
                <a:solidFill>
                  <a:srgbClr val="0B1220"/>
                </a:solidFill>
                <a:latin typeface="Avenir Next" pitchFamily="34" charset="0"/>
                <a:ea typeface="Avenir Next" pitchFamily="34" charset="-122"/>
                <a:cs typeface="Avenir Next" pitchFamily="34" charset="-120"/>
              </a:rPr>
              <a:t>Where the model is right — and wrong</a:t>
            </a:r>
            <a:endParaRPr lang="en-US" sz="3400" dirty="0"/>
          </a:p>
        </p:txBody>
      </p:sp>
      <p:sp>
        <p:nvSpPr>
          <p:cNvPr id="3" name="Text 1"/>
          <p:cNvSpPr txBox="1"/>
          <p:nvPr/>
        </p:nvSpPr>
        <p:spPr>
          <a:xfrm>
            <a:off x="2103120" y="1371600"/>
            <a:ext cx="4892040" cy="274320"/>
          </a:xfrm>
          <a:prstGeom prst="rect">
            <a:avLst/>
          </a:prstGeom>
          <a:noFill/>
          <a:ln/>
        </p:spPr>
        <p:txBody>
          <a:bodyPr wrap="square" lIns="0" tIns="0" rIns="0" bIns="0" rtlCol="0" anchor="t"/>
          <a:lstStyle/>
          <a:p>
            <a:pPr algn="ctr" indent="0" marL="0">
              <a:buNone/>
            </a:pPr>
            <a:r>
              <a:rPr lang="en-US" sz="1200" b="1" spc="200" kern="0" dirty="0">
                <a:solidFill>
                  <a:srgbClr val="64748B"/>
                </a:solidFill>
                <a:latin typeface="Avenir Next" pitchFamily="34" charset="0"/>
                <a:ea typeface="Avenir Next" pitchFamily="34" charset="-122"/>
                <a:cs typeface="Avenir Next" pitchFamily="34" charset="-120"/>
              </a:rPr>
              <a:t>PREDICTED</a:t>
            </a:r>
            <a:endParaRPr lang="en-US" sz="1200" dirty="0"/>
          </a:p>
        </p:txBody>
      </p:sp>
      <p:sp>
        <p:nvSpPr>
          <p:cNvPr id="4" name="Text 2"/>
          <p:cNvSpPr txBox="1"/>
          <p:nvPr/>
        </p:nvSpPr>
        <p:spPr>
          <a:xfrm>
            <a:off x="2103120" y="1691640"/>
            <a:ext cx="2377440" cy="274320"/>
          </a:xfrm>
          <a:prstGeom prst="rect">
            <a:avLst/>
          </a:prstGeom>
          <a:noFill/>
          <a:ln/>
        </p:spPr>
        <p:txBody>
          <a:bodyPr wrap="square" lIns="0" tIns="0" rIns="0" bIns="0" rtlCol="0" anchor="t"/>
          <a:lstStyle/>
          <a:p>
            <a:pPr algn="ctr" indent="0" marL="0">
              <a:buNone/>
            </a:pPr>
            <a:r>
              <a:rPr lang="en-US" sz="1400" b="1" dirty="0">
                <a:solidFill>
                  <a:srgbClr val="0B1220"/>
                </a:solidFill>
                <a:latin typeface="Helvetica Neue" pitchFamily="34" charset="0"/>
                <a:ea typeface="Helvetica Neue" pitchFamily="34" charset="-122"/>
                <a:cs typeface="Helvetica Neue" pitchFamily="34" charset="-120"/>
              </a:rPr>
              <a:t>Legitimate</a:t>
            </a:r>
            <a:endParaRPr lang="en-US" sz="1400" dirty="0"/>
          </a:p>
        </p:txBody>
      </p:sp>
      <p:sp>
        <p:nvSpPr>
          <p:cNvPr id="5" name="Text 3"/>
          <p:cNvSpPr txBox="1"/>
          <p:nvPr/>
        </p:nvSpPr>
        <p:spPr>
          <a:xfrm>
            <a:off x="4617720" y="1691640"/>
            <a:ext cx="2377440" cy="274320"/>
          </a:xfrm>
          <a:prstGeom prst="rect">
            <a:avLst/>
          </a:prstGeom>
          <a:noFill/>
          <a:ln/>
        </p:spPr>
        <p:txBody>
          <a:bodyPr wrap="square" lIns="0" tIns="0" rIns="0" bIns="0" rtlCol="0" anchor="t"/>
          <a:lstStyle/>
          <a:p>
            <a:pPr algn="ctr" indent="0" marL="0">
              <a:buNone/>
            </a:pPr>
            <a:r>
              <a:rPr lang="en-US" sz="1400" b="1" dirty="0">
                <a:solidFill>
                  <a:srgbClr val="0B1220"/>
                </a:solidFill>
                <a:latin typeface="Helvetica Neue" pitchFamily="34" charset="0"/>
                <a:ea typeface="Helvetica Neue" pitchFamily="34" charset="-122"/>
                <a:cs typeface="Helvetica Neue" pitchFamily="34" charset="-120"/>
              </a:rPr>
              <a:t>Fraud</a:t>
            </a:r>
            <a:endParaRPr lang="en-US" sz="1400" dirty="0"/>
          </a:p>
        </p:txBody>
      </p:sp>
      <p:sp>
        <p:nvSpPr>
          <p:cNvPr id="6" name="Text 4"/>
          <p:cNvSpPr txBox="1"/>
          <p:nvPr/>
        </p:nvSpPr>
        <p:spPr>
          <a:xfrm>
            <a:off x="548640" y="1691640"/>
            <a:ext cx="1417320" cy="274320"/>
          </a:xfrm>
          <a:prstGeom prst="rect">
            <a:avLst/>
          </a:prstGeom>
          <a:noFill/>
          <a:ln/>
        </p:spPr>
        <p:txBody>
          <a:bodyPr wrap="square" lIns="0" tIns="0" rIns="0" bIns="0" rtlCol="0" anchor="t"/>
          <a:lstStyle/>
          <a:p>
            <a:pPr algn="r" indent="0" marL="0">
              <a:buNone/>
            </a:pPr>
            <a:r>
              <a:rPr lang="en-US" sz="1200" b="1" spc="200" kern="0" dirty="0">
                <a:solidFill>
                  <a:srgbClr val="64748B"/>
                </a:solidFill>
                <a:latin typeface="Avenir Next" pitchFamily="34" charset="0"/>
                <a:ea typeface="Avenir Next" pitchFamily="34" charset="-122"/>
                <a:cs typeface="Avenir Next" pitchFamily="34" charset="-120"/>
              </a:rPr>
              <a:t>ACTUAL</a:t>
            </a:r>
            <a:endParaRPr lang="en-US" sz="1200" dirty="0"/>
          </a:p>
        </p:txBody>
      </p:sp>
      <p:sp>
        <p:nvSpPr>
          <p:cNvPr id="7" name="Text 5"/>
          <p:cNvSpPr txBox="1"/>
          <p:nvPr/>
        </p:nvSpPr>
        <p:spPr>
          <a:xfrm>
            <a:off x="960120" y="2057400"/>
            <a:ext cx="1005840" cy="1463040"/>
          </a:xfrm>
          <a:prstGeom prst="rect">
            <a:avLst/>
          </a:prstGeom>
          <a:noFill/>
          <a:ln/>
        </p:spPr>
        <p:txBody>
          <a:bodyPr wrap="square" lIns="0" tIns="0" rIns="0" bIns="0" rtlCol="0" anchor="ctr"/>
          <a:lstStyle/>
          <a:p>
            <a:pPr algn="r" indent="0" marL="0">
              <a:buNone/>
            </a:pPr>
            <a:r>
              <a:rPr lang="en-US" sz="1400" b="1" dirty="0">
                <a:solidFill>
                  <a:srgbClr val="0B1220"/>
                </a:solidFill>
                <a:latin typeface="Helvetica Neue" pitchFamily="34" charset="0"/>
                <a:ea typeface="Helvetica Neue" pitchFamily="34" charset="-122"/>
                <a:cs typeface="Helvetica Neue" pitchFamily="34" charset="-120"/>
              </a:rPr>
              <a:t>Legitimate</a:t>
            </a:r>
            <a:endParaRPr lang="en-US" sz="1400" dirty="0"/>
          </a:p>
        </p:txBody>
      </p:sp>
      <p:sp>
        <p:nvSpPr>
          <p:cNvPr id="8" name="Text 6"/>
          <p:cNvSpPr txBox="1"/>
          <p:nvPr/>
        </p:nvSpPr>
        <p:spPr>
          <a:xfrm>
            <a:off x="960120" y="3657600"/>
            <a:ext cx="1005840" cy="1463040"/>
          </a:xfrm>
          <a:prstGeom prst="rect">
            <a:avLst/>
          </a:prstGeom>
          <a:noFill/>
          <a:ln/>
        </p:spPr>
        <p:txBody>
          <a:bodyPr wrap="square" lIns="0" tIns="0" rIns="0" bIns="0" rtlCol="0" anchor="ctr"/>
          <a:lstStyle/>
          <a:p>
            <a:pPr algn="r" indent="0" marL="0">
              <a:buNone/>
            </a:pPr>
            <a:r>
              <a:rPr lang="en-US" sz="1400" b="1" dirty="0">
                <a:solidFill>
                  <a:srgbClr val="0B1220"/>
                </a:solidFill>
                <a:latin typeface="Helvetica Neue" pitchFamily="34" charset="0"/>
                <a:ea typeface="Helvetica Neue" pitchFamily="34" charset="-122"/>
                <a:cs typeface="Helvetica Neue" pitchFamily="34" charset="-120"/>
              </a:rPr>
              <a:t>Fraud</a:t>
            </a:r>
            <a:endParaRPr lang="en-US" sz="1400" dirty="0"/>
          </a:p>
        </p:txBody>
      </p:sp>
      <p:sp>
        <p:nvSpPr>
          <p:cNvPr id="9" name="Shape 7"/>
          <p:cNvSpPr/>
          <p:nvPr/>
        </p:nvSpPr>
        <p:spPr>
          <a:xfrm>
            <a:off x="2103120" y="2057400"/>
            <a:ext cx="2377440" cy="1463040"/>
          </a:xfrm>
          <a:prstGeom prst="roundRect">
            <a:avLst>
              <a:gd name="adj" fmla="val 7500"/>
            </a:avLst>
          </a:prstGeom>
          <a:solidFill>
            <a:srgbClr val="D5F0EC"/>
          </a:solidFill>
          <a:ln w="12700">
            <a:solidFill>
              <a:srgbClr val="D5F0EC"/>
            </a:solidFill>
            <a:prstDash val="solid"/>
          </a:ln>
        </p:spPr>
      </p:sp>
      <p:sp>
        <p:nvSpPr>
          <p:cNvPr id="10" name="Text 8"/>
          <p:cNvSpPr txBox="1"/>
          <p:nvPr/>
        </p:nvSpPr>
        <p:spPr>
          <a:xfrm>
            <a:off x="2103120" y="2286000"/>
            <a:ext cx="2377440" cy="685800"/>
          </a:xfrm>
          <a:prstGeom prst="rect">
            <a:avLst/>
          </a:prstGeom>
          <a:noFill/>
          <a:ln/>
        </p:spPr>
        <p:txBody>
          <a:bodyPr wrap="square" lIns="0" tIns="0" rIns="0" bIns="0" rtlCol="0" anchor="ctr"/>
          <a:lstStyle/>
          <a:p>
            <a:pPr algn="ctr" indent="0" marL="0">
              <a:buNone/>
            </a:pPr>
            <a:r>
              <a:rPr lang="en-US" sz="4000" b="1" dirty="0">
                <a:solidFill>
                  <a:srgbClr val="0F766E"/>
                </a:solidFill>
                <a:latin typeface="Avenir Next" pitchFamily="34" charset="0"/>
                <a:ea typeface="Avenir Next" pitchFamily="34" charset="-122"/>
                <a:cs typeface="Avenir Next" pitchFamily="34" charset="-120"/>
              </a:rPr>
              <a:t>42,641</a:t>
            </a:r>
            <a:endParaRPr lang="en-US" sz="4000" dirty="0"/>
          </a:p>
        </p:txBody>
      </p:sp>
      <p:sp>
        <p:nvSpPr>
          <p:cNvPr id="11" name="Text 9"/>
          <p:cNvSpPr txBox="1"/>
          <p:nvPr/>
        </p:nvSpPr>
        <p:spPr>
          <a:xfrm>
            <a:off x="2103120" y="3017520"/>
            <a:ext cx="2377440" cy="320040"/>
          </a:xfrm>
          <a:prstGeom prst="rect">
            <a:avLst/>
          </a:prstGeom>
          <a:noFill/>
          <a:ln/>
        </p:spPr>
        <p:txBody>
          <a:bodyPr wrap="square" lIns="0" tIns="0" rIns="0" bIns="0" rtlCol="0" anchor="t"/>
          <a:lstStyle/>
          <a:p>
            <a:pPr algn="ctr" indent="0" marL="0">
              <a:buNone/>
            </a:pPr>
            <a:r>
              <a:rPr lang="en-US" sz="1400" dirty="0">
                <a:solidFill>
                  <a:srgbClr val="1E293B"/>
                </a:solidFill>
                <a:latin typeface="Helvetica Neue" pitchFamily="34" charset="0"/>
                <a:ea typeface="Helvetica Neue" pitchFamily="34" charset="-122"/>
                <a:cs typeface="Helvetica Neue" pitchFamily="34" charset="-120"/>
              </a:rPr>
              <a:t>True negatives</a:t>
            </a:r>
            <a:endParaRPr lang="en-US" sz="1400" dirty="0"/>
          </a:p>
        </p:txBody>
      </p:sp>
      <p:sp>
        <p:nvSpPr>
          <p:cNvPr id="12" name="Shape 10"/>
          <p:cNvSpPr/>
          <p:nvPr/>
        </p:nvSpPr>
        <p:spPr>
          <a:xfrm>
            <a:off x="4617720" y="2057400"/>
            <a:ext cx="2377440" cy="1463040"/>
          </a:xfrm>
          <a:prstGeom prst="roundRect">
            <a:avLst>
              <a:gd name="adj" fmla="val 7500"/>
            </a:avLst>
          </a:prstGeom>
          <a:solidFill>
            <a:srgbClr val="FEF3C7"/>
          </a:solidFill>
          <a:ln w="12700">
            <a:solidFill>
              <a:srgbClr val="FEF3C7"/>
            </a:solidFill>
            <a:prstDash val="solid"/>
          </a:ln>
        </p:spPr>
      </p:sp>
      <p:sp>
        <p:nvSpPr>
          <p:cNvPr id="13" name="Text 11"/>
          <p:cNvSpPr txBox="1"/>
          <p:nvPr/>
        </p:nvSpPr>
        <p:spPr>
          <a:xfrm>
            <a:off x="4617720" y="2286000"/>
            <a:ext cx="2377440" cy="685800"/>
          </a:xfrm>
          <a:prstGeom prst="rect">
            <a:avLst/>
          </a:prstGeom>
          <a:noFill/>
          <a:ln/>
        </p:spPr>
        <p:txBody>
          <a:bodyPr wrap="square" lIns="0" tIns="0" rIns="0" bIns="0" rtlCol="0" anchor="ctr"/>
          <a:lstStyle/>
          <a:p>
            <a:pPr algn="ctr" indent="0" marL="0">
              <a:buNone/>
            </a:pPr>
            <a:r>
              <a:rPr lang="en-US" sz="4000" b="1" dirty="0">
                <a:solidFill>
                  <a:srgbClr val="B45309"/>
                </a:solidFill>
                <a:latin typeface="Avenir Next" pitchFamily="34" charset="0"/>
                <a:ea typeface="Avenir Next" pitchFamily="34" charset="-122"/>
                <a:cs typeface="Avenir Next" pitchFamily="34" charset="-120"/>
              </a:rPr>
              <a:t>7</a:t>
            </a:r>
            <a:endParaRPr lang="en-US" sz="4000" dirty="0"/>
          </a:p>
        </p:txBody>
      </p:sp>
      <p:sp>
        <p:nvSpPr>
          <p:cNvPr id="14" name="Text 12"/>
          <p:cNvSpPr txBox="1"/>
          <p:nvPr/>
        </p:nvSpPr>
        <p:spPr>
          <a:xfrm>
            <a:off x="4617720" y="3017520"/>
            <a:ext cx="2377440" cy="320040"/>
          </a:xfrm>
          <a:prstGeom prst="rect">
            <a:avLst/>
          </a:prstGeom>
          <a:noFill/>
          <a:ln/>
        </p:spPr>
        <p:txBody>
          <a:bodyPr wrap="square" lIns="0" tIns="0" rIns="0" bIns="0" rtlCol="0" anchor="t"/>
          <a:lstStyle/>
          <a:p>
            <a:pPr algn="ctr" indent="0" marL="0">
              <a:buNone/>
            </a:pPr>
            <a:r>
              <a:rPr lang="en-US" sz="1400" dirty="0">
                <a:solidFill>
                  <a:srgbClr val="1E293B"/>
                </a:solidFill>
                <a:latin typeface="Helvetica Neue" pitchFamily="34" charset="0"/>
                <a:ea typeface="Helvetica Neue" pitchFamily="34" charset="-122"/>
                <a:cs typeface="Helvetica Neue" pitchFamily="34" charset="-120"/>
              </a:rPr>
              <a:t>False alarms</a:t>
            </a:r>
            <a:endParaRPr lang="en-US" sz="1400" dirty="0"/>
          </a:p>
        </p:txBody>
      </p:sp>
      <p:sp>
        <p:nvSpPr>
          <p:cNvPr id="15" name="Shape 13"/>
          <p:cNvSpPr/>
          <p:nvPr/>
        </p:nvSpPr>
        <p:spPr>
          <a:xfrm>
            <a:off x="2103120" y="3657600"/>
            <a:ext cx="2377440" cy="1463040"/>
          </a:xfrm>
          <a:prstGeom prst="roundRect">
            <a:avLst>
              <a:gd name="adj" fmla="val 7500"/>
            </a:avLst>
          </a:prstGeom>
          <a:solidFill>
            <a:srgbClr val="FDE7E2"/>
          </a:solidFill>
          <a:ln w="12700">
            <a:solidFill>
              <a:srgbClr val="FDE7E2"/>
            </a:solidFill>
            <a:prstDash val="solid"/>
          </a:ln>
        </p:spPr>
      </p:sp>
      <p:sp>
        <p:nvSpPr>
          <p:cNvPr id="16" name="Text 14"/>
          <p:cNvSpPr txBox="1"/>
          <p:nvPr/>
        </p:nvSpPr>
        <p:spPr>
          <a:xfrm>
            <a:off x="2103120" y="3886200"/>
            <a:ext cx="2377440" cy="685800"/>
          </a:xfrm>
          <a:prstGeom prst="rect">
            <a:avLst/>
          </a:prstGeom>
          <a:noFill/>
          <a:ln/>
        </p:spPr>
        <p:txBody>
          <a:bodyPr wrap="square" lIns="0" tIns="0" rIns="0" bIns="0" rtlCol="0" anchor="ctr"/>
          <a:lstStyle/>
          <a:p>
            <a:pPr algn="ctr" indent="0" marL="0">
              <a:buNone/>
            </a:pPr>
            <a:r>
              <a:rPr lang="en-US" sz="4000" b="1" dirty="0">
                <a:solidFill>
                  <a:srgbClr val="EE4C2C"/>
                </a:solidFill>
                <a:latin typeface="Avenir Next" pitchFamily="34" charset="0"/>
                <a:ea typeface="Avenir Next" pitchFamily="34" charset="-122"/>
                <a:cs typeface="Avenir Next" pitchFamily="34" charset="-120"/>
              </a:rPr>
              <a:t>15</a:t>
            </a:r>
            <a:endParaRPr lang="en-US" sz="4000" dirty="0"/>
          </a:p>
        </p:txBody>
      </p:sp>
      <p:sp>
        <p:nvSpPr>
          <p:cNvPr id="17" name="Text 15"/>
          <p:cNvSpPr txBox="1"/>
          <p:nvPr/>
        </p:nvSpPr>
        <p:spPr>
          <a:xfrm>
            <a:off x="2103120" y="4617720"/>
            <a:ext cx="2377440" cy="320040"/>
          </a:xfrm>
          <a:prstGeom prst="rect">
            <a:avLst/>
          </a:prstGeom>
          <a:noFill/>
          <a:ln/>
        </p:spPr>
        <p:txBody>
          <a:bodyPr wrap="square" lIns="0" tIns="0" rIns="0" bIns="0" rtlCol="0" anchor="t"/>
          <a:lstStyle/>
          <a:p>
            <a:pPr algn="ctr" indent="0" marL="0">
              <a:buNone/>
            </a:pPr>
            <a:r>
              <a:rPr lang="en-US" sz="1400" dirty="0">
                <a:solidFill>
                  <a:srgbClr val="1E293B"/>
                </a:solidFill>
                <a:latin typeface="Helvetica Neue" pitchFamily="34" charset="0"/>
                <a:ea typeface="Helvetica Neue" pitchFamily="34" charset="-122"/>
                <a:cs typeface="Helvetica Neue" pitchFamily="34" charset="-120"/>
              </a:rPr>
              <a:t>Missed fraud</a:t>
            </a:r>
            <a:endParaRPr lang="en-US" sz="1400" dirty="0"/>
          </a:p>
        </p:txBody>
      </p:sp>
      <p:sp>
        <p:nvSpPr>
          <p:cNvPr id="18" name="Shape 16"/>
          <p:cNvSpPr/>
          <p:nvPr/>
        </p:nvSpPr>
        <p:spPr>
          <a:xfrm>
            <a:off x="4617720" y="3657600"/>
            <a:ext cx="2377440" cy="1463040"/>
          </a:xfrm>
          <a:prstGeom prst="roundRect">
            <a:avLst>
              <a:gd name="adj" fmla="val 7500"/>
            </a:avLst>
          </a:prstGeom>
          <a:solidFill>
            <a:srgbClr val="0F766E"/>
          </a:solidFill>
          <a:ln w="12700">
            <a:solidFill>
              <a:srgbClr val="0F766E"/>
            </a:solidFill>
            <a:prstDash val="solid"/>
          </a:ln>
        </p:spPr>
      </p:sp>
      <p:sp>
        <p:nvSpPr>
          <p:cNvPr id="19" name="Text 17"/>
          <p:cNvSpPr txBox="1"/>
          <p:nvPr/>
        </p:nvSpPr>
        <p:spPr>
          <a:xfrm>
            <a:off x="4617720" y="3886200"/>
            <a:ext cx="2377440" cy="685800"/>
          </a:xfrm>
          <a:prstGeom prst="rect">
            <a:avLst/>
          </a:prstGeom>
          <a:noFill/>
          <a:ln/>
        </p:spPr>
        <p:txBody>
          <a:bodyPr wrap="square" lIns="0" tIns="0" rIns="0" bIns="0" rtlCol="0" anchor="ctr"/>
          <a:lstStyle/>
          <a:p>
            <a:pPr algn="ctr" indent="0" marL="0">
              <a:buNone/>
            </a:pPr>
            <a:r>
              <a:rPr lang="en-US" sz="4000" b="1" dirty="0">
                <a:solidFill>
                  <a:srgbClr val="FFFFFF"/>
                </a:solidFill>
                <a:latin typeface="Avenir Next" pitchFamily="34" charset="0"/>
                <a:ea typeface="Avenir Next" pitchFamily="34" charset="-122"/>
                <a:cs typeface="Avenir Next" pitchFamily="34" charset="-120"/>
              </a:rPr>
              <a:t>59</a:t>
            </a:r>
            <a:endParaRPr lang="en-US" sz="4000" dirty="0"/>
          </a:p>
        </p:txBody>
      </p:sp>
      <p:sp>
        <p:nvSpPr>
          <p:cNvPr id="20" name="Text 18"/>
          <p:cNvSpPr txBox="1"/>
          <p:nvPr/>
        </p:nvSpPr>
        <p:spPr>
          <a:xfrm>
            <a:off x="4617720" y="4617720"/>
            <a:ext cx="2377440" cy="320040"/>
          </a:xfrm>
          <a:prstGeom prst="rect">
            <a:avLst/>
          </a:prstGeom>
          <a:noFill/>
          <a:ln/>
        </p:spPr>
        <p:txBody>
          <a:bodyPr wrap="square" lIns="0" tIns="0" rIns="0" bIns="0" rtlCol="0" anchor="t"/>
          <a:lstStyle/>
          <a:p>
            <a:pPr algn="ctr" indent="0" marL="0">
              <a:buNone/>
            </a:pPr>
            <a:r>
              <a:rPr lang="en-US" sz="1400" dirty="0">
                <a:solidFill>
                  <a:srgbClr val="FFFFFF"/>
                </a:solidFill>
                <a:latin typeface="Helvetica Neue" pitchFamily="34" charset="0"/>
                <a:ea typeface="Helvetica Neue" pitchFamily="34" charset="-122"/>
                <a:cs typeface="Helvetica Neue" pitchFamily="34" charset="-120"/>
              </a:rPr>
              <a:t>Fraud caught</a:t>
            </a:r>
            <a:endParaRPr lang="en-US" sz="1400" dirty="0"/>
          </a:p>
        </p:txBody>
      </p:sp>
      <p:sp>
        <p:nvSpPr>
          <p:cNvPr id="21" name="Shape 19"/>
          <p:cNvSpPr/>
          <p:nvPr/>
        </p:nvSpPr>
        <p:spPr>
          <a:xfrm>
            <a:off x="7543800" y="1691640"/>
            <a:ext cx="685800" cy="685800"/>
          </a:xfrm>
          <a:prstGeom prst="ellipse">
            <a:avLst/>
          </a:prstGeom>
          <a:solidFill>
            <a:srgbClr val="0F766E"/>
          </a:solidFill>
          <a:ln w="12700">
            <a:solidFill>
              <a:srgbClr val="0F766E"/>
            </a:solidFill>
            <a:prstDash val="solid"/>
          </a:ln>
        </p:spPr>
      </p:sp>
      <p:pic>
        <p:nvPicPr>
          <p:cNvPr id="22" name="Image 0" descr="preencoded.png">    </p:cNvPr>
          <p:cNvPicPr>
            <a:picLocks noChangeAspect="1"/>
          </p:cNvPicPr>
          <p:nvPr/>
        </p:nvPicPr>
        <p:blipFill>
          <a:blip r:embed="rId1"/>
          <a:stretch>
            <a:fillRect/>
          </a:stretch>
        </p:blipFill>
        <p:spPr>
          <a:xfrm>
            <a:off x="7694676" y="1842516"/>
            <a:ext cx="384048" cy="384048"/>
          </a:xfrm>
          <a:prstGeom prst="rect">
            <a:avLst/>
          </a:prstGeom>
        </p:spPr>
      </p:pic>
      <p:sp>
        <p:nvSpPr>
          <p:cNvPr id="23" name="Text 20"/>
          <p:cNvSpPr txBox="1"/>
          <p:nvPr/>
        </p:nvSpPr>
        <p:spPr>
          <a:xfrm>
            <a:off x="8458200" y="1673352"/>
            <a:ext cx="3200400" cy="365760"/>
          </a:xfrm>
          <a:prstGeom prst="rect">
            <a:avLst/>
          </a:prstGeom>
          <a:noFill/>
          <a:ln/>
        </p:spPr>
        <p:txBody>
          <a:bodyPr wrap="square" lIns="0" tIns="0" rIns="0" bIns="0" rtlCol="0" anchor="t"/>
          <a:lstStyle/>
          <a:p>
            <a:pPr indent="0" marL="0">
              <a:buNone/>
            </a:pPr>
            <a:r>
              <a:rPr lang="en-US" sz="1700" b="1" dirty="0">
                <a:solidFill>
                  <a:srgbClr val="0B1220"/>
                </a:solidFill>
                <a:latin typeface="Avenir Next" pitchFamily="34" charset="0"/>
                <a:ea typeface="Avenir Next" pitchFamily="34" charset="-122"/>
                <a:cs typeface="Avenir Next" pitchFamily="34" charset="-120"/>
              </a:rPr>
              <a:t>Only 7 false alarms</a:t>
            </a:r>
            <a:endParaRPr lang="en-US" sz="1700" dirty="0"/>
          </a:p>
        </p:txBody>
      </p:sp>
      <p:sp>
        <p:nvSpPr>
          <p:cNvPr id="24" name="Text 21"/>
          <p:cNvSpPr txBox="1"/>
          <p:nvPr/>
        </p:nvSpPr>
        <p:spPr>
          <a:xfrm>
            <a:off x="8458200" y="2057400"/>
            <a:ext cx="3200400" cy="54864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out of 42,648 legitimate transactions (0.016%)</a:t>
            </a:r>
            <a:endParaRPr lang="en-US" sz="1400" dirty="0"/>
          </a:p>
        </p:txBody>
      </p:sp>
      <p:sp>
        <p:nvSpPr>
          <p:cNvPr id="25" name="Shape 22"/>
          <p:cNvSpPr/>
          <p:nvPr/>
        </p:nvSpPr>
        <p:spPr>
          <a:xfrm>
            <a:off x="7543800" y="2971800"/>
            <a:ext cx="685800" cy="685800"/>
          </a:xfrm>
          <a:prstGeom prst="ellipse">
            <a:avLst/>
          </a:prstGeom>
          <a:solidFill>
            <a:srgbClr val="FDE7E2"/>
          </a:solidFill>
          <a:ln w="12700">
            <a:solidFill>
              <a:srgbClr val="FDE7E2"/>
            </a:solidFill>
            <a:prstDash val="solid"/>
          </a:ln>
        </p:spPr>
      </p:sp>
      <p:pic>
        <p:nvPicPr>
          <p:cNvPr id="26" name="Image 1" descr="preencoded.png">    </p:cNvPr>
          <p:cNvPicPr>
            <a:picLocks noChangeAspect="1"/>
          </p:cNvPicPr>
          <p:nvPr/>
        </p:nvPicPr>
        <p:blipFill>
          <a:blip r:embed="rId2"/>
          <a:stretch>
            <a:fillRect/>
          </a:stretch>
        </p:blipFill>
        <p:spPr>
          <a:xfrm>
            <a:off x="7694676" y="3122676"/>
            <a:ext cx="384048" cy="384048"/>
          </a:xfrm>
          <a:prstGeom prst="rect">
            <a:avLst/>
          </a:prstGeom>
        </p:spPr>
      </p:pic>
      <p:sp>
        <p:nvSpPr>
          <p:cNvPr id="27" name="Text 23"/>
          <p:cNvSpPr txBox="1"/>
          <p:nvPr/>
        </p:nvSpPr>
        <p:spPr>
          <a:xfrm>
            <a:off x="8458200" y="2953512"/>
            <a:ext cx="3200400" cy="365760"/>
          </a:xfrm>
          <a:prstGeom prst="rect">
            <a:avLst/>
          </a:prstGeom>
          <a:noFill/>
          <a:ln/>
        </p:spPr>
        <p:txBody>
          <a:bodyPr wrap="square" lIns="0" tIns="0" rIns="0" bIns="0" rtlCol="0" anchor="t"/>
          <a:lstStyle/>
          <a:p>
            <a:pPr indent="0" marL="0">
              <a:buNone/>
            </a:pPr>
            <a:r>
              <a:rPr lang="en-US" sz="1700" b="1" dirty="0">
                <a:solidFill>
                  <a:srgbClr val="0B1220"/>
                </a:solidFill>
                <a:latin typeface="Avenir Next" pitchFamily="34" charset="0"/>
                <a:ea typeface="Avenir Next" pitchFamily="34" charset="-122"/>
                <a:cs typeface="Avenir Next" pitchFamily="34" charset="-120"/>
              </a:rPr>
              <a:t>15 frauds missed</a:t>
            </a:r>
            <a:endParaRPr lang="en-US" sz="1700" dirty="0"/>
          </a:p>
        </p:txBody>
      </p:sp>
      <p:sp>
        <p:nvSpPr>
          <p:cNvPr id="28" name="Text 24"/>
          <p:cNvSpPr txBox="1"/>
          <p:nvPr/>
        </p:nvSpPr>
        <p:spPr>
          <a:xfrm>
            <a:off x="8458200" y="3337560"/>
            <a:ext cx="3200400" cy="54864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the main cost to reduce in future work</a:t>
            </a:r>
            <a:endParaRPr lang="en-US" sz="1400" dirty="0"/>
          </a:p>
        </p:txBody>
      </p:sp>
      <p:sp>
        <p:nvSpPr>
          <p:cNvPr id="29" name="Shape 25"/>
          <p:cNvSpPr/>
          <p:nvPr/>
        </p:nvSpPr>
        <p:spPr>
          <a:xfrm>
            <a:off x="7543800" y="4251960"/>
            <a:ext cx="685800" cy="685800"/>
          </a:xfrm>
          <a:prstGeom prst="ellipse">
            <a:avLst/>
          </a:prstGeom>
          <a:solidFill>
            <a:srgbClr val="1E293B"/>
          </a:solidFill>
          <a:ln w="12700">
            <a:solidFill>
              <a:srgbClr val="1E293B"/>
            </a:solidFill>
            <a:prstDash val="solid"/>
          </a:ln>
        </p:spPr>
      </p:sp>
      <p:pic>
        <p:nvPicPr>
          <p:cNvPr id="30" name="Image 2" descr="preencoded.png">    </p:cNvPr>
          <p:cNvPicPr>
            <a:picLocks noChangeAspect="1"/>
          </p:cNvPicPr>
          <p:nvPr/>
        </p:nvPicPr>
        <p:blipFill>
          <a:blip r:embed="rId3"/>
          <a:stretch>
            <a:fillRect/>
          </a:stretch>
        </p:blipFill>
        <p:spPr>
          <a:xfrm>
            <a:off x="7694676" y="4402836"/>
            <a:ext cx="384048" cy="384048"/>
          </a:xfrm>
          <a:prstGeom prst="rect">
            <a:avLst/>
          </a:prstGeom>
        </p:spPr>
      </p:pic>
      <p:sp>
        <p:nvSpPr>
          <p:cNvPr id="31" name="Text 26"/>
          <p:cNvSpPr txBox="1"/>
          <p:nvPr/>
        </p:nvSpPr>
        <p:spPr>
          <a:xfrm>
            <a:off x="8458200" y="4233672"/>
            <a:ext cx="3200400" cy="365760"/>
          </a:xfrm>
          <a:prstGeom prst="rect">
            <a:avLst/>
          </a:prstGeom>
          <a:noFill/>
          <a:ln/>
        </p:spPr>
        <p:txBody>
          <a:bodyPr wrap="square" lIns="0" tIns="0" rIns="0" bIns="0" rtlCol="0" anchor="t"/>
          <a:lstStyle/>
          <a:p>
            <a:pPr indent="0" marL="0">
              <a:buNone/>
            </a:pPr>
            <a:r>
              <a:rPr lang="en-US" sz="1700" b="1" dirty="0">
                <a:solidFill>
                  <a:srgbClr val="0B1220"/>
                </a:solidFill>
                <a:latin typeface="Avenir Next" pitchFamily="34" charset="0"/>
                <a:ea typeface="Avenir Next" pitchFamily="34" charset="-122"/>
                <a:cs typeface="Avenir Next" pitchFamily="34" charset="-120"/>
              </a:rPr>
              <a:t>Accuracy is 99.95%</a:t>
            </a:r>
            <a:endParaRPr lang="en-US" sz="1700" dirty="0"/>
          </a:p>
        </p:txBody>
      </p:sp>
      <p:sp>
        <p:nvSpPr>
          <p:cNvPr id="32" name="Text 27"/>
          <p:cNvSpPr txBox="1"/>
          <p:nvPr/>
        </p:nvSpPr>
        <p:spPr>
          <a:xfrm>
            <a:off x="8458200" y="4617720"/>
            <a:ext cx="3200400" cy="54864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but recall and precision tell the real story</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Helvetica Neue"/>
                <a:ea typeface="Helvetica Neue"/>
                <a:cs typeface="Helvetica Neue"/>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400" b="1" dirty="0">
                <a:solidFill>
                  <a:srgbClr val="0B1220"/>
                </a:solidFill>
                <a:latin typeface="Avenir Next" pitchFamily="34" charset="0"/>
                <a:ea typeface="Avenir Next" pitchFamily="34" charset="-122"/>
                <a:cs typeface="Avenir Next" pitchFamily="34" charset="-120"/>
              </a:rPr>
              <a:t>How a transaction gets scored</a:t>
            </a:r>
            <a:endParaRPr lang="en-US" sz="3400" dirty="0"/>
          </a:p>
        </p:txBody>
      </p:sp>
      <p:sp>
        <p:nvSpPr>
          <p:cNvPr id="3" name="Shape 1"/>
          <p:cNvSpPr/>
          <p:nvPr/>
        </p:nvSpPr>
        <p:spPr>
          <a:xfrm>
            <a:off x="548640" y="1600200"/>
            <a:ext cx="1658569" cy="1600200"/>
          </a:xfrm>
          <a:prstGeom prst="roundRect">
            <a:avLst>
              <a:gd name="adj" fmla="val 6857"/>
            </a:avLst>
          </a:prstGeom>
          <a:solidFill>
            <a:srgbClr val="F1F5F9"/>
          </a:solidFill>
          <a:ln w="12700">
            <a:solidFill>
              <a:srgbClr val="F1F5F9"/>
            </a:solidFill>
            <a:prstDash val="solid"/>
          </a:ln>
        </p:spPr>
      </p:sp>
      <p:sp>
        <p:nvSpPr>
          <p:cNvPr id="4" name="Text 2"/>
          <p:cNvSpPr txBox="1"/>
          <p:nvPr/>
        </p:nvSpPr>
        <p:spPr>
          <a:xfrm>
            <a:off x="731520" y="1783080"/>
            <a:ext cx="1292809" cy="411480"/>
          </a:xfrm>
          <a:prstGeom prst="rect">
            <a:avLst/>
          </a:prstGeom>
          <a:noFill/>
          <a:ln/>
        </p:spPr>
        <p:txBody>
          <a:bodyPr wrap="square" lIns="0" tIns="0" rIns="0" bIns="0" rtlCol="0" anchor="t"/>
          <a:lstStyle/>
          <a:p>
            <a:pPr indent="0" marL="0">
              <a:buNone/>
            </a:pPr>
            <a:r>
              <a:rPr lang="en-US" sz="1600" b="1" dirty="0">
                <a:solidFill>
                  <a:srgbClr val="0B1220"/>
                </a:solidFill>
                <a:latin typeface="Avenir Next" pitchFamily="34" charset="0"/>
                <a:ea typeface="Avenir Next" pitchFamily="34" charset="-122"/>
                <a:cs typeface="Avenir Next" pitchFamily="34" charset="-120"/>
              </a:rPr>
              <a:t>Dashboard</a:t>
            </a:r>
            <a:endParaRPr lang="en-US" sz="1600" dirty="0"/>
          </a:p>
        </p:txBody>
      </p:sp>
      <p:sp>
        <p:nvSpPr>
          <p:cNvPr id="5" name="Text 3"/>
          <p:cNvSpPr txBox="1"/>
          <p:nvPr/>
        </p:nvSpPr>
        <p:spPr>
          <a:xfrm>
            <a:off x="731520" y="2240280"/>
            <a:ext cx="1292809" cy="822960"/>
          </a:xfrm>
          <a:prstGeom prst="rect">
            <a:avLst/>
          </a:prstGeom>
          <a:noFill/>
          <a:ln/>
        </p:spPr>
        <p:txBody>
          <a:bodyPr wrap="square" lIns="0" tIns="0" rIns="0" bIns="0" rtlCol="0" anchor="t"/>
          <a:lstStyle/>
          <a:p>
            <a:pPr indent="0" marL="0">
              <a:buNone/>
            </a:pPr>
            <a:r>
              <a:rPr lang="en-US" sz="1300" dirty="0">
                <a:solidFill>
                  <a:srgbClr val="64748B"/>
                </a:solidFill>
                <a:latin typeface="Helvetica Neue" pitchFamily="34" charset="0"/>
                <a:ea typeface="Helvetica Neue" pitchFamily="34" charset="-122"/>
                <a:cs typeface="Helvetica Neue" pitchFamily="34" charset="-120"/>
              </a:rPr>
              <a:t>picks a row</a:t>
            </a:r>
            <a:endParaRPr lang="en-US" sz="1300" dirty="0"/>
          </a:p>
        </p:txBody>
      </p:sp>
      <p:sp>
        <p:nvSpPr>
          <p:cNvPr id="6" name="Shape 4"/>
          <p:cNvSpPr/>
          <p:nvPr/>
        </p:nvSpPr>
        <p:spPr>
          <a:xfrm>
            <a:off x="2435809" y="1600200"/>
            <a:ext cx="1658569" cy="1600200"/>
          </a:xfrm>
          <a:prstGeom prst="roundRect">
            <a:avLst>
              <a:gd name="adj" fmla="val 6857"/>
            </a:avLst>
          </a:prstGeom>
          <a:solidFill>
            <a:srgbClr val="F1F5F9"/>
          </a:solidFill>
          <a:ln w="12700">
            <a:solidFill>
              <a:srgbClr val="F1F5F9"/>
            </a:solidFill>
            <a:prstDash val="solid"/>
          </a:ln>
        </p:spPr>
      </p:sp>
      <p:sp>
        <p:nvSpPr>
          <p:cNvPr id="7" name="Text 5"/>
          <p:cNvSpPr txBox="1"/>
          <p:nvPr/>
        </p:nvSpPr>
        <p:spPr>
          <a:xfrm>
            <a:off x="2618689" y="1783080"/>
            <a:ext cx="1292809" cy="411480"/>
          </a:xfrm>
          <a:prstGeom prst="rect">
            <a:avLst/>
          </a:prstGeom>
          <a:noFill/>
          <a:ln/>
        </p:spPr>
        <p:txBody>
          <a:bodyPr wrap="square" lIns="0" tIns="0" rIns="0" bIns="0" rtlCol="0" anchor="t"/>
          <a:lstStyle/>
          <a:p>
            <a:pPr indent="0" marL="0">
              <a:buNone/>
            </a:pPr>
            <a:r>
              <a:rPr lang="en-US" sz="1600" b="1" dirty="0">
                <a:solidFill>
                  <a:srgbClr val="0B1220"/>
                </a:solidFill>
                <a:latin typeface="Avenir Next" pitchFamily="34" charset="0"/>
                <a:ea typeface="Avenir Next" pitchFamily="34" charset="-122"/>
                <a:cs typeface="Avenir Next" pitchFamily="34" charset="-120"/>
              </a:rPr>
              <a:t>/predict</a:t>
            </a:r>
            <a:endParaRPr lang="en-US" sz="1600" dirty="0"/>
          </a:p>
        </p:txBody>
      </p:sp>
      <p:sp>
        <p:nvSpPr>
          <p:cNvPr id="8" name="Text 6"/>
          <p:cNvSpPr txBox="1"/>
          <p:nvPr/>
        </p:nvSpPr>
        <p:spPr>
          <a:xfrm>
            <a:off x="2618689" y="2240280"/>
            <a:ext cx="1292809" cy="822960"/>
          </a:xfrm>
          <a:prstGeom prst="rect">
            <a:avLst/>
          </a:prstGeom>
          <a:noFill/>
          <a:ln/>
        </p:spPr>
        <p:txBody>
          <a:bodyPr wrap="square" lIns="0" tIns="0" rIns="0" bIns="0" rtlCol="0" anchor="t"/>
          <a:lstStyle/>
          <a:p>
            <a:pPr indent="0" marL="0">
              <a:buNone/>
            </a:pPr>
            <a:r>
              <a:rPr lang="en-US" sz="1300" dirty="0">
                <a:solidFill>
                  <a:srgbClr val="64748B"/>
                </a:solidFill>
                <a:latin typeface="Helvetica Neue" pitchFamily="34" charset="0"/>
                <a:ea typeface="Helvetica Neue" pitchFamily="34" charset="-122"/>
                <a:cs typeface="Helvetica Neue" pitchFamily="34" charset="-120"/>
              </a:rPr>
              <a:t>POST with 30 named features</a:t>
            </a:r>
            <a:endParaRPr lang="en-US" sz="1300" dirty="0"/>
          </a:p>
        </p:txBody>
      </p:sp>
      <p:sp>
        <p:nvSpPr>
          <p:cNvPr id="9" name="Shape 7"/>
          <p:cNvSpPr/>
          <p:nvPr/>
        </p:nvSpPr>
        <p:spPr>
          <a:xfrm>
            <a:off x="4322978" y="1600200"/>
            <a:ext cx="1658569" cy="1600200"/>
          </a:xfrm>
          <a:prstGeom prst="roundRect">
            <a:avLst>
              <a:gd name="adj" fmla="val 6857"/>
            </a:avLst>
          </a:prstGeom>
          <a:solidFill>
            <a:srgbClr val="F1F5F9"/>
          </a:solidFill>
          <a:ln w="12700">
            <a:solidFill>
              <a:srgbClr val="F1F5F9"/>
            </a:solidFill>
            <a:prstDash val="solid"/>
          </a:ln>
        </p:spPr>
      </p:sp>
      <p:sp>
        <p:nvSpPr>
          <p:cNvPr id="10" name="Text 8"/>
          <p:cNvSpPr txBox="1"/>
          <p:nvPr/>
        </p:nvSpPr>
        <p:spPr>
          <a:xfrm>
            <a:off x="4505858" y="1783080"/>
            <a:ext cx="1292809" cy="411480"/>
          </a:xfrm>
          <a:prstGeom prst="rect">
            <a:avLst/>
          </a:prstGeom>
          <a:noFill/>
          <a:ln/>
        </p:spPr>
        <p:txBody>
          <a:bodyPr wrap="square" lIns="0" tIns="0" rIns="0" bIns="0" rtlCol="0" anchor="t"/>
          <a:lstStyle/>
          <a:p>
            <a:pPr indent="0" marL="0">
              <a:buNone/>
            </a:pPr>
            <a:r>
              <a:rPr lang="en-US" sz="1600" b="1" dirty="0">
                <a:solidFill>
                  <a:srgbClr val="0B1220"/>
                </a:solidFill>
                <a:latin typeface="Avenir Next" pitchFamily="34" charset="0"/>
                <a:ea typeface="Avenir Next" pitchFamily="34" charset="-122"/>
                <a:cs typeface="Avenir Next" pitchFamily="34" charset="-120"/>
              </a:rPr>
              <a:t>Validate</a:t>
            </a:r>
            <a:endParaRPr lang="en-US" sz="1600" dirty="0"/>
          </a:p>
        </p:txBody>
      </p:sp>
      <p:sp>
        <p:nvSpPr>
          <p:cNvPr id="11" name="Text 9"/>
          <p:cNvSpPr txBox="1"/>
          <p:nvPr/>
        </p:nvSpPr>
        <p:spPr>
          <a:xfrm>
            <a:off x="4505858" y="2240280"/>
            <a:ext cx="1292809" cy="822960"/>
          </a:xfrm>
          <a:prstGeom prst="rect">
            <a:avLst/>
          </a:prstGeom>
          <a:noFill/>
          <a:ln/>
        </p:spPr>
        <p:txBody>
          <a:bodyPr wrap="square" lIns="0" tIns="0" rIns="0" bIns="0" rtlCol="0" anchor="t"/>
          <a:lstStyle/>
          <a:p>
            <a:pPr indent="0" marL="0">
              <a:buNone/>
            </a:pPr>
            <a:r>
              <a:rPr lang="en-US" sz="1300" dirty="0">
                <a:solidFill>
                  <a:srgbClr val="64748B"/>
                </a:solidFill>
                <a:latin typeface="Helvetica Neue" pitchFamily="34" charset="0"/>
                <a:ea typeface="Helvetica Neue" pitchFamily="34" charset="-122"/>
                <a:cs typeface="Helvetica Neue" pitchFamily="34" charset="-120"/>
              </a:rPr>
              <a:t>missing / extra / non-numeric → 422</a:t>
            </a:r>
            <a:endParaRPr lang="en-US" sz="1300" dirty="0"/>
          </a:p>
        </p:txBody>
      </p:sp>
      <p:sp>
        <p:nvSpPr>
          <p:cNvPr id="12" name="Shape 10"/>
          <p:cNvSpPr/>
          <p:nvPr/>
        </p:nvSpPr>
        <p:spPr>
          <a:xfrm>
            <a:off x="6210148" y="1600200"/>
            <a:ext cx="1658569" cy="1600200"/>
          </a:xfrm>
          <a:prstGeom prst="roundRect">
            <a:avLst>
              <a:gd name="adj" fmla="val 6857"/>
            </a:avLst>
          </a:prstGeom>
          <a:solidFill>
            <a:srgbClr val="F1F5F9"/>
          </a:solidFill>
          <a:ln w="12700">
            <a:solidFill>
              <a:srgbClr val="F1F5F9"/>
            </a:solidFill>
            <a:prstDash val="solid"/>
          </a:ln>
        </p:spPr>
      </p:sp>
      <p:sp>
        <p:nvSpPr>
          <p:cNvPr id="13" name="Text 11"/>
          <p:cNvSpPr txBox="1"/>
          <p:nvPr/>
        </p:nvSpPr>
        <p:spPr>
          <a:xfrm>
            <a:off x="6393028" y="1783080"/>
            <a:ext cx="1292809" cy="411480"/>
          </a:xfrm>
          <a:prstGeom prst="rect">
            <a:avLst/>
          </a:prstGeom>
          <a:noFill/>
          <a:ln/>
        </p:spPr>
        <p:txBody>
          <a:bodyPr wrap="square" lIns="0" tIns="0" rIns="0" bIns="0" rtlCol="0" anchor="t"/>
          <a:lstStyle/>
          <a:p>
            <a:pPr indent="0" marL="0">
              <a:buNone/>
            </a:pPr>
            <a:r>
              <a:rPr lang="en-US" sz="1600" b="1" dirty="0">
                <a:solidFill>
                  <a:srgbClr val="0B1220"/>
                </a:solidFill>
                <a:latin typeface="Avenir Next" pitchFamily="34" charset="0"/>
                <a:ea typeface="Avenir Next" pitchFamily="34" charset="-122"/>
                <a:cs typeface="Avenir Next" pitchFamily="34" charset="-120"/>
              </a:rPr>
              <a:t>Scale</a:t>
            </a:r>
            <a:endParaRPr lang="en-US" sz="1600" dirty="0"/>
          </a:p>
        </p:txBody>
      </p:sp>
      <p:sp>
        <p:nvSpPr>
          <p:cNvPr id="14" name="Text 12"/>
          <p:cNvSpPr txBox="1"/>
          <p:nvPr/>
        </p:nvSpPr>
        <p:spPr>
          <a:xfrm>
            <a:off x="6393028" y="2240280"/>
            <a:ext cx="1292809" cy="822960"/>
          </a:xfrm>
          <a:prstGeom prst="rect">
            <a:avLst/>
          </a:prstGeom>
          <a:noFill/>
          <a:ln/>
        </p:spPr>
        <p:txBody>
          <a:bodyPr wrap="square" lIns="0" tIns="0" rIns="0" bIns="0" rtlCol="0" anchor="t"/>
          <a:lstStyle/>
          <a:p>
            <a:pPr indent="0" marL="0">
              <a:buNone/>
            </a:pPr>
            <a:r>
              <a:rPr lang="en-US" sz="1300" dirty="0">
                <a:solidFill>
                  <a:srgbClr val="64748B"/>
                </a:solidFill>
                <a:latin typeface="Helvetica Neue" pitchFamily="34" charset="0"/>
                <a:ea typeface="Helvetica Neue" pitchFamily="34" charset="-122"/>
                <a:cs typeface="Helvetica Neue" pitchFamily="34" charset="-120"/>
              </a:rPr>
              <a:t>saved scaler</a:t>
            </a:r>
            <a:endParaRPr lang="en-US" sz="1300" dirty="0"/>
          </a:p>
        </p:txBody>
      </p:sp>
      <p:sp>
        <p:nvSpPr>
          <p:cNvPr id="15" name="Shape 13"/>
          <p:cNvSpPr/>
          <p:nvPr/>
        </p:nvSpPr>
        <p:spPr>
          <a:xfrm>
            <a:off x="8097317" y="1600200"/>
            <a:ext cx="1658569" cy="1600200"/>
          </a:xfrm>
          <a:prstGeom prst="roundRect">
            <a:avLst>
              <a:gd name="adj" fmla="val 6857"/>
            </a:avLst>
          </a:prstGeom>
          <a:solidFill>
            <a:srgbClr val="EE4C2C"/>
          </a:solidFill>
          <a:ln w="12700">
            <a:solidFill>
              <a:srgbClr val="EE4C2C"/>
            </a:solidFill>
            <a:prstDash val="solid"/>
          </a:ln>
        </p:spPr>
      </p:sp>
      <p:sp>
        <p:nvSpPr>
          <p:cNvPr id="16" name="Text 14"/>
          <p:cNvSpPr txBox="1"/>
          <p:nvPr/>
        </p:nvSpPr>
        <p:spPr>
          <a:xfrm>
            <a:off x="8280197" y="1783080"/>
            <a:ext cx="1292809" cy="411480"/>
          </a:xfrm>
          <a:prstGeom prst="rect">
            <a:avLst/>
          </a:prstGeom>
          <a:noFill/>
          <a:ln/>
        </p:spPr>
        <p:txBody>
          <a:bodyPr wrap="square" lIns="0" tIns="0" rIns="0" bIns="0" rtlCol="0" anchor="t"/>
          <a:lstStyle/>
          <a:p>
            <a:pPr indent="0" marL="0">
              <a:buNone/>
            </a:pPr>
            <a:r>
              <a:rPr lang="en-US" sz="1600" b="1" dirty="0">
                <a:solidFill>
                  <a:srgbClr val="FFFFFF"/>
                </a:solidFill>
                <a:latin typeface="Avenir Next" pitchFamily="34" charset="0"/>
                <a:ea typeface="Avenir Next" pitchFamily="34" charset="-122"/>
                <a:cs typeface="Avenir Next" pitchFamily="34" charset="-120"/>
              </a:rPr>
              <a:t>FraudNet</a:t>
            </a:r>
            <a:endParaRPr lang="en-US" sz="1600" dirty="0"/>
          </a:p>
        </p:txBody>
      </p:sp>
      <p:sp>
        <p:nvSpPr>
          <p:cNvPr id="17" name="Text 15"/>
          <p:cNvSpPr txBox="1"/>
          <p:nvPr/>
        </p:nvSpPr>
        <p:spPr>
          <a:xfrm>
            <a:off x="8280197" y="2240280"/>
            <a:ext cx="1292809" cy="822960"/>
          </a:xfrm>
          <a:prstGeom prst="rect">
            <a:avLst/>
          </a:prstGeom>
          <a:noFill/>
          <a:ln/>
        </p:spPr>
        <p:txBody>
          <a:bodyPr wrap="square" lIns="0" tIns="0" rIns="0" bIns="0" rtlCol="0" anchor="t"/>
          <a:lstStyle/>
          <a:p>
            <a:pPr indent="0" marL="0">
              <a:buNone/>
            </a:pPr>
            <a:r>
              <a:rPr lang="en-US" sz="1300" dirty="0">
                <a:solidFill>
                  <a:srgbClr val="FFFFFF"/>
                </a:solidFill>
                <a:latin typeface="Helvetica Neue" pitchFamily="34" charset="0"/>
                <a:ea typeface="Helvetica Neue" pitchFamily="34" charset="-122"/>
                <a:cs typeface="Helvetica Neue" pitchFamily="34" charset="-120"/>
              </a:rPr>
              <a:t>logit → sigmoid</a:t>
            </a:r>
            <a:endParaRPr lang="en-US" sz="1300" dirty="0"/>
          </a:p>
        </p:txBody>
      </p:sp>
      <p:sp>
        <p:nvSpPr>
          <p:cNvPr id="18" name="Shape 16"/>
          <p:cNvSpPr/>
          <p:nvPr/>
        </p:nvSpPr>
        <p:spPr>
          <a:xfrm>
            <a:off x="9984486" y="1600200"/>
            <a:ext cx="1658569" cy="1600200"/>
          </a:xfrm>
          <a:prstGeom prst="roundRect">
            <a:avLst>
              <a:gd name="adj" fmla="val 6857"/>
            </a:avLst>
          </a:prstGeom>
          <a:solidFill>
            <a:srgbClr val="F1F5F9"/>
          </a:solidFill>
          <a:ln w="12700">
            <a:solidFill>
              <a:srgbClr val="F1F5F9"/>
            </a:solidFill>
            <a:prstDash val="solid"/>
          </a:ln>
        </p:spPr>
      </p:sp>
      <p:sp>
        <p:nvSpPr>
          <p:cNvPr id="19" name="Text 17"/>
          <p:cNvSpPr txBox="1"/>
          <p:nvPr/>
        </p:nvSpPr>
        <p:spPr>
          <a:xfrm>
            <a:off x="10167366" y="1783080"/>
            <a:ext cx="1292809" cy="411480"/>
          </a:xfrm>
          <a:prstGeom prst="rect">
            <a:avLst/>
          </a:prstGeom>
          <a:noFill/>
          <a:ln/>
        </p:spPr>
        <p:txBody>
          <a:bodyPr wrap="square" lIns="0" tIns="0" rIns="0" bIns="0" rtlCol="0" anchor="t"/>
          <a:lstStyle/>
          <a:p>
            <a:pPr indent="0" marL="0">
              <a:buNone/>
            </a:pPr>
            <a:r>
              <a:rPr lang="en-US" sz="1600" b="1" dirty="0">
                <a:solidFill>
                  <a:srgbClr val="0B1220"/>
                </a:solidFill>
                <a:latin typeface="Avenir Next" pitchFamily="34" charset="0"/>
                <a:ea typeface="Avenir Next" pitchFamily="34" charset="-122"/>
                <a:cs typeface="Avenir Next" pitchFamily="34" charset="-120"/>
              </a:rPr>
              <a:t>Decide</a:t>
            </a:r>
            <a:endParaRPr lang="en-US" sz="1600" dirty="0"/>
          </a:p>
        </p:txBody>
      </p:sp>
      <p:sp>
        <p:nvSpPr>
          <p:cNvPr id="20" name="Text 18"/>
          <p:cNvSpPr txBox="1"/>
          <p:nvPr/>
        </p:nvSpPr>
        <p:spPr>
          <a:xfrm>
            <a:off x="10167366" y="2240280"/>
            <a:ext cx="1292809" cy="822960"/>
          </a:xfrm>
          <a:prstGeom prst="rect">
            <a:avLst/>
          </a:prstGeom>
          <a:noFill/>
          <a:ln/>
        </p:spPr>
        <p:txBody>
          <a:bodyPr wrap="square" lIns="0" tIns="0" rIns="0" bIns="0" rtlCol="0" anchor="t"/>
          <a:lstStyle/>
          <a:p>
            <a:pPr indent="0" marL="0">
              <a:buNone/>
            </a:pPr>
            <a:r>
              <a:rPr lang="en-US" sz="1300" dirty="0">
                <a:solidFill>
                  <a:srgbClr val="64748B"/>
                </a:solidFill>
                <a:latin typeface="Helvetica Neue" pitchFamily="34" charset="0"/>
                <a:ea typeface="Helvetica Neue" pitchFamily="34" charset="-122"/>
                <a:cs typeface="Helvetica Neue" pitchFamily="34" charset="-120"/>
              </a:rPr>
              <a:t>score ≥ 0.998 → REVIEW</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3566160"/>
          <a:ext cx="11094415" cy="914400"/>
        </p:xfrm>
        <a:graphic>
          <a:graphicData uri="http://schemas.openxmlformats.org/drawingml/2006/table">
            <a:tbl>
              <a:tblPr/>
              <a:tblGrid>
                <a:gridCol w="1463040"/>
                <a:gridCol w="2194560"/>
                <a:gridCol w="7436815"/>
              </a:tblGrid>
              <a:tr h="384048">
                <a:tc>
                  <a:txBody>
                    <a:bodyPr/>
                    <a:lstStyle/>
                    <a:p>
                      <a:pPr indent="0" marL="0">
                        <a:buNone/>
                      </a:pPr>
                      <a:r>
                        <a:rPr lang="en-US" sz="1400" b="1" dirty="0">
                          <a:solidFill>
                            <a:srgbClr val="FFFFFF"/>
                          </a:solidFill>
                          <a:latin typeface="Avenir Next" pitchFamily="34" charset="0"/>
                          <a:ea typeface="Avenir Next" pitchFamily="34" charset="-122"/>
                          <a:cs typeface="Avenir Next" pitchFamily="34" charset="-120"/>
                        </a:rPr>
                        <a:t>Method</a:t>
                      </a:r>
                      <a:endParaRPr lang="en-US" sz="1400" dirty="0">
                        <a:latin typeface="Avenir Next" charset="0"/>
                        <a:ea typeface="Avenir Next" charset="0"/>
                        <a:cs typeface="Avenir Next" charset="0"/>
                      </a:endParaRPr>
                    </a:p>
                  </a:txBody>
                  <a:tcPr marL="137160" marR="13716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400" b="1" dirty="0">
                          <a:solidFill>
                            <a:srgbClr val="FFFFFF"/>
                          </a:solidFill>
                          <a:latin typeface="Avenir Next" pitchFamily="34" charset="0"/>
                          <a:ea typeface="Avenir Next" pitchFamily="34" charset="-122"/>
                          <a:cs typeface="Avenir Next" pitchFamily="34" charset="-120"/>
                        </a:rPr>
                        <a:t>Endpoint</a:t>
                      </a:r>
                      <a:endParaRPr lang="en-US" sz="1400" dirty="0">
                        <a:latin typeface="Avenir Next" charset="0"/>
                        <a:ea typeface="Avenir Next" charset="0"/>
                        <a:cs typeface="Avenir Next" charset="0"/>
                      </a:endParaRPr>
                    </a:p>
                  </a:txBody>
                  <a:tcPr marL="137160" marR="13716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tc>
                  <a:txBody>
                    <a:bodyPr/>
                    <a:lstStyle/>
                    <a:p>
                      <a:pPr indent="0" marL="0">
                        <a:buNone/>
                      </a:pPr>
                      <a:r>
                        <a:rPr lang="en-US" sz="1400" b="1" dirty="0">
                          <a:solidFill>
                            <a:srgbClr val="FFFFFF"/>
                          </a:solidFill>
                          <a:latin typeface="Avenir Next" pitchFamily="34" charset="0"/>
                          <a:ea typeface="Avenir Next" pitchFamily="34" charset="-122"/>
                          <a:cs typeface="Avenir Next" pitchFamily="34" charset="-120"/>
                        </a:rPr>
                        <a:t>Purpose</a:t>
                      </a:r>
                      <a:endParaRPr lang="en-US" sz="1400" dirty="0">
                        <a:latin typeface="Avenir Next" charset="0"/>
                        <a:ea typeface="Avenir Next" charset="0"/>
                        <a:cs typeface="Avenir Next" charset="0"/>
                      </a:endParaRPr>
                    </a:p>
                  </a:txBody>
                  <a:tcPr marL="137160" marR="13716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E293B"/>
                    </a:solidFill>
                  </a:tcPr>
                </a:tc>
              </a:tr>
              <a:tr h="384048">
                <a:tc>
                  <a:txBody>
                    <a:bodyPr/>
                    <a:lstStyle/>
                    <a:p>
                      <a:pPr indent="0" marL="0">
                        <a:buNone/>
                      </a:pPr>
                      <a:r>
                        <a:rPr lang="en-US" sz="1400" dirty="0">
                          <a:solidFill>
                            <a:srgbClr val="1E293B"/>
                          </a:solidFill>
                          <a:latin typeface="Helvetica Neue" pitchFamily="34" charset="0"/>
                          <a:ea typeface="Helvetica Neue" pitchFamily="34" charset="-122"/>
                          <a:cs typeface="Helvetica Neue" pitchFamily="34" charset="-120"/>
                        </a:rPr>
                        <a:t>GET</a:t>
                      </a:r>
                      <a:endParaRPr lang="en-US" sz="1400" dirty="0">
                        <a:latin typeface="Helvetica Neue" charset="0"/>
                        <a:ea typeface="Helvetica Neue" charset="0"/>
                        <a:cs typeface="Helvetica Neue" charset="0"/>
                      </a:endParaRPr>
                    </a:p>
                  </a:txBody>
                  <a:tcPr marL="137160" marR="13716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Helvetica Neue" pitchFamily="34" charset="0"/>
                          <a:ea typeface="Helvetica Neue" pitchFamily="34" charset="-122"/>
                          <a:cs typeface="Helvetica Neue" pitchFamily="34" charset="-120"/>
                        </a:rPr>
                        <a:t>/health</a:t>
                      </a:r>
                      <a:endParaRPr lang="en-US" sz="1400" dirty="0">
                        <a:latin typeface="Helvetica Neue" charset="0"/>
                        <a:ea typeface="Helvetica Neue" charset="0"/>
                        <a:cs typeface="Helvetica Neue" charset="0"/>
                      </a:endParaRPr>
                    </a:p>
                  </a:txBody>
                  <a:tcPr marL="137160" marR="13716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Helvetica Neue" pitchFamily="34" charset="0"/>
                          <a:ea typeface="Helvetica Neue" pitchFamily="34" charset="-122"/>
                          <a:cs typeface="Helvetica Neue" pitchFamily="34" charset="-120"/>
                        </a:rPr>
                        <a:t>Confirms the model is loaded</a:t>
                      </a:r>
                      <a:endParaRPr lang="en-US" sz="1400" dirty="0">
                        <a:latin typeface="Helvetica Neue" charset="0"/>
                        <a:ea typeface="Helvetica Neue" charset="0"/>
                        <a:cs typeface="Helvetica Neue" charset="0"/>
                      </a:endParaRPr>
                    </a:p>
                  </a:txBody>
                  <a:tcPr marL="137160" marR="13716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Helvetica Neue" pitchFamily="34" charset="0"/>
                          <a:ea typeface="Helvetica Neue" pitchFamily="34" charset="-122"/>
                          <a:cs typeface="Helvetica Neue" pitchFamily="34" charset="-120"/>
                        </a:rPr>
                        <a:t>POST</a:t>
                      </a:r>
                      <a:endParaRPr lang="en-US" sz="1400" dirty="0">
                        <a:latin typeface="Helvetica Neue" charset="0"/>
                        <a:ea typeface="Helvetica Neue" charset="0"/>
                        <a:cs typeface="Helvetica Neue" charset="0"/>
                      </a:endParaRPr>
                    </a:p>
                  </a:txBody>
                  <a:tcPr marL="137160" marR="13716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Helvetica Neue" pitchFamily="34" charset="0"/>
                          <a:ea typeface="Helvetica Neue" pitchFamily="34" charset="-122"/>
                          <a:cs typeface="Helvetica Neue" pitchFamily="34" charset="-120"/>
                        </a:rPr>
                        <a:t>/predict</a:t>
                      </a:r>
                      <a:endParaRPr lang="en-US" sz="1400" dirty="0">
                        <a:latin typeface="Helvetica Neue" charset="0"/>
                        <a:ea typeface="Helvetica Neue" charset="0"/>
                        <a:cs typeface="Helvetica Neue" charset="0"/>
                      </a:endParaRPr>
                    </a:p>
                  </a:txBody>
                  <a:tcPr marL="137160" marR="13716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Helvetica Neue" pitchFamily="34" charset="0"/>
                          <a:ea typeface="Helvetica Neue" pitchFamily="34" charset="-122"/>
                          <a:cs typeface="Helvetica Neue" pitchFamily="34" charset="-120"/>
                        </a:rPr>
                        <a:t>Scores one transaction → risk_score, threshold, decision</a:t>
                      </a:r>
                      <a:endParaRPr lang="en-US" sz="1400" dirty="0">
                        <a:latin typeface="Helvetica Neue" charset="0"/>
                        <a:ea typeface="Helvetica Neue" charset="0"/>
                        <a:cs typeface="Helvetica Neue" charset="0"/>
                      </a:endParaRPr>
                    </a:p>
                  </a:txBody>
                  <a:tcPr marL="137160" marR="13716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Helvetica Neue" pitchFamily="34" charset="0"/>
                          <a:ea typeface="Helvetica Neue" pitchFamily="34" charset="-122"/>
                          <a:cs typeface="Helvetica Neue" pitchFamily="34" charset="-120"/>
                        </a:rPr>
                        <a:t>GET</a:t>
                      </a:r>
                      <a:endParaRPr lang="en-US" sz="1400" dirty="0">
                        <a:latin typeface="Helvetica Neue" charset="0"/>
                        <a:ea typeface="Helvetica Neue" charset="0"/>
                        <a:cs typeface="Helvetica Neue" charset="0"/>
                      </a:endParaRPr>
                    </a:p>
                  </a:txBody>
                  <a:tcPr marL="137160" marR="13716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Helvetica Neue" pitchFamily="34" charset="0"/>
                          <a:ea typeface="Helvetica Neue" pitchFamily="34" charset="-122"/>
                          <a:cs typeface="Helvetica Neue" pitchFamily="34" charset="-120"/>
                        </a:rPr>
                        <a:t>/metrics</a:t>
                      </a:r>
                      <a:endParaRPr lang="en-US" sz="1400" dirty="0">
                        <a:latin typeface="Helvetica Neue" charset="0"/>
                        <a:ea typeface="Helvetica Neue" charset="0"/>
                        <a:cs typeface="Helvetica Neue" charset="0"/>
                      </a:endParaRPr>
                    </a:p>
                  </a:txBody>
                  <a:tcPr marL="137160" marR="13716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Helvetica Neue" pitchFamily="34" charset="0"/>
                          <a:ea typeface="Helvetica Neue" pitchFamily="34" charset="-122"/>
                          <a:cs typeface="Helvetica Neue" pitchFamily="34" charset="-120"/>
                        </a:rPr>
                        <a:t>Returns the saved test-set metrics</a:t>
                      </a:r>
                      <a:endParaRPr lang="en-US" sz="1400" dirty="0">
                        <a:latin typeface="Helvetica Neue" charset="0"/>
                        <a:ea typeface="Helvetica Neue" charset="0"/>
                        <a:cs typeface="Helvetica Neue" charset="0"/>
                      </a:endParaRPr>
                    </a:p>
                  </a:txBody>
                  <a:tcPr marL="137160" marR="13716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Helvetica Neue" pitchFamily="34" charset="0"/>
                          <a:ea typeface="Helvetica Neue" pitchFamily="34" charset="-122"/>
                          <a:cs typeface="Helvetica Neue" pitchFamily="34" charset="-120"/>
                        </a:rPr>
                        <a:t>GET</a:t>
                      </a:r>
                      <a:endParaRPr lang="en-US" sz="1400" dirty="0">
                        <a:latin typeface="Helvetica Neue" charset="0"/>
                        <a:ea typeface="Helvetica Neue" charset="0"/>
                        <a:cs typeface="Helvetica Neue" charset="0"/>
                      </a:endParaRPr>
                    </a:p>
                  </a:txBody>
                  <a:tcPr marL="137160" marR="13716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Helvetica Neue" pitchFamily="34" charset="0"/>
                          <a:ea typeface="Helvetica Neue" pitchFamily="34" charset="-122"/>
                          <a:cs typeface="Helvetica Neue" pitchFamily="34" charset="-120"/>
                        </a:rPr>
                        <a:t>/docs</a:t>
                      </a:r>
                      <a:endParaRPr lang="en-US" sz="1400" dirty="0">
                        <a:latin typeface="Helvetica Neue" charset="0"/>
                        <a:ea typeface="Helvetica Neue" charset="0"/>
                        <a:cs typeface="Helvetica Neue" charset="0"/>
                      </a:endParaRPr>
                    </a:p>
                  </a:txBody>
                  <a:tcPr marL="137160" marR="13716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Helvetica Neue" pitchFamily="34" charset="0"/>
                          <a:ea typeface="Helvetica Neue" pitchFamily="34" charset="-122"/>
                          <a:cs typeface="Helvetica Neue" pitchFamily="34" charset="-120"/>
                        </a:rPr>
                        <a:t>Interactive Swagger documentation</a:t>
                      </a:r>
                      <a:endParaRPr lang="en-US" sz="1400" dirty="0">
                        <a:latin typeface="Helvetica Neue" charset="0"/>
                        <a:ea typeface="Helvetica Neue" charset="0"/>
                        <a:cs typeface="Helvetica Neue" charset="0"/>
                      </a:endParaRPr>
                    </a:p>
                  </a:txBody>
                  <a:tcPr marL="137160" marR="137160" marT="0" marB="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Helvetica Neue"/>
                <a:ea typeface="Helvetica Neue"/>
                <a:cs typeface="Helvetica Neue"/>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411480"/>
            <a:ext cx="7315200" cy="731520"/>
          </a:xfrm>
          <a:prstGeom prst="rect">
            <a:avLst/>
          </a:prstGeom>
          <a:noFill/>
          <a:ln/>
        </p:spPr>
        <p:txBody>
          <a:bodyPr wrap="square" lIns="0" tIns="0" rIns="0" bIns="0" rtlCol="0" anchor="ctr"/>
          <a:lstStyle/>
          <a:p>
            <a:pPr algn="l" indent="0" marL="0">
              <a:buNone/>
            </a:pPr>
            <a:r>
              <a:rPr lang="en-US" sz="3400" b="1" dirty="0">
                <a:solidFill>
                  <a:srgbClr val="FFFFFF"/>
                </a:solidFill>
                <a:latin typeface="Avenir Next" pitchFamily="34" charset="0"/>
                <a:ea typeface="Avenir Next" pitchFamily="34" charset="-122"/>
                <a:cs typeface="Avenir Next" pitchFamily="34" charset="-120"/>
              </a:rPr>
              <a:t>Live demo</a:t>
            </a:r>
            <a:endParaRPr lang="en-US" sz="3400" dirty="0"/>
          </a:p>
        </p:txBody>
      </p:sp>
      <p:sp>
        <p:nvSpPr>
          <p:cNvPr id="3" name="Shape 1"/>
          <p:cNvSpPr/>
          <p:nvPr/>
        </p:nvSpPr>
        <p:spPr>
          <a:xfrm>
            <a:off x="548640" y="1508760"/>
            <a:ext cx="548640" cy="548640"/>
          </a:xfrm>
          <a:prstGeom prst="ellipse">
            <a:avLst/>
          </a:prstGeom>
          <a:solidFill>
            <a:srgbClr val="EE4C2C"/>
          </a:solidFill>
          <a:ln w="12700">
            <a:solidFill>
              <a:srgbClr val="EE4C2C"/>
            </a:solidFill>
            <a:prstDash val="solid"/>
          </a:ln>
        </p:spPr>
      </p:sp>
      <p:sp>
        <p:nvSpPr>
          <p:cNvPr id="4" name="Text 2"/>
          <p:cNvSpPr txBox="1"/>
          <p:nvPr/>
        </p:nvSpPr>
        <p:spPr>
          <a:xfrm>
            <a:off x="548640" y="15087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venir Next" pitchFamily="34" charset="0"/>
                <a:ea typeface="Avenir Next" pitchFamily="34" charset="-122"/>
                <a:cs typeface="Avenir Next" pitchFamily="34" charset="-120"/>
              </a:rPr>
              <a:t>1</a:t>
            </a:r>
            <a:endParaRPr lang="en-US" sz="1800" dirty="0"/>
          </a:p>
        </p:txBody>
      </p:sp>
      <p:sp>
        <p:nvSpPr>
          <p:cNvPr id="5" name="Text 3"/>
          <p:cNvSpPr txBox="1"/>
          <p:nvPr/>
        </p:nvSpPr>
        <p:spPr>
          <a:xfrm>
            <a:off x="1325880" y="1463040"/>
            <a:ext cx="4937760" cy="365760"/>
          </a:xfrm>
          <a:prstGeom prst="rect">
            <a:avLst/>
          </a:prstGeom>
          <a:noFill/>
          <a:ln/>
        </p:spPr>
        <p:txBody>
          <a:bodyPr wrap="square" lIns="0" tIns="0" rIns="0" bIns="0" rtlCol="0" anchor="t"/>
          <a:lstStyle/>
          <a:p>
            <a:pPr indent="0" marL="0">
              <a:buNone/>
            </a:pPr>
            <a:r>
              <a:rPr lang="en-US" sz="1700" b="1" dirty="0">
                <a:solidFill>
                  <a:srgbClr val="FFFFFF"/>
                </a:solidFill>
                <a:latin typeface="Menlo" pitchFamily="34" charset="0"/>
                <a:ea typeface="Menlo" pitchFamily="34" charset="-122"/>
                <a:cs typeface="Menlo" pitchFamily="34" charset="-120"/>
              </a:rPr>
              <a:t>pytest -q</a:t>
            </a:r>
            <a:endParaRPr lang="en-US" sz="1700" dirty="0"/>
          </a:p>
        </p:txBody>
      </p:sp>
      <p:sp>
        <p:nvSpPr>
          <p:cNvPr id="6" name="Text 4"/>
          <p:cNvSpPr txBox="1"/>
          <p:nvPr/>
        </p:nvSpPr>
        <p:spPr>
          <a:xfrm>
            <a:off x="1325880" y="1856232"/>
            <a:ext cx="4937760" cy="320040"/>
          </a:xfrm>
          <a:prstGeom prst="rect">
            <a:avLst/>
          </a:prstGeom>
          <a:noFill/>
          <a:ln/>
        </p:spPr>
        <p:txBody>
          <a:bodyPr wrap="square" lIns="0" tIns="0" rIns="0" bIns="0" rtlCol="0" anchor="t"/>
          <a:lstStyle/>
          <a:p>
            <a:pPr indent="0" marL="0">
              <a:buNone/>
            </a:pPr>
            <a:r>
              <a:rPr lang="en-US" sz="1400" dirty="0">
                <a:solidFill>
                  <a:srgbClr val="CBD5E1"/>
                </a:solidFill>
                <a:latin typeface="Helvetica Neue" pitchFamily="34" charset="0"/>
                <a:ea typeface="Helvetica Neue" pitchFamily="34" charset="-122"/>
                <a:cs typeface="Helvetica Neue" pitchFamily="34" charset="-120"/>
              </a:rPr>
              <a:t>Model tests pass</a:t>
            </a:r>
            <a:endParaRPr lang="en-US" sz="1400" dirty="0"/>
          </a:p>
        </p:txBody>
      </p:sp>
      <p:sp>
        <p:nvSpPr>
          <p:cNvPr id="7" name="Shape 5"/>
          <p:cNvSpPr/>
          <p:nvPr/>
        </p:nvSpPr>
        <p:spPr>
          <a:xfrm>
            <a:off x="548640" y="2560320"/>
            <a:ext cx="548640" cy="548640"/>
          </a:xfrm>
          <a:prstGeom prst="ellipse">
            <a:avLst/>
          </a:prstGeom>
          <a:solidFill>
            <a:srgbClr val="EE4C2C"/>
          </a:solidFill>
          <a:ln w="12700">
            <a:solidFill>
              <a:srgbClr val="EE4C2C"/>
            </a:solidFill>
            <a:prstDash val="solid"/>
          </a:ln>
        </p:spPr>
      </p:sp>
      <p:sp>
        <p:nvSpPr>
          <p:cNvPr id="8" name="Text 6"/>
          <p:cNvSpPr txBox="1"/>
          <p:nvPr/>
        </p:nvSpPr>
        <p:spPr>
          <a:xfrm>
            <a:off x="548640" y="2560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venir Next" pitchFamily="34" charset="0"/>
                <a:ea typeface="Avenir Next" pitchFamily="34" charset="-122"/>
                <a:cs typeface="Avenir Next" pitchFamily="34" charset="-120"/>
              </a:rPr>
              <a:t>2</a:t>
            </a:r>
            <a:endParaRPr lang="en-US" sz="1800" dirty="0"/>
          </a:p>
        </p:txBody>
      </p:sp>
      <p:sp>
        <p:nvSpPr>
          <p:cNvPr id="9" name="Text 7"/>
          <p:cNvSpPr txBox="1"/>
          <p:nvPr/>
        </p:nvSpPr>
        <p:spPr>
          <a:xfrm>
            <a:off x="1325880" y="2514600"/>
            <a:ext cx="4937760" cy="365760"/>
          </a:xfrm>
          <a:prstGeom prst="rect">
            <a:avLst/>
          </a:prstGeom>
          <a:noFill/>
          <a:ln/>
        </p:spPr>
        <p:txBody>
          <a:bodyPr wrap="square" lIns="0" tIns="0" rIns="0" bIns="0" rtlCol="0" anchor="t"/>
          <a:lstStyle/>
          <a:p>
            <a:pPr indent="0" marL="0">
              <a:buNone/>
            </a:pPr>
            <a:r>
              <a:rPr lang="en-US" sz="1700" b="1" dirty="0">
                <a:solidFill>
                  <a:srgbClr val="FFFFFF"/>
                </a:solidFill>
                <a:latin typeface="Menlo" pitchFamily="34" charset="0"/>
                <a:ea typeface="Menlo" pitchFamily="34" charset="-122"/>
                <a:cs typeface="Menlo" pitchFamily="34" charset="-120"/>
              </a:rPr>
              <a:t>python -m app.train</a:t>
            </a:r>
            <a:endParaRPr lang="en-US" sz="1700" dirty="0"/>
          </a:p>
        </p:txBody>
      </p:sp>
      <p:sp>
        <p:nvSpPr>
          <p:cNvPr id="10" name="Text 8"/>
          <p:cNvSpPr txBox="1"/>
          <p:nvPr/>
        </p:nvSpPr>
        <p:spPr>
          <a:xfrm>
            <a:off x="1325880" y="2907792"/>
            <a:ext cx="4937760" cy="320040"/>
          </a:xfrm>
          <a:prstGeom prst="rect">
            <a:avLst/>
          </a:prstGeom>
          <a:noFill/>
          <a:ln/>
        </p:spPr>
        <p:txBody>
          <a:bodyPr wrap="square" lIns="0" tIns="0" rIns="0" bIns="0" rtlCol="0" anchor="t"/>
          <a:lstStyle/>
          <a:p>
            <a:pPr indent="0" marL="0">
              <a:buNone/>
            </a:pPr>
            <a:r>
              <a:rPr lang="en-US" sz="1400" dirty="0">
                <a:solidFill>
                  <a:srgbClr val="CBD5E1"/>
                </a:solidFill>
                <a:latin typeface="Helvetica Neue" pitchFamily="34" charset="0"/>
                <a:ea typeface="Helvetica Neue" pitchFamily="34" charset="-122"/>
                <a:cs typeface="Helvetica Neue" pitchFamily="34" charset="-120"/>
              </a:rPr>
              <a:t>Training log &amp; test metrics</a:t>
            </a:r>
            <a:endParaRPr lang="en-US" sz="1400" dirty="0"/>
          </a:p>
        </p:txBody>
      </p:sp>
      <p:sp>
        <p:nvSpPr>
          <p:cNvPr id="11" name="Shape 9"/>
          <p:cNvSpPr/>
          <p:nvPr/>
        </p:nvSpPr>
        <p:spPr>
          <a:xfrm>
            <a:off x="548640" y="3611880"/>
            <a:ext cx="548640" cy="548640"/>
          </a:xfrm>
          <a:prstGeom prst="ellipse">
            <a:avLst/>
          </a:prstGeom>
          <a:solidFill>
            <a:srgbClr val="EE4C2C"/>
          </a:solidFill>
          <a:ln w="12700">
            <a:solidFill>
              <a:srgbClr val="EE4C2C"/>
            </a:solidFill>
            <a:prstDash val="solid"/>
          </a:ln>
        </p:spPr>
      </p:sp>
      <p:sp>
        <p:nvSpPr>
          <p:cNvPr id="12" name="Text 10"/>
          <p:cNvSpPr txBox="1"/>
          <p:nvPr/>
        </p:nvSpPr>
        <p:spPr>
          <a:xfrm>
            <a:off x="548640" y="36118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venir Next" pitchFamily="34" charset="0"/>
                <a:ea typeface="Avenir Next" pitchFamily="34" charset="-122"/>
                <a:cs typeface="Avenir Next" pitchFamily="34" charset="-120"/>
              </a:rPr>
              <a:t>3</a:t>
            </a:r>
            <a:endParaRPr lang="en-US" sz="1800" dirty="0"/>
          </a:p>
        </p:txBody>
      </p:sp>
      <p:sp>
        <p:nvSpPr>
          <p:cNvPr id="13" name="Text 11"/>
          <p:cNvSpPr txBox="1"/>
          <p:nvPr/>
        </p:nvSpPr>
        <p:spPr>
          <a:xfrm>
            <a:off x="1325880" y="3566160"/>
            <a:ext cx="4937760" cy="365760"/>
          </a:xfrm>
          <a:prstGeom prst="rect">
            <a:avLst/>
          </a:prstGeom>
          <a:noFill/>
          <a:ln/>
        </p:spPr>
        <p:txBody>
          <a:bodyPr wrap="square" lIns="0" tIns="0" rIns="0" bIns="0" rtlCol="0" anchor="t"/>
          <a:lstStyle/>
          <a:p>
            <a:pPr indent="0" marL="0">
              <a:buNone/>
            </a:pPr>
            <a:r>
              <a:rPr lang="en-US" sz="1700" b="1" dirty="0">
                <a:solidFill>
                  <a:srgbClr val="FFFFFF"/>
                </a:solidFill>
                <a:latin typeface="Menlo" pitchFamily="34" charset="0"/>
                <a:ea typeface="Menlo" pitchFamily="34" charset="-122"/>
                <a:cs typeface="Menlo" pitchFamily="34" charset="-120"/>
              </a:rPr>
              <a:t>uvicorn app.api:app</a:t>
            </a:r>
            <a:endParaRPr lang="en-US" sz="1700" dirty="0"/>
          </a:p>
        </p:txBody>
      </p:sp>
      <p:sp>
        <p:nvSpPr>
          <p:cNvPr id="14" name="Text 12"/>
          <p:cNvSpPr txBox="1"/>
          <p:nvPr/>
        </p:nvSpPr>
        <p:spPr>
          <a:xfrm>
            <a:off x="1325880" y="3959352"/>
            <a:ext cx="4937760" cy="320040"/>
          </a:xfrm>
          <a:prstGeom prst="rect">
            <a:avLst/>
          </a:prstGeom>
          <a:noFill/>
          <a:ln/>
        </p:spPr>
        <p:txBody>
          <a:bodyPr wrap="square" lIns="0" tIns="0" rIns="0" bIns="0" rtlCol="0" anchor="t"/>
          <a:lstStyle/>
          <a:p>
            <a:pPr indent="0" marL="0">
              <a:buNone/>
            </a:pPr>
            <a:r>
              <a:rPr lang="en-US" sz="1400" dirty="0">
                <a:solidFill>
                  <a:srgbClr val="CBD5E1"/>
                </a:solidFill>
                <a:latin typeface="Helvetica Neue" pitchFamily="34" charset="0"/>
                <a:ea typeface="Helvetica Neue" pitchFamily="34" charset="-122"/>
                <a:cs typeface="Helvetica Neue" pitchFamily="34" charset="-120"/>
              </a:rPr>
              <a:t>/health · /metrics · /docs</a:t>
            </a:r>
            <a:endParaRPr lang="en-US" sz="1400" dirty="0"/>
          </a:p>
        </p:txBody>
      </p:sp>
      <p:sp>
        <p:nvSpPr>
          <p:cNvPr id="15" name="Shape 13"/>
          <p:cNvSpPr/>
          <p:nvPr/>
        </p:nvSpPr>
        <p:spPr>
          <a:xfrm>
            <a:off x="548640" y="4663440"/>
            <a:ext cx="548640" cy="548640"/>
          </a:xfrm>
          <a:prstGeom prst="ellipse">
            <a:avLst/>
          </a:prstGeom>
          <a:solidFill>
            <a:srgbClr val="EE4C2C"/>
          </a:solidFill>
          <a:ln w="12700">
            <a:solidFill>
              <a:srgbClr val="EE4C2C"/>
            </a:solidFill>
            <a:prstDash val="solid"/>
          </a:ln>
        </p:spPr>
      </p:sp>
      <p:sp>
        <p:nvSpPr>
          <p:cNvPr id="16" name="Text 14"/>
          <p:cNvSpPr txBox="1"/>
          <p:nvPr/>
        </p:nvSpPr>
        <p:spPr>
          <a:xfrm>
            <a:off x="548640" y="4663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venir Next" pitchFamily="34" charset="0"/>
                <a:ea typeface="Avenir Next" pitchFamily="34" charset="-122"/>
                <a:cs typeface="Avenir Next" pitchFamily="34" charset="-120"/>
              </a:rPr>
              <a:t>4</a:t>
            </a:r>
            <a:endParaRPr lang="en-US" sz="1800" dirty="0"/>
          </a:p>
        </p:txBody>
      </p:sp>
      <p:sp>
        <p:nvSpPr>
          <p:cNvPr id="17" name="Text 15"/>
          <p:cNvSpPr txBox="1"/>
          <p:nvPr/>
        </p:nvSpPr>
        <p:spPr>
          <a:xfrm>
            <a:off x="1325880" y="4617720"/>
            <a:ext cx="4937760" cy="365760"/>
          </a:xfrm>
          <a:prstGeom prst="rect">
            <a:avLst/>
          </a:prstGeom>
          <a:noFill/>
          <a:ln/>
        </p:spPr>
        <p:txBody>
          <a:bodyPr wrap="square" lIns="0" tIns="0" rIns="0" bIns="0" rtlCol="0" anchor="t"/>
          <a:lstStyle/>
          <a:p>
            <a:pPr indent="0" marL="0">
              <a:buNone/>
            </a:pPr>
            <a:r>
              <a:rPr lang="en-US" sz="1700" b="1" dirty="0">
                <a:solidFill>
                  <a:srgbClr val="FFFFFF"/>
                </a:solidFill>
                <a:latin typeface="Menlo" pitchFamily="34" charset="0"/>
                <a:ea typeface="Menlo" pitchFamily="34" charset="-122"/>
                <a:cs typeface="Menlo" pitchFamily="34" charset="-120"/>
              </a:rPr>
              <a:t>streamlit run app/dashboard.py</a:t>
            </a:r>
            <a:endParaRPr lang="en-US" sz="1700" dirty="0"/>
          </a:p>
        </p:txBody>
      </p:sp>
      <p:sp>
        <p:nvSpPr>
          <p:cNvPr id="18" name="Text 16"/>
          <p:cNvSpPr txBox="1"/>
          <p:nvPr/>
        </p:nvSpPr>
        <p:spPr>
          <a:xfrm>
            <a:off x="1325880" y="5010912"/>
            <a:ext cx="4937760" cy="320040"/>
          </a:xfrm>
          <a:prstGeom prst="rect">
            <a:avLst/>
          </a:prstGeom>
          <a:noFill/>
          <a:ln/>
        </p:spPr>
        <p:txBody>
          <a:bodyPr wrap="square" lIns="0" tIns="0" rIns="0" bIns="0" rtlCol="0" anchor="t"/>
          <a:lstStyle/>
          <a:p>
            <a:pPr indent="0" marL="0">
              <a:buNone/>
            </a:pPr>
            <a:r>
              <a:rPr lang="en-US" sz="1400" dirty="0">
                <a:solidFill>
                  <a:srgbClr val="CBD5E1"/>
                </a:solidFill>
                <a:latin typeface="Helvetica Neue" pitchFamily="34" charset="0"/>
                <a:ea typeface="Helvetica Neue" pitchFamily="34" charset="-122"/>
                <a:cs typeface="Helvetica Neue" pitchFamily="34" charset="-120"/>
              </a:rPr>
              <a:t>Score real transactions</a:t>
            </a:r>
            <a:endParaRPr lang="en-US" sz="1400" dirty="0"/>
          </a:p>
        </p:txBody>
      </p:sp>
      <p:sp>
        <p:nvSpPr>
          <p:cNvPr id="19" name="Shape 17"/>
          <p:cNvSpPr/>
          <p:nvPr/>
        </p:nvSpPr>
        <p:spPr>
          <a:xfrm>
            <a:off x="6583680" y="1463040"/>
            <a:ext cx="5056632" cy="4206240"/>
          </a:xfrm>
          <a:prstGeom prst="roundRect">
            <a:avLst>
              <a:gd name="adj" fmla="val 2609"/>
            </a:avLst>
          </a:prstGeom>
          <a:solidFill>
            <a:srgbClr val="1E293B"/>
          </a:solidFill>
          <a:ln w="12700">
            <a:solidFill>
              <a:srgbClr val="1E293B"/>
            </a:solidFill>
            <a:prstDash val="solid"/>
          </a:ln>
        </p:spPr>
      </p:sp>
      <p:sp>
        <p:nvSpPr>
          <p:cNvPr id="20" name="Text 18"/>
          <p:cNvSpPr txBox="1"/>
          <p:nvPr/>
        </p:nvSpPr>
        <p:spPr>
          <a:xfrm>
            <a:off x="6903720" y="1691640"/>
            <a:ext cx="4572000" cy="274320"/>
          </a:xfrm>
          <a:prstGeom prst="rect">
            <a:avLst/>
          </a:prstGeom>
          <a:noFill/>
          <a:ln/>
        </p:spPr>
        <p:txBody>
          <a:bodyPr wrap="square" lIns="0" tIns="0" rIns="0" bIns="0" rtlCol="0" anchor="t"/>
          <a:lstStyle/>
          <a:p>
            <a:pPr indent="0" marL="0">
              <a:buNone/>
            </a:pPr>
            <a:r>
              <a:rPr lang="en-US" sz="1200" b="1" spc="200" kern="0" dirty="0">
                <a:solidFill>
                  <a:srgbClr val="EE4C2C"/>
                </a:solidFill>
                <a:latin typeface="Avenir Next" pitchFamily="34" charset="0"/>
                <a:ea typeface="Avenir Next" pitchFamily="34" charset="-122"/>
                <a:cs typeface="Avenir Next" pitchFamily="34" charset="-120"/>
              </a:rPr>
              <a:t>DASHBOARD ROWS TO TRY</a:t>
            </a:r>
            <a:endParaRPr lang="en-US" sz="1200" dirty="0"/>
          </a:p>
        </p:txBody>
      </p:sp>
      <p:sp>
        <p:nvSpPr>
          <p:cNvPr id="21" name="Shape 19"/>
          <p:cNvSpPr/>
          <p:nvPr/>
        </p:nvSpPr>
        <p:spPr>
          <a:xfrm>
            <a:off x="6903720" y="2194560"/>
            <a:ext cx="1280160" cy="548640"/>
          </a:xfrm>
          <a:prstGeom prst="roundRect">
            <a:avLst>
              <a:gd name="adj" fmla="val 16667"/>
            </a:avLst>
          </a:prstGeom>
          <a:solidFill>
            <a:srgbClr val="0F766E"/>
          </a:solidFill>
          <a:ln w="12700">
            <a:solidFill>
              <a:srgbClr val="0F766E"/>
            </a:solidFill>
            <a:prstDash val="solid"/>
          </a:ln>
        </p:spPr>
      </p:sp>
      <p:sp>
        <p:nvSpPr>
          <p:cNvPr id="22" name="Text 20"/>
          <p:cNvSpPr txBox="1"/>
          <p:nvPr/>
        </p:nvSpPr>
        <p:spPr>
          <a:xfrm>
            <a:off x="6903720" y="2194560"/>
            <a:ext cx="128016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nlo" pitchFamily="34" charset="0"/>
                <a:ea typeface="Menlo" pitchFamily="34" charset="-122"/>
                <a:cs typeface="Menlo" pitchFamily="34" charset="-120"/>
              </a:rPr>
              <a:t>0</a:t>
            </a:r>
            <a:endParaRPr lang="en-US" sz="1800" dirty="0"/>
          </a:p>
        </p:txBody>
      </p:sp>
      <p:sp>
        <p:nvSpPr>
          <p:cNvPr id="23" name="Text 21"/>
          <p:cNvSpPr txBox="1"/>
          <p:nvPr/>
        </p:nvSpPr>
        <p:spPr>
          <a:xfrm>
            <a:off x="8412480" y="2194560"/>
            <a:ext cx="3108960" cy="548640"/>
          </a:xfrm>
          <a:prstGeom prst="rect">
            <a:avLst/>
          </a:prstGeom>
          <a:noFill/>
          <a:ln/>
        </p:spPr>
        <p:txBody>
          <a:bodyPr wrap="square" lIns="0" tIns="0" rIns="0" bIns="0" rtlCol="0" anchor="ctr"/>
          <a:lstStyle/>
          <a:p>
            <a:pPr indent="0" marL="0">
              <a:buNone/>
            </a:pPr>
            <a:r>
              <a:rPr lang="en-US" sz="1600" dirty="0">
                <a:solidFill>
                  <a:srgbClr val="FFFFFF"/>
                </a:solidFill>
                <a:latin typeface="Helvetica Neue" pitchFamily="34" charset="0"/>
                <a:ea typeface="Helvetica Neue" pitchFamily="34" charset="-122"/>
                <a:cs typeface="Helvetica Neue" pitchFamily="34" charset="-120"/>
              </a:rPr>
              <a:t>Legitimate → LOWER_RISK</a:t>
            </a:r>
            <a:endParaRPr lang="en-US" sz="1600" dirty="0"/>
          </a:p>
        </p:txBody>
      </p:sp>
      <p:sp>
        <p:nvSpPr>
          <p:cNvPr id="24" name="Shape 22"/>
          <p:cNvSpPr/>
          <p:nvPr/>
        </p:nvSpPr>
        <p:spPr>
          <a:xfrm>
            <a:off x="6903720" y="3017520"/>
            <a:ext cx="1280160" cy="548640"/>
          </a:xfrm>
          <a:prstGeom prst="roundRect">
            <a:avLst>
              <a:gd name="adj" fmla="val 16667"/>
            </a:avLst>
          </a:prstGeom>
          <a:solidFill>
            <a:srgbClr val="EE4C2C"/>
          </a:solidFill>
          <a:ln w="12700">
            <a:solidFill>
              <a:srgbClr val="EE4C2C"/>
            </a:solidFill>
            <a:prstDash val="solid"/>
          </a:ln>
        </p:spPr>
      </p:sp>
      <p:sp>
        <p:nvSpPr>
          <p:cNvPr id="25" name="Text 23"/>
          <p:cNvSpPr txBox="1"/>
          <p:nvPr/>
        </p:nvSpPr>
        <p:spPr>
          <a:xfrm>
            <a:off x="6903720" y="3017520"/>
            <a:ext cx="128016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nlo" pitchFamily="34" charset="0"/>
                <a:ea typeface="Menlo" pitchFamily="34" charset="-122"/>
                <a:cs typeface="Menlo" pitchFamily="34" charset="-120"/>
              </a:rPr>
              <a:t>541</a:t>
            </a:r>
            <a:endParaRPr lang="en-US" sz="1800" dirty="0"/>
          </a:p>
        </p:txBody>
      </p:sp>
      <p:sp>
        <p:nvSpPr>
          <p:cNvPr id="26" name="Text 24"/>
          <p:cNvSpPr txBox="1"/>
          <p:nvPr/>
        </p:nvSpPr>
        <p:spPr>
          <a:xfrm>
            <a:off x="8412480" y="3017520"/>
            <a:ext cx="3108960" cy="548640"/>
          </a:xfrm>
          <a:prstGeom prst="rect">
            <a:avLst/>
          </a:prstGeom>
          <a:noFill/>
          <a:ln/>
        </p:spPr>
        <p:txBody>
          <a:bodyPr wrap="square" lIns="0" tIns="0" rIns="0" bIns="0" rtlCol="0" anchor="ctr"/>
          <a:lstStyle/>
          <a:p>
            <a:pPr indent="0" marL="0">
              <a:buNone/>
            </a:pPr>
            <a:r>
              <a:rPr lang="en-US" sz="1600" dirty="0">
                <a:solidFill>
                  <a:srgbClr val="FFFFFF"/>
                </a:solidFill>
                <a:latin typeface="Helvetica Neue" pitchFamily="34" charset="0"/>
                <a:ea typeface="Helvetica Neue" pitchFamily="34" charset="-122"/>
                <a:cs typeface="Helvetica Neue" pitchFamily="34" charset="-120"/>
              </a:rPr>
              <a:t>Fraud → REVIEW (caught)</a:t>
            </a:r>
            <a:endParaRPr lang="en-US" sz="1600" dirty="0"/>
          </a:p>
        </p:txBody>
      </p:sp>
      <p:sp>
        <p:nvSpPr>
          <p:cNvPr id="27" name="Shape 25"/>
          <p:cNvSpPr/>
          <p:nvPr/>
        </p:nvSpPr>
        <p:spPr>
          <a:xfrm>
            <a:off x="6903720" y="3840480"/>
            <a:ext cx="1280160" cy="548640"/>
          </a:xfrm>
          <a:prstGeom prst="roundRect">
            <a:avLst>
              <a:gd name="adj" fmla="val 16667"/>
            </a:avLst>
          </a:prstGeom>
          <a:solidFill>
            <a:srgbClr val="B45309"/>
          </a:solidFill>
          <a:ln w="12700">
            <a:solidFill>
              <a:srgbClr val="B45309"/>
            </a:solidFill>
            <a:prstDash val="solid"/>
          </a:ln>
        </p:spPr>
      </p:sp>
      <p:sp>
        <p:nvSpPr>
          <p:cNvPr id="28" name="Text 26"/>
          <p:cNvSpPr txBox="1"/>
          <p:nvPr/>
        </p:nvSpPr>
        <p:spPr>
          <a:xfrm>
            <a:off x="6903720" y="3840480"/>
            <a:ext cx="128016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nlo" pitchFamily="34" charset="0"/>
                <a:ea typeface="Menlo" pitchFamily="34" charset="-122"/>
                <a:cs typeface="Menlo" pitchFamily="34" charset="-120"/>
              </a:rPr>
              <a:t>72757</a:t>
            </a:r>
            <a:endParaRPr lang="en-US" sz="1800" dirty="0"/>
          </a:p>
        </p:txBody>
      </p:sp>
      <p:sp>
        <p:nvSpPr>
          <p:cNvPr id="29" name="Text 27"/>
          <p:cNvSpPr txBox="1"/>
          <p:nvPr/>
        </p:nvSpPr>
        <p:spPr>
          <a:xfrm>
            <a:off x="8412480" y="3840480"/>
            <a:ext cx="3108960" cy="548640"/>
          </a:xfrm>
          <a:prstGeom prst="rect">
            <a:avLst/>
          </a:prstGeom>
          <a:noFill/>
          <a:ln/>
        </p:spPr>
        <p:txBody>
          <a:bodyPr wrap="square" lIns="0" tIns="0" rIns="0" bIns="0" rtlCol="0" anchor="ctr"/>
          <a:lstStyle/>
          <a:p>
            <a:pPr indent="0" marL="0">
              <a:buNone/>
            </a:pPr>
            <a:r>
              <a:rPr lang="en-US" sz="1600" dirty="0">
                <a:solidFill>
                  <a:srgbClr val="FFFFFF"/>
                </a:solidFill>
                <a:latin typeface="Helvetica Neue" pitchFamily="34" charset="0"/>
                <a:ea typeface="Helvetica Neue" pitchFamily="34" charset="-122"/>
                <a:cs typeface="Helvetica Neue" pitchFamily="34" charset="-120"/>
              </a:rPr>
              <a:t>Fraud → missed</a:t>
            </a:r>
            <a:endParaRPr lang="en-US" sz="1600" dirty="0"/>
          </a:p>
        </p:txBody>
      </p:sp>
      <p:sp>
        <p:nvSpPr>
          <p:cNvPr id="30" name="Shape 28"/>
          <p:cNvSpPr/>
          <p:nvPr/>
        </p:nvSpPr>
        <p:spPr>
          <a:xfrm>
            <a:off x="6903720" y="4663440"/>
            <a:ext cx="1280160" cy="548640"/>
          </a:xfrm>
          <a:prstGeom prst="roundRect">
            <a:avLst>
              <a:gd name="adj" fmla="val 16667"/>
            </a:avLst>
          </a:prstGeom>
          <a:solidFill>
            <a:srgbClr val="B45309"/>
          </a:solidFill>
          <a:ln w="12700">
            <a:solidFill>
              <a:srgbClr val="B45309"/>
            </a:solidFill>
            <a:prstDash val="solid"/>
          </a:ln>
        </p:spPr>
      </p:sp>
      <p:sp>
        <p:nvSpPr>
          <p:cNvPr id="31" name="Text 29"/>
          <p:cNvSpPr txBox="1"/>
          <p:nvPr/>
        </p:nvSpPr>
        <p:spPr>
          <a:xfrm>
            <a:off x="6903720" y="4663440"/>
            <a:ext cx="128016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nlo" pitchFamily="34" charset="0"/>
                <a:ea typeface="Menlo" pitchFamily="34" charset="-122"/>
                <a:cs typeface="Menlo" pitchFamily="34" charset="-120"/>
              </a:rPr>
              <a:t>460</a:t>
            </a:r>
            <a:endParaRPr lang="en-US" sz="1800" dirty="0"/>
          </a:p>
        </p:txBody>
      </p:sp>
      <p:sp>
        <p:nvSpPr>
          <p:cNvPr id="32" name="Text 30"/>
          <p:cNvSpPr txBox="1"/>
          <p:nvPr/>
        </p:nvSpPr>
        <p:spPr>
          <a:xfrm>
            <a:off x="8412480" y="4663440"/>
            <a:ext cx="3108960" cy="548640"/>
          </a:xfrm>
          <a:prstGeom prst="rect">
            <a:avLst/>
          </a:prstGeom>
          <a:noFill/>
          <a:ln/>
        </p:spPr>
        <p:txBody>
          <a:bodyPr wrap="square" lIns="0" tIns="0" rIns="0" bIns="0" rtlCol="0" anchor="ctr"/>
          <a:lstStyle/>
          <a:p>
            <a:pPr indent="0" marL="0">
              <a:buNone/>
            </a:pPr>
            <a:r>
              <a:rPr lang="en-US" sz="1600" dirty="0">
                <a:solidFill>
                  <a:srgbClr val="FFFFFF"/>
                </a:solidFill>
                <a:latin typeface="Helvetica Neue" pitchFamily="34" charset="0"/>
                <a:ea typeface="Helvetica Neue" pitchFamily="34" charset="-122"/>
                <a:cs typeface="Helvetica Neue" pitchFamily="34" charset="-120"/>
              </a:rPr>
              <a:t>Legitimate → false alarm</a:t>
            </a:r>
            <a:endParaRPr lang="en-US" sz="1600" dirty="0"/>
          </a:p>
        </p:txBody>
      </p:sp>
      <p:sp>
        <p:nvSpPr>
          <p:cNvPr id="33" name="Text 31"/>
          <p:cNvSpPr txBox="1"/>
          <p:nvPr/>
        </p:nvSpPr>
        <p:spPr>
          <a:xfrm>
            <a:off x="548640" y="5943600"/>
            <a:ext cx="10972800" cy="320040"/>
          </a:xfrm>
          <a:prstGeom prst="rect">
            <a:avLst/>
          </a:prstGeom>
          <a:noFill/>
          <a:ln/>
        </p:spPr>
        <p:txBody>
          <a:bodyPr wrap="square" lIns="0" tIns="0" rIns="0" bIns="0" rtlCol="0" anchor="t"/>
          <a:lstStyle/>
          <a:p>
            <a:pPr indent="0" marL="0">
              <a:buNone/>
            </a:pPr>
            <a:r>
              <a:rPr lang="en-US" sz="1200" dirty="0">
                <a:solidFill>
                  <a:srgbClr val="CBD5E1"/>
                </a:solidFill>
                <a:latin typeface="Helvetica Neue" pitchFamily="34" charset="0"/>
                <a:ea typeface="Helvetica Neue" pitchFamily="34" charset="-122"/>
                <a:cs typeface="Helvetica Neue" pitchFamily="34" charset="-120"/>
              </a:rPr>
              <a:t>Rows come from the full dataset; the test-set metrics remain the true measure.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400" b="1" dirty="0">
                <a:solidFill>
                  <a:srgbClr val="0B1220"/>
                </a:solidFill>
                <a:latin typeface="Avenir Next" pitchFamily="34" charset="0"/>
                <a:ea typeface="Avenir Next" pitchFamily="34" charset="-122"/>
                <a:cs typeface="Avenir Next" pitchFamily="34" charset="-120"/>
              </a:rPr>
              <a:t>Limitations</a:t>
            </a:r>
            <a:endParaRPr lang="en-US" sz="3400" dirty="0"/>
          </a:p>
        </p:txBody>
      </p:sp>
      <p:sp>
        <p:nvSpPr>
          <p:cNvPr id="3" name="Shape 1"/>
          <p:cNvSpPr/>
          <p:nvPr/>
        </p:nvSpPr>
        <p:spPr>
          <a:xfrm>
            <a:off x="548640" y="1554480"/>
            <a:ext cx="731520" cy="731520"/>
          </a:xfrm>
          <a:prstGeom prst="ellipse">
            <a:avLst/>
          </a:prstGeom>
          <a:solidFill>
            <a:srgbClr val="1E293B"/>
          </a:solidFill>
          <a:ln w="12700">
            <a:solidFill>
              <a:srgbClr val="1E293B"/>
            </a:solidFill>
            <a:prstDash val="solid"/>
          </a:ln>
        </p:spPr>
      </p:sp>
      <p:pic>
        <p:nvPicPr>
          <p:cNvPr id="4" name="Image 0" descr="preencoded.png">    </p:cNvPr>
          <p:cNvPicPr>
            <a:picLocks noChangeAspect="1"/>
          </p:cNvPicPr>
          <p:nvPr/>
        </p:nvPicPr>
        <p:blipFill>
          <a:blip r:embed="rId1"/>
          <a:stretch>
            <a:fillRect/>
          </a:stretch>
        </p:blipFill>
        <p:spPr>
          <a:xfrm>
            <a:off x="709574" y="1715414"/>
            <a:ext cx="409651" cy="409651"/>
          </a:xfrm>
          <a:prstGeom prst="rect">
            <a:avLst/>
          </a:prstGeom>
        </p:spPr>
      </p:pic>
      <p:sp>
        <p:nvSpPr>
          <p:cNvPr id="5" name="Text 2"/>
          <p:cNvSpPr txBox="1"/>
          <p:nvPr/>
        </p:nvSpPr>
        <p:spPr>
          <a:xfrm>
            <a:off x="1508760" y="1554480"/>
            <a:ext cx="4389120" cy="365760"/>
          </a:xfrm>
          <a:prstGeom prst="rect">
            <a:avLst/>
          </a:prstGeom>
          <a:noFill/>
          <a:ln/>
        </p:spPr>
        <p:txBody>
          <a:bodyPr wrap="square" lIns="0" tIns="0" rIns="0" bIns="0" rtlCol="0" anchor="t"/>
          <a:lstStyle/>
          <a:p>
            <a:pPr indent="0" marL="0">
              <a:buNone/>
            </a:pPr>
            <a:r>
              <a:rPr lang="en-US" sz="1800" b="1" dirty="0">
                <a:solidFill>
                  <a:srgbClr val="0B1220"/>
                </a:solidFill>
                <a:latin typeface="Avenir Next" pitchFamily="34" charset="0"/>
                <a:ea typeface="Avenir Next" pitchFamily="34" charset="-122"/>
                <a:cs typeface="Avenir Next" pitchFamily="34" charset="-120"/>
              </a:rPr>
              <a:t>Historical data</a:t>
            </a:r>
            <a:endParaRPr lang="en-US" sz="1800" dirty="0"/>
          </a:p>
        </p:txBody>
      </p:sp>
      <p:sp>
        <p:nvSpPr>
          <p:cNvPr id="6" name="Text 3"/>
          <p:cNvSpPr txBox="1"/>
          <p:nvPr/>
        </p:nvSpPr>
        <p:spPr>
          <a:xfrm>
            <a:off x="1508760" y="1938528"/>
            <a:ext cx="4389120" cy="54864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2013 anonymized dataset, not current banking transactions</a:t>
            </a:r>
            <a:endParaRPr lang="en-US" sz="1400" dirty="0"/>
          </a:p>
        </p:txBody>
      </p:sp>
      <p:sp>
        <p:nvSpPr>
          <p:cNvPr id="7" name="Shape 4"/>
          <p:cNvSpPr/>
          <p:nvPr/>
        </p:nvSpPr>
        <p:spPr>
          <a:xfrm>
            <a:off x="6217920" y="1554480"/>
            <a:ext cx="731520" cy="731520"/>
          </a:xfrm>
          <a:prstGeom prst="ellipse">
            <a:avLst/>
          </a:prstGeom>
          <a:solidFill>
            <a:srgbClr val="1E293B"/>
          </a:solidFill>
          <a:ln w="12700">
            <a:solidFill>
              <a:srgbClr val="1E293B"/>
            </a:solidFill>
            <a:prstDash val="solid"/>
          </a:ln>
        </p:spPr>
      </p:sp>
      <p:pic>
        <p:nvPicPr>
          <p:cNvPr id="8" name="Image 1" descr="preencoded.png">    </p:cNvPr>
          <p:cNvPicPr>
            <a:picLocks noChangeAspect="1"/>
          </p:cNvPicPr>
          <p:nvPr/>
        </p:nvPicPr>
        <p:blipFill>
          <a:blip r:embed="rId2"/>
          <a:stretch>
            <a:fillRect/>
          </a:stretch>
        </p:blipFill>
        <p:spPr>
          <a:xfrm>
            <a:off x="6378854" y="1715414"/>
            <a:ext cx="409651" cy="409651"/>
          </a:xfrm>
          <a:prstGeom prst="rect">
            <a:avLst/>
          </a:prstGeom>
        </p:spPr>
      </p:pic>
      <p:sp>
        <p:nvSpPr>
          <p:cNvPr id="9" name="Text 5"/>
          <p:cNvSpPr txBox="1"/>
          <p:nvPr/>
        </p:nvSpPr>
        <p:spPr>
          <a:xfrm>
            <a:off x="7178040" y="1554480"/>
            <a:ext cx="4389120" cy="365760"/>
          </a:xfrm>
          <a:prstGeom prst="rect">
            <a:avLst/>
          </a:prstGeom>
          <a:noFill/>
          <a:ln/>
        </p:spPr>
        <p:txBody>
          <a:bodyPr wrap="square" lIns="0" tIns="0" rIns="0" bIns="0" rtlCol="0" anchor="t"/>
          <a:lstStyle/>
          <a:p>
            <a:pPr indent="0" marL="0">
              <a:buNone/>
            </a:pPr>
            <a:r>
              <a:rPr lang="en-US" sz="1800" b="1" dirty="0">
                <a:solidFill>
                  <a:srgbClr val="0B1220"/>
                </a:solidFill>
                <a:latin typeface="Avenir Next" pitchFamily="34" charset="0"/>
                <a:ea typeface="Avenir Next" pitchFamily="34" charset="-122"/>
                <a:cs typeface="Avenir Next" pitchFamily="34" charset="-120"/>
              </a:rPr>
              <a:t>Uncalibrated scores</a:t>
            </a:r>
            <a:endParaRPr lang="en-US" sz="1800" dirty="0"/>
          </a:p>
        </p:txBody>
      </p:sp>
      <p:sp>
        <p:nvSpPr>
          <p:cNvPr id="10" name="Text 6"/>
          <p:cNvSpPr txBox="1"/>
          <p:nvPr/>
        </p:nvSpPr>
        <p:spPr>
          <a:xfrm>
            <a:off x="7178040" y="1938528"/>
            <a:ext cx="4389120" cy="54864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Risk scores rank transactions; they are not probabilities</a:t>
            </a:r>
            <a:endParaRPr lang="en-US" sz="1400" dirty="0"/>
          </a:p>
        </p:txBody>
      </p:sp>
      <p:sp>
        <p:nvSpPr>
          <p:cNvPr id="11" name="Shape 7"/>
          <p:cNvSpPr/>
          <p:nvPr/>
        </p:nvSpPr>
        <p:spPr>
          <a:xfrm>
            <a:off x="548640" y="2926080"/>
            <a:ext cx="731520" cy="731520"/>
          </a:xfrm>
          <a:prstGeom prst="ellipse">
            <a:avLst/>
          </a:prstGeom>
          <a:solidFill>
            <a:srgbClr val="1E293B"/>
          </a:solidFill>
          <a:ln w="12700">
            <a:solidFill>
              <a:srgbClr val="1E293B"/>
            </a:solidFill>
            <a:prstDash val="solid"/>
          </a:ln>
        </p:spPr>
      </p:sp>
      <p:pic>
        <p:nvPicPr>
          <p:cNvPr id="12" name="Image 2" descr="preencoded.png">    </p:cNvPr>
          <p:cNvPicPr>
            <a:picLocks noChangeAspect="1"/>
          </p:cNvPicPr>
          <p:nvPr/>
        </p:nvPicPr>
        <p:blipFill>
          <a:blip r:embed="rId3"/>
          <a:stretch>
            <a:fillRect/>
          </a:stretch>
        </p:blipFill>
        <p:spPr>
          <a:xfrm>
            <a:off x="709574" y="3087014"/>
            <a:ext cx="409651" cy="409651"/>
          </a:xfrm>
          <a:prstGeom prst="rect">
            <a:avLst/>
          </a:prstGeom>
        </p:spPr>
      </p:pic>
      <p:sp>
        <p:nvSpPr>
          <p:cNvPr id="13" name="Text 8"/>
          <p:cNvSpPr txBox="1"/>
          <p:nvPr/>
        </p:nvSpPr>
        <p:spPr>
          <a:xfrm>
            <a:off x="1508760" y="2926080"/>
            <a:ext cx="4389120" cy="365760"/>
          </a:xfrm>
          <a:prstGeom prst="rect">
            <a:avLst/>
          </a:prstGeom>
          <a:noFill/>
          <a:ln/>
        </p:spPr>
        <p:txBody>
          <a:bodyPr wrap="square" lIns="0" tIns="0" rIns="0" bIns="0" rtlCol="0" anchor="t"/>
          <a:lstStyle/>
          <a:p>
            <a:pPr indent="0" marL="0">
              <a:buNone/>
            </a:pPr>
            <a:r>
              <a:rPr lang="en-US" sz="1800" b="1" dirty="0">
                <a:solidFill>
                  <a:srgbClr val="0B1220"/>
                </a:solidFill>
                <a:latin typeface="Avenir Next" pitchFamily="34" charset="0"/>
                <a:ea typeface="Avenir Next" pitchFamily="34" charset="-122"/>
                <a:cs typeface="Avenir Next" pitchFamily="34" charset="-120"/>
              </a:rPr>
              <a:t>No hyperparameter tuning</a:t>
            </a:r>
            <a:endParaRPr lang="en-US" sz="1800" dirty="0"/>
          </a:p>
        </p:txBody>
      </p:sp>
      <p:sp>
        <p:nvSpPr>
          <p:cNvPr id="14" name="Text 9"/>
          <p:cNvSpPr txBox="1"/>
          <p:nvPr/>
        </p:nvSpPr>
        <p:spPr>
          <a:xfrm>
            <a:off x="1508760" y="3310128"/>
            <a:ext cx="4389120" cy="54864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Fixed settings and a single training run, no early stopping</a:t>
            </a:r>
            <a:endParaRPr lang="en-US" sz="1400" dirty="0"/>
          </a:p>
        </p:txBody>
      </p:sp>
      <p:sp>
        <p:nvSpPr>
          <p:cNvPr id="15" name="Shape 10"/>
          <p:cNvSpPr/>
          <p:nvPr/>
        </p:nvSpPr>
        <p:spPr>
          <a:xfrm>
            <a:off x="6217920" y="2926080"/>
            <a:ext cx="731520" cy="731520"/>
          </a:xfrm>
          <a:prstGeom prst="ellipse">
            <a:avLst/>
          </a:prstGeom>
          <a:solidFill>
            <a:srgbClr val="1E293B"/>
          </a:solidFill>
          <a:ln w="12700">
            <a:solidFill>
              <a:srgbClr val="1E293B"/>
            </a:solidFill>
            <a:prstDash val="solid"/>
          </a:ln>
        </p:spPr>
      </p:sp>
      <p:pic>
        <p:nvPicPr>
          <p:cNvPr id="16" name="Image 3" descr="preencoded.png">    </p:cNvPr>
          <p:cNvPicPr>
            <a:picLocks noChangeAspect="1"/>
          </p:cNvPicPr>
          <p:nvPr/>
        </p:nvPicPr>
        <p:blipFill>
          <a:blip r:embed="rId4"/>
          <a:stretch>
            <a:fillRect/>
          </a:stretch>
        </p:blipFill>
        <p:spPr>
          <a:xfrm>
            <a:off x="6378854" y="3087014"/>
            <a:ext cx="409651" cy="409651"/>
          </a:xfrm>
          <a:prstGeom prst="rect">
            <a:avLst/>
          </a:prstGeom>
        </p:spPr>
      </p:pic>
      <p:sp>
        <p:nvSpPr>
          <p:cNvPr id="17" name="Text 11"/>
          <p:cNvSpPr txBox="1"/>
          <p:nvPr/>
        </p:nvSpPr>
        <p:spPr>
          <a:xfrm>
            <a:off x="7178040" y="2926080"/>
            <a:ext cx="4389120" cy="365760"/>
          </a:xfrm>
          <a:prstGeom prst="rect">
            <a:avLst/>
          </a:prstGeom>
          <a:noFill/>
          <a:ln/>
        </p:spPr>
        <p:txBody>
          <a:bodyPr wrap="square" lIns="0" tIns="0" rIns="0" bIns="0" rtlCol="0" anchor="t"/>
          <a:lstStyle/>
          <a:p>
            <a:pPr indent="0" marL="0">
              <a:buNone/>
            </a:pPr>
            <a:r>
              <a:rPr lang="en-US" sz="1800" b="1" dirty="0">
                <a:solidFill>
                  <a:srgbClr val="0B1220"/>
                </a:solidFill>
                <a:latin typeface="Avenir Next" pitchFamily="34" charset="0"/>
                <a:ea typeface="Avenir Next" pitchFamily="34" charset="-122"/>
                <a:cs typeface="Avenir Next" pitchFamily="34" charset="-120"/>
              </a:rPr>
              <a:t>No authentication</a:t>
            </a:r>
            <a:endParaRPr lang="en-US" sz="1800" dirty="0"/>
          </a:p>
        </p:txBody>
      </p:sp>
      <p:sp>
        <p:nvSpPr>
          <p:cNvPr id="18" name="Text 12"/>
          <p:cNvSpPr txBox="1"/>
          <p:nvPr/>
        </p:nvSpPr>
        <p:spPr>
          <a:xfrm>
            <a:off x="7178040" y="3310128"/>
            <a:ext cx="4389120" cy="54864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Local development only — not safe to expose publicly</a:t>
            </a:r>
            <a:endParaRPr lang="en-US" sz="1400" dirty="0"/>
          </a:p>
        </p:txBody>
      </p:sp>
      <p:sp>
        <p:nvSpPr>
          <p:cNvPr id="19" name="Shape 13"/>
          <p:cNvSpPr/>
          <p:nvPr/>
        </p:nvSpPr>
        <p:spPr>
          <a:xfrm>
            <a:off x="548640" y="4297680"/>
            <a:ext cx="731520" cy="731520"/>
          </a:xfrm>
          <a:prstGeom prst="ellipse">
            <a:avLst/>
          </a:prstGeom>
          <a:solidFill>
            <a:srgbClr val="1E293B"/>
          </a:solidFill>
          <a:ln w="12700">
            <a:solidFill>
              <a:srgbClr val="1E293B"/>
            </a:solidFill>
            <a:prstDash val="solid"/>
          </a:ln>
        </p:spPr>
      </p:sp>
      <p:pic>
        <p:nvPicPr>
          <p:cNvPr id="20" name="Image 4" descr="preencoded.png">    </p:cNvPr>
          <p:cNvPicPr>
            <a:picLocks noChangeAspect="1"/>
          </p:cNvPicPr>
          <p:nvPr/>
        </p:nvPicPr>
        <p:blipFill>
          <a:blip r:embed="rId5"/>
          <a:stretch>
            <a:fillRect/>
          </a:stretch>
        </p:blipFill>
        <p:spPr>
          <a:xfrm>
            <a:off x="709574" y="4458614"/>
            <a:ext cx="409651" cy="409651"/>
          </a:xfrm>
          <a:prstGeom prst="rect">
            <a:avLst/>
          </a:prstGeom>
        </p:spPr>
      </p:pic>
      <p:sp>
        <p:nvSpPr>
          <p:cNvPr id="21" name="Text 14"/>
          <p:cNvSpPr txBox="1"/>
          <p:nvPr/>
        </p:nvSpPr>
        <p:spPr>
          <a:xfrm>
            <a:off x="1508760" y="4297680"/>
            <a:ext cx="4389120" cy="365760"/>
          </a:xfrm>
          <a:prstGeom prst="rect">
            <a:avLst/>
          </a:prstGeom>
          <a:noFill/>
          <a:ln/>
        </p:spPr>
        <p:txBody>
          <a:bodyPr wrap="square" lIns="0" tIns="0" rIns="0" bIns="0" rtlCol="0" anchor="t"/>
          <a:lstStyle/>
          <a:p>
            <a:pPr indent="0" marL="0">
              <a:buNone/>
            </a:pPr>
            <a:r>
              <a:rPr lang="en-US" sz="1800" b="1" dirty="0">
                <a:solidFill>
                  <a:srgbClr val="0B1220"/>
                </a:solidFill>
                <a:latin typeface="Avenir Next" pitchFamily="34" charset="0"/>
                <a:ea typeface="Avenir Next" pitchFamily="34" charset="-122"/>
                <a:cs typeface="Avenir Next" pitchFamily="34" charset="-120"/>
              </a:rPr>
              <a:t>No monitoring</a:t>
            </a:r>
            <a:endParaRPr lang="en-US" sz="1800" dirty="0"/>
          </a:p>
        </p:txBody>
      </p:sp>
      <p:sp>
        <p:nvSpPr>
          <p:cNvPr id="22" name="Text 15"/>
          <p:cNvSpPr txBox="1"/>
          <p:nvPr/>
        </p:nvSpPr>
        <p:spPr>
          <a:xfrm>
            <a:off x="1508760" y="4681728"/>
            <a:ext cx="4389120" cy="54864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No audit history, drift detection or production logging</a:t>
            </a:r>
            <a:endParaRPr lang="en-US" sz="1400" dirty="0"/>
          </a:p>
        </p:txBody>
      </p:sp>
      <p:sp>
        <p:nvSpPr>
          <p:cNvPr id="23" name="Shape 16"/>
          <p:cNvSpPr/>
          <p:nvPr/>
        </p:nvSpPr>
        <p:spPr>
          <a:xfrm>
            <a:off x="6217920" y="4297680"/>
            <a:ext cx="731520" cy="731520"/>
          </a:xfrm>
          <a:prstGeom prst="ellipse">
            <a:avLst/>
          </a:prstGeom>
          <a:solidFill>
            <a:srgbClr val="1E293B"/>
          </a:solidFill>
          <a:ln w="12700">
            <a:solidFill>
              <a:srgbClr val="1E293B"/>
            </a:solidFill>
            <a:prstDash val="solid"/>
          </a:ln>
        </p:spPr>
      </p:sp>
      <p:pic>
        <p:nvPicPr>
          <p:cNvPr id="24" name="Image 5" descr="preencoded.png">    </p:cNvPr>
          <p:cNvPicPr>
            <a:picLocks noChangeAspect="1"/>
          </p:cNvPicPr>
          <p:nvPr/>
        </p:nvPicPr>
        <p:blipFill>
          <a:blip r:embed="rId6"/>
          <a:stretch>
            <a:fillRect/>
          </a:stretch>
        </p:blipFill>
        <p:spPr>
          <a:xfrm>
            <a:off x="6378854" y="4458614"/>
            <a:ext cx="409651" cy="409651"/>
          </a:xfrm>
          <a:prstGeom prst="rect">
            <a:avLst/>
          </a:prstGeom>
        </p:spPr>
      </p:pic>
      <p:sp>
        <p:nvSpPr>
          <p:cNvPr id="25" name="Text 17"/>
          <p:cNvSpPr txBox="1"/>
          <p:nvPr/>
        </p:nvSpPr>
        <p:spPr>
          <a:xfrm>
            <a:off x="7178040" y="4297680"/>
            <a:ext cx="4389120" cy="365760"/>
          </a:xfrm>
          <a:prstGeom prst="rect">
            <a:avLst/>
          </a:prstGeom>
          <a:noFill/>
          <a:ln/>
        </p:spPr>
        <p:txBody>
          <a:bodyPr wrap="square" lIns="0" tIns="0" rIns="0" bIns="0" rtlCol="0" anchor="t"/>
          <a:lstStyle/>
          <a:p>
            <a:pPr indent="0" marL="0">
              <a:buNone/>
            </a:pPr>
            <a:r>
              <a:rPr lang="en-US" sz="1800" b="1" dirty="0">
                <a:solidFill>
                  <a:srgbClr val="0B1220"/>
                </a:solidFill>
                <a:latin typeface="Avenir Next" pitchFamily="34" charset="0"/>
                <a:ea typeface="Avenir Next" pitchFamily="34" charset="-122"/>
                <a:cs typeface="Avenir Next" pitchFamily="34" charset="-120"/>
              </a:rPr>
              <a:t>Small fraud sample</a:t>
            </a:r>
            <a:endParaRPr lang="en-US" sz="1800" dirty="0"/>
          </a:p>
        </p:txBody>
      </p:sp>
      <p:sp>
        <p:nvSpPr>
          <p:cNvPr id="26" name="Text 18"/>
          <p:cNvSpPr txBox="1"/>
          <p:nvPr/>
        </p:nvSpPr>
        <p:spPr>
          <a:xfrm>
            <a:off x="7178040" y="4681728"/>
            <a:ext cx="4389120" cy="54864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74 test frauds: one case moves recall by about 1.4 points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Helvetica Neue"/>
                <a:ea typeface="Helvetica Neue"/>
                <a:cs typeface="Helvetica Neue"/>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31520"/>
          </a:xfrm>
          <a:prstGeom prst="rect">
            <a:avLst/>
          </a:prstGeom>
          <a:noFill/>
          <a:ln/>
        </p:spPr>
        <p:txBody>
          <a:bodyPr wrap="square" lIns="0" tIns="0" rIns="0" bIns="0" rtlCol="0" anchor="ctr"/>
          <a:lstStyle/>
          <a:p>
            <a:pPr algn="l" indent="0" marL="0">
              <a:buNone/>
            </a:pPr>
            <a:r>
              <a:rPr lang="en-US" sz="3400" b="1" dirty="0">
                <a:solidFill>
                  <a:srgbClr val="0B1220"/>
                </a:solidFill>
                <a:latin typeface="Avenir Next" pitchFamily="34" charset="0"/>
                <a:ea typeface="Avenir Next" pitchFamily="34" charset="-122"/>
                <a:cs typeface="Avenir Next" pitchFamily="34" charset="-120"/>
              </a:rPr>
              <a:t>Roadmap</a:t>
            </a:r>
            <a:endParaRPr lang="en-US" sz="3400" dirty="0"/>
          </a:p>
        </p:txBody>
      </p:sp>
      <p:sp>
        <p:nvSpPr>
          <p:cNvPr id="3" name="Shape 1"/>
          <p:cNvSpPr/>
          <p:nvPr/>
        </p:nvSpPr>
        <p:spPr>
          <a:xfrm>
            <a:off x="1377925" y="1965960"/>
            <a:ext cx="9435846" cy="0"/>
          </a:xfrm>
          <a:prstGeom prst="line">
            <a:avLst/>
          </a:prstGeom>
          <a:noFill/>
          <a:ln w="25400">
            <a:solidFill>
              <a:srgbClr val="CBD5E1"/>
            </a:solidFill>
            <a:prstDash val="solid"/>
          </a:ln>
        </p:spPr>
      </p:sp>
      <p:sp>
        <p:nvSpPr>
          <p:cNvPr id="4" name="Shape 2"/>
          <p:cNvSpPr/>
          <p:nvPr/>
        </p:nvSpPr>
        <p:spPr>
          <a:xfrm>
            <a:off x="1103605" y="1691640"/>
            <a:ext cx="548640" cy="548640"/>
          </a:xfrm>
          <a:prstGeom prst="ellipse">
            <a:avLst/>
          </a:prstGeom>
          <a:solidFill>
            <a:srgbClr val="EE4C2C"/>
          </a:solidFill>
          <a:ln w="25400">
            <a:solidFill>
              <a:srgbClr val="EE4C2C"/>
            </a:solidFill>
            <a:prstDash val="solid"/>
          </a:ln>
        </p:spPr>
      </p:sp>
      <p:pic>
        <p:nvPicPr>
          <p:cNvPr id="5" name="Image 0" descr="preencoded.png">    </p:cNvPr>
          <p:cNvPicPr>
            <a:picLocks noChangeAspect="1"/>
          </p:cNvPicPr>
          <p:nvPr/>
        </p:nvPicPr>
        <p:blipFill>
          <a:blip r:embed="rId1"/>
          <a:stretch>
            <a:fillRect/>
          </a:stretch>
        </p:blipFill>
        <p:spPr>
          <a:xfrm>
            <a:off x="1231621" y="1819656"/>
            <a:ext cx="292608" cy="292608"/>
          </a:xfrm>
          <a:prstGeom prst="rect">
            <a:avLst/>
          </a:prstGeom>
        </p:spPr>
      </p:pic>
      <p:sp>
        <p:nvSpPr>
          <p:cNvPr id="6" name="Shape 3"/>
          <p:cNvSpPr/>
          <p:nvPr/>
        </p:nvSpPr>
        <p:spPr>
          <a:xfrm>
            <a:off x="548640" y="2606040"/>
            <a:ext cx="1658569" cy="2834640"/>
          </a:xfrm>
          <a:prstGeom prst="roundRect">
            <a:avLst>
              <a:gd name="adj" fmla="val 6616"/>
            </a:avLst>
          </a:prstGeom>
          <a:solidFill>
            <a:srgbClr val="FDE7E2"/>
          </a:solidFill>
          <a:ln w="12700">
            <a:solidFill>
              <a:srgbClr val="FDE7E2"/>
            </a:solidFill>
            <a:prstDash val="solid"/>
          </a:ln>
        </p:spPr>
      </p:sp>
      <p:sp>
        <p:nvSpPr>
          <p:cNvPr id="7" name="Text 4"/>
          <p:cNvSpPr txBox="1"/>
          <p:nvPr/>
        </p:nvSpPr>
        <p:spPr>
          <a:xfrm>
            <a:off x="731520" y="2834640"/>
            <a:ext cx="1292809" cy="274320"/>
          </a:xfrm>
          <a:prstGeom prst="rect">
            <a:avLst/>
          </a:prstGeom>
          <a:noFill/>
          <a:ln/>
        </p:spPr>
        <p:txBody>
          <a:bodyPr wrap="square" lIns="0" tIns="0" rIns="0" bIns="0" rtlCol="0" anchor="t"/>
          <a:lstStyle/>
          <a:p>
            <a:pPr indent="0" marL="0">
              <a:buNone/>
            </a:pPr>
            <a:r>
              <a:rPr lang="en-US" sz="1100" b="1" spc="200" kern="0" dirty="0">
                <a:solidFill>
                  <a:srgbClr val="EE4C2C"/>
                </a:solidFill>
                <a:latin typeface="Avenir Next" pitchFamily="34" charset="0"/>
                <a:ea typeface="Avenir Next" pitchFamily="34" charset="-122"/>
                <a:cs typeface="Avenir Next" pitchFamily="34" charset="-120"/>
              </a:rPr>
              <a:t>PHASE 1</a:t>
            </a:r>
            <a:endParaRPr lang="en-US" sz="1100" dirty="0"/>
          </a:p>
        </p:txBody>
      </p:sp>
      <p:sp>
        <p:nvSpPr>
          <p:cNvPr id="8" name="Text 5"/>
          <p:cNvSpPr txBox="1"/>
          <p:nvPr/>
        </p:nvSpPr>
        <p:spPr>
          <a:xfrm>
            <a:off x="731520" y="3154680"/>
            <a:ext cx="1292809" cy="685800"/>
          </a:xfrm>
          <a:prstGeom prst="rect">
            <a:avLst/>
          </a:prstGeom>
          <a:noFill/>
          <a:ln/>
        </p:spPr>
        <p:txBody>
          <a:bodyPr wrap="square" lIns="0" tIns="0" rIns="0" bIns="0" rtlCol="0" anchor="t"/>
          <a:lstStyle/>
          <a:p>
            <a:pPr indent="0" marL="0">
              <a:buNone/>
            </a:pPr>
            <a:r>
              <a:rPr lang="en-US" sz="1800" b="1" dirty="0">
                <a:solidFill>
                  <a:srgbClr val="0B1220"/>
                </a:solidFill>
                <a:latin typeface="Avenir Next" pitchFamily="34" charset="0"/>
                <a:ea typeface="Avenir Next" pitchFamily="34" charset="-122"/>
                <a:cs typeface="Avenir Next" pitchFamily="34" charset="-120"/>
              </a:rPr>
              <a:t>MVP</a:t>
            </a:r>
            <a:endParaRPr lang="en-US" sz="1800" dirty="0"/>
          </a:p>
        </p:txBody>
      </p:sp>
      <p:sp>
        <p:nvSpPr>
          <p:cNvPr id="9" name="Text 6"/>
          <p:cNvSpPr txBox="1"/>
          <p:nvPr/>
        </p:nvSpPr>
        <p:spPr>
          <a:xfrm>
            <a:off x="731520" y="3886200"/>
            <a:ext cx="1292809" cy="1371600"/>
          </a:xfrm>
          <a:prstGeom prst="rect">
            <a:avLst/>
          </a:prstGeom>
          <a:noFill/>
          <a:ln/>
        </p:spPr>
        <p:txBody>
          <a:bodyPr wrap="square" lIns="0" tIns="0" rIns="0" bIns="0" rtlCol="0" anchor="t"/>
          <a:lstStyle/>
          <a:p>
            <a:pPr indent="0" marL="0">
              <a:buNone/>
            </a:pPr>
            <a:r>
              <a:rPr lang="en-US" sz="1300" dirty="0">
                <a:solidFill>
                  <a:srgbClr val="64748B"/>
                </a:solidFill>
                <a:latin typeface="Helvetica Neue" pitchFamily="34" charset="0"/>
                <a:ea typeface="Helvetica Neue" pitchFamily="34" charset="-122"/>
                <a:cs typeface="Helvetica Neue" pitchFamily="34" charset="-120"/>
              </a:rPr>
              <a:t>PyTorch model, FastAPI, Streamlit, tests</a:t>
            </a:r>
            <a:endParaRPr lang="en-US" sz="1300" dirty="0"/>
          </a:p>
        </p:txBody>
      </p:sp>
      <p:sp>
        <p:nvSpPr>
          <p:cNvPr id="10" name="Shape 7"/>
          <p:cNvSpPr/>
          <p:nvPr/>
        </p:nvSpPr>
        <p:spPr>
          <a:xfrm>
            <a:off x="2990774" y="1691640"/>
            <a:ext cx="548640" cy="548640"/>
          </a:xfrm>
          <a:prstGeom prst="ellipse">
            <a:avLst/>
          </a:prstGeom>
          <a:solidFill>
            <a:srgbClr val="FFFFFF"/>
          </a:solidFill>
          <a:ln w="25400">
            <a:solidFill>
              <a:srgbClr val="1E293B"/>
            </a:solidFill>
            <a:prstDash val="solid"/>
          </a:ln>
        </p:spPr>
      </p:sp>
      <p:sp>
        <p:nvSpPr>
          <p:cNvPr id="11" name="Shape 8"/>
          <p:cNvSpPr/>
          <p:nvPr/>
        </p:nvSpPr>
        <p:spPr>
          <a:xfrm>
            <a:off x="2435809" y="2606040"/>
            <a:ext cx="1658569" cy="2834640"/>
          </a:xfrm>
          <a:prstGeom prst="roundRect">
            <a:avLst>
              <a:gd name="adj" fmla="val 6616"/>
            </a:avLst>
          </a:prstGeom>
          <a:solidFill>
            <a:srgbClr val="F1F5F9"/>
          </a:solidFill>
          <a:ln w="12700">
            <a:solidFill>
              <a:srgbClr val="F1F5F9"/>
            </a:solidFill>
            <a:prstDash val="solid"/>
          </a:ln>
        </p:spPr>
      </p:sp>
      <p:sp>
        <p:nvSpPr>
          <p:cNvPr id="12" name="Text 9"/>
          <p:cNvSpPr txBox="1"/>
          <p:nvPr/>
        </p:nvSpPr>
        <p:spPr>
          <a:xfrm>
            <a:off x="2618689" y="2834640"/>
            <a:ext cx="1292809" cy="274320"/>
          </a:xfrm>
          <a:prstGeom prst="rect">
            <a:avLst/>
          </a:prstGeom>
          <a:noFill/>
          <a:ln/>
        </p:spPr>
        <p:txBody>
          <a:bodyPr wrap="square" lIns="0" tIns="0" rIns="0" bIns="0" rtlCol="0" anchor="t"/>
          <a:lstStyle/>
          <a:p>
            <a:pPr indent="0" marL="0">
              <a:buNone/>
            </a:pPr>
            <a:r>
              <a:rPr lang="en-US" sz="1100" b="1" spc="200" kern="0" dirty="0">
                <a:solidFill>
                  <a:srgbClr val="64748B"/>
                </a:solidFill>
                <a:latin typeface="Avenir Next" pitchFamily="34" charset="0"/>
                <a:ea typeface="Avenir Next" pitchFamily="34" charset="-122"/>
                <a:cs typeface="Avenir Next" pitchFamily="34" charset="-120"/>
              </a:rPr>
              <a:t>PHASE 2</a:t>
            </a:r>
            <a:endParaRPr lang="en-US" sz="1100" dirty="0"/>
          </a:p>
        </p:txBody>
      </p:sp>
      <p:sp>
        <p:nvSpPr>
          <p:cNvPr id="13" name="Text 10"/>
          <p:cNvSpPr txBox="1"/>
          <p:nvPr/>
        </p:nvSpPr>
        <p:spPr>
          <a:xfrm>
            <a:off x="2618689" y="3154680"/>
            <a:ext cx="1292809" cy="685800"/>
          </a:xfrm>
          <a:prstGeom prst="rect">
            <a:avLst/>
          </a:prstGeom>
          <a:noFill/>
          <a:ln/>
        </p:spPr>
        <p:txBody>
          <a:bodyPr wrap="square" lIns="0" tIns="0" rIns="0" bIns="0" rtlCol="0" anchor="t"/>
          <a:lstStyle/>
          <a:p>
            <a:pPr indent="0" marL="0">
              <a:buNone/>
            </a:pPr>
            <a:r>
              <a:rPr lang="en-US" sz="1800" b="1" dirty="0">
                <a:solidFill>
                  <a:srgbClr val="0B1220"/>
                </a:solidFill>
                <a:latin typeface="Avenir Next" pitchFamily="34" charset="0"/>
                <a:ea typeface="Avenir Next" pitchFamily="34" charset="-122"/>
                <a:cs typeface="Avenir Next" pitchFamily="34" charset="-120"/>
              </a:rPr>
              <a:t>Enterprise app</a:t>
            </a:r>
            <a:endParaRPr lang="en-US" sz="1800" dirty="0"/>
          </a:p>
        </p:txBody>
      </p:sp>
      <p:sp>
        <p:nvSpPr>
          <p:cNvPr id="14" name="Text 11"/>
          <p:cNvSpPr txBox="1"/>
          <p:nvPr/>
        </p:nvSpPr>
        <p:spPr>
          <a:xfrm>
            <a:off x="2618689" y="3886200"/>
            <a:ext cx="1292809" cy="1371600"/>
          </a:xfrm>
          <a:prstGeom prst="rect">
            <a:avLst/>
          </a:prstGeom>
          <a:noFill/>
          <a:ln/>
        </p:spPr>
        <p:txBody>
          <a:bodyPr wrap="square" lIns="0" tIns="0" rIns="0" bIns="0" rtlCol="0" anchor="t"/>
          <a:lstStyle/>
          <a:p>
            <a:pPr indent="0" marL="0">
              <a:buNone/>
            </a:pPr>
            <a:r>
              <a:rPr lang="en-US" sz="1300" dirty="0">
                <a:solidFill>
                  <a:srgbClr val="64748B"/>
                </a:solidFill>
                <a:latin typeface="Helvetica Neue" pitchFamily="34" charset="0"/>
                <a:ea typeface="Helvetica Neue" pitchFamily="34" charset="-122"/>
                <a:cs typeface="Helvetica Neue" pitchFamily="34" charset="-120"/>
              </a:rPr>
              <a:t>Spring Boot, React, PostgreSQL, auth, audit</a:t>
            </a:r>
            <a:endParaRPr lang="en-US" sz="1300" dirty="0"/>
          </a:p>
        </p:txBody>
      </p:sp>
      <p:sp>
        <p:nvSpPr>
          <p:cNvPr id="15" name="Shape 12"/>
          <p:cNvSpPr/>
          <p:nvPr/>
        </p:nvSpPr>
        <p:spPr>
          <a:xfrm>
            <a:off x="4877943" y="1691640"/>
            <a:ext cx="548640" cy="548640"/>
          </a:xfrm>
          <a:prstGeom prst="ellipse">
            <a:avLst/>
          </a:prstGeom>
          <a:solidFill>
            <a:srgbClr val="FFFFFF"/>
          </a:solidFill>
          <a:ln w="25400">
            <a:solidFill>
              <a:srgbClr val="1E293B"/>
            </a:solidFill>
            <a:prstDash val="solid"/>
          </a:ln>
        </p:spPr>
      </p:sp>
      <p:sp>
        <p:nvSpPr>
          <p:cNvPr id="16" name="Shape 13"/>
          <p:cNvSpPr/>
          <p:nvPr/>
        </p:nvSpPr>
        <p:spPr>
          <a:xfrm>
            <a:off x="4322978" y="2606040"/>
            <a:ext cx="1658569" cy="2834640"/>
          </a:xfrm>
          <a:prstGeom prst="roundRect">
            <a:avLst>
              <a:gd name="adj" fmla="val 6616"/>
            </a:avLst>
          </a:prstGeom>
          <a:solidFill>
            <a:srgbClr val="F1F5F9"/>
          </a:solidFill>
          <a:ln w="12700">
            <a:solidFill>
              <a:srgbClr val="F1F5F9"/>
            </a:solidFill>
            <a:prstDash val="solid"/>
          </a:ln>
        </p:spPr>
      </p:sp>
      <p:sp>
        <p:nvSpPr>
          <p:cNvPr id="17" name="Text 14"/>
          <p:cNvSpPr txBox="1"/>
          <p:nvPr/>
        </p:nvSpPr>
        <p:spPr>
          <a:xfrm>
            <a:off x="4505858" y="2834640"/>
            <a:ext cx="1292809" cy="274320"/>
          </a:xfrm>
          <a:prstGeom prst="rect">
            <a:avLst/>
          </a:prstGeom>
          <a:noFill/>
          <a:ln/>
        </p:spPr>
        <p:txBody>
          <a:bodyPr wrap="square" lIns="0" tIns="0" rIns="0" bIns="0" rtlCol="0" anchor="t"/>
          <a:lstStyle/>
          <a:p>
            <a:pPr indent="0" marL="0">
              <a:buNone/>
            </a:pPr>
            <a:r>
              <a:rPr lang="en-US" sz="1100" b="1" spc="200" kern="0" dirty="0">
                <a:solidFill>
                  <a:srgbClr val="64748B"/>
                </a:solidFill>
                <a:latin typeface="Avenir Next" pitchFamily="34" charset="0"/>
                <a:ea typeface="Avenir Next" pitchFamily="34" charset="-122"/>
                <a:cs typeface="Avenir Next" pitchFamily="34" charset="-120"/>
              </a:rPr>
              <a:t>PHASE 3</a:t>
            </a:r>
            <a:endParaRPr lang="en-US" sz="1100" dirty="0"/>
          </a:p>
        </p:txBody>
      </p:sp>
      <p:sp>
        <p:nvSpPr>
          <p:cNvPr id="18" name="Text 15"/>
          <p:cNvSpPr txBox="1"/>
          <p:nvPr/>
        </p:nvSpPr>
        <p:spPr>
          <a:xfrm>
            <a:off x="4505858" y="3154680"/>
            <a:ext cx="1292809" cy="685800"/>
          </a:xfrm>
          <a:prstGeom prst="rect">
            <a:avLst/>
          </a:prstGeom>
          <a:noFill/>
          <a:ln/>
        </p:spPr>
        <p:txBody>
          <a:bodyPr wrap="square" lIns="0" tIns="0" rIns="0" bIns="0" rtlCol="0" anchor="t"/>
          <a:lstStyle/>
          <a:p>
            <a:pPr indent="0" marL="0">
              <a:buNone/>
            </a:pPr>
            <a:r>
              <a:rPr lang="en-US" sz="1800" b="1" dirty="0">
                <a:solidFill>
                  <a:srgbClr val="0B1220"/>
                </a:solidFill>
                <a:latin typeface="Avenir Next" pitchFamily="34" charset="0"/>
                <a:ea typeface="Avenir Next" pitchFamily="34" charset="-122"/>
                <a:cs typeface="Avenir Next" pitchFamily="34" charset="-120"/>
              </a:rPr>
              <a:t>Real-time</a:t>
            </a:r>
            <a:endParaRPr lang="en-US" sz="1800" dirty="0"/>
          </a:p>
        </p:txBody>
      </p:sp>
      <p:sp>
        <p:nvSpPr>
          <p:cNvPr id="19" name="Text 16"/>
          <p:cNvSpPr txBox="1"/>
          <p:nvPr/>
        </p:nvSpPr>
        <p:spPr>
          <a:xfrm>
            <a:off x="4505858" y="3886200"/>
            <a:ext cx="1292809" cy="1371600"/>
          </a:xfrm>
          <a:prstGeom prst="rect">
            <a:avLst/>
          </a:prstGeom>
          <a:noFill/>
          <a:ln/>
        </p:spPr>
        <p:txBody>
          <a:bodyPr wrap="square" lIns="0" tIns="0" rIns="0" bIns="0" rtlCol="0" anchor="t"/>
          <a:lstStyle/>
          <a:p>
            <a:pPr indent="0" marL="0">
              <a:buNone/>
            </a:pPr>
            <a:r>
              <a:rPr lang="en-US" sz="1300" dirty="0">
                <a:solidFill>
                  <a:srgbClr val="64748B"/>
                </a:solidFill>
                <a:latin typeface="Helvetica Neue" pitchFamily="34" charset="0"/>
                <a:ea typeface="Helvetica Neue" pitchFamily="34" charset="-122"/>
                <a:cs typeface="Helvetica Neue" pitchFamily="34" charset="-120"/>
              </a:rPr>
              <a:t>Kafka ingestion, async scoring, drift detection</a:t>
            </a:r>
            <a:endParaRPr lang="en-US" sz="1300" dirty="0"/>
          </a:p>
        </p:txBody>
      </p:sp>
      <p:sp>
        <p:nvSpPr>
          <p:cNvPr id="20" name="Shape 17"/>
          <p:cNvSpPr/>
          <p:nvPr/>
        </p:nvSpPr>
        <p:spPr>
          <a:xfrm>
            <a:off x="6765112" y="1691640"/>
            <a:ext cx="548640" cy="548640"/>
          </a:xfrm>
          <a:prstGeom prst="ellipse">
            <a:avLst/>
          </a:prstGeom>
          <a:solidFill>
            <a:srgbClr val="FFFFFF"/>
          </a:solidFill>
          <a:ln w="25400">
            <a:solidFill>
              <a:srgbClr val="1E293B"/>
            </a:solidFill>
            <a:prstDash val="solid"/>
          </a:ln>
        </p:spPr>
      </p:sp>
      <p:sp>
        <p:nvSpPr>
          <p:cNvPr id="21" name="Shape 18"/>
          <p:cNvSpPr/>
          <p:nvPr/>
        </p:nvSpPr>
        <p:spPr>
          <a:xfrm>
            <a:off x="6210148" y="2606040"/>
            <a:ext cx="1658569" cy="2834640"/>
          </a:xfrm>
          <a:prstGeom prst="roundRect">
            <a:avLst>
              <a:gd name="adj" fmla="val 6616"/>
            </a:avLst>
          </a:prstGeom>
          <a:solidFill>
            <a:srgbClr val="F1F5F9"/>
          </a:solidFill>
          <a:ln w="12700">
            <a:solidFill>
              <a:srgbClr val="F1F5F9"/>
            </a:solidFill>
            <a:prstDash val="solid"/>
          </a:ln>
        </p:spPr>
      </p:sp>
      <p:sp>
        <p:nvSpPr>
          <p:cNvPr id="22" name="Text 19"/>
          <p:cNvSpPr txBox="1"/>
          <p:nvPr/>
        </p:nvSpPr>
        <p:spPr>
          <a:xfrm>
            <a:off x="6393028" y="2834640"/>
            <a:ext cx="1292809" cy="274320"/>
          </a:xfrm>
          <a:prstGeom prst="rect">
            <a:avLst/>
          </a:prstGeom>
          <a:noFill/>
          <a:ln/>
        </p:spPr>
        <p:txBody>
          <a:bodyPr wrap="square" lIns="0" tIns="0" rIns="0" bIns="0" rtlCol="0" anchor="t"/>
          <a:lstStyle/>
          <a:p>
            <a:pPr indent="0" marL="0">
              <a:buNone/>
            </a:pPr>
            <a:r>
              <a:rPr lang="en-US" sz="1100" b="1" spc="200" kern="0" dirty="0">
                <a:solidFill>
                  <a:srgbClr val="64748B"/>
                </a:solidFill>
                <a:latin typeface="Avenir Next" pitchFamily="34" charset="0"/>
                <a:ea typeface="Avenir Next" pitchFamily="34" charset="-122"/>
                <a:cs typeface="Avenir Next" pitchFamily="34" charset="-120"/>
              </a:rPr>
              <a:t>PHASE 4</a:t>
            </a:r>
            <a:endParaRPr lang="en-US" sz="1100" dirty="0"/>
          </a:p>
        </p:txBody>
      </p:sp>
      <p:sp>
        <p:nvSpPr>
          <p:cNvPr id="23" name="Text 20"/>
          <p:cNvSpPr txBox="1"/>
          <p:nvPr/>
        </p:nvSpPr>
        <p:spPr>
          <a:xfrm>
            <a:off x="6393028" y="3154680"/>
            <a:ext cx="1292809" cy="685800"/>
          </a:xfrm>
          <a:prstGeom prst="rect">
            <a:avLst/>
          </a:prstGeom>
          <a:noFill/>
          <a:ln/>
        </p:spPr>
        <p:txBody>
          <a:bodyPr wrap="square" lIns="0" tIns="0" rIns="0" bIns="0" rtlCol="0" anchor="t"/>
          <a:lstStyle/>
          <a:p>
            <a:pPr indent="0" marL="0">
              <a:buNone/>
            </a:pPr>
            <a:r>
              <a:rPr lang="en-US" sz="1800" b="1" dirty="0">
                <a:solidFill>
                  <a:srgbClr val="0B1220"/>
                </a:solidFill>
                <a:latin typeface="Avenir Next" pitchFamily="34" charset="0"/>
                <a:ea typeface="Avenir Next" pitchFamily="34" charset="-122"/>
                <a:cs typeface="Avenir Next" pitchFamily="34" charset="-120"/>
              </a:rPr>
              <a:t>Better model</a:t>
            </a:r>
            <a:endParaRPr lang="en-US" sz="1800" dirty="0"/>
          </a:p>
        </p:txBody>
      </p:sp>
      <p:sp>
        <p:nvSpPr>
          <p:cNvPr id="24" name="Text 21"/>
          <p:cNvSpPr txBox="1"/>
          <p:nvPr/>
        </p:nvSpPr>
        <p:spPr>
          <a:xfrm>
            <a:off x="6393028" y="3886200"/>
            <a:ext cx="1292809" cy="1371600"/>
          </a:xfrm>
          <a:prstGeom prst="rect">
            <a:avLst/>
          </a:prstGeom>
          <a:noFill/>
          <a:ln/>
        </p:spPr>
        <p:txBody>
          <a:bodyPr wrap="square" lIns="0" tIns="0" rIns="0" bIns="0" rtlCol="0" anchor="t"/>
          <a:lstStyle/>
          <a:p>
            <a:pPr indent="0" marL="0">
              <a:buNone/>
            </a:pPr>
            <a:r>
              <a:rPr lang="en-US" sz="1300" dirty="0">
                <a:solidFill>
                  <a:srgbClr val="64748B"/>
                </a:solidFill>
                <a:latin typeface="Helvetica Neue" pitchFamily="34" charset="0"/>
                <a:ea typeface="Helvetica Neue" pitchFamily="34" charset="-122"/>
                <a:cs typeface="Helvetica Neue" pitchFamily="34" charset="-120"/>
              </a:rPr>
              <a:t>Tuning, SHAP explanations, XGBoost baseline</a:t>
            </a:r>
            <a:endParaRPr lang="en-US" sz="1300" dirty="0"/>
          </a:p>
        </p:txBody>
      </p:sp>
      <p:sp>
        <p:nvSpPr>
          <p:cNvPr id="25" name="Shape 22"/>
          <p:cNvSpPr/>
          <p:nvPr/>
        </p:nvSpPr>
        <p:spPr>
          <a:xfrm>
            <a:off x="8652281" y="1691640"/>
            <a:ext cx="548640" cy="548640"/>
          </a:xfrm>
          <a:prstGeom prst="ellipse">
            <a:avLst/>
          </a:prstGeom>
          <a:solidFill>
            <a:srgbClr val="FFFFFF"/>
          </a:solidFill>
          <a:ln w="25400">
            <a:solidFill>
              <a:srgbClr val="1E293B"/>
            </a:solidFill>
            <a:prstDash val="solid"/>
          </a:ln>
        </p:spPr>
      </p:sp>
      <p:sp>
        <p:nvSpPr>
          <p:cNvPr id="26" name="Shape 23"/>
          <p:cNvSpPr/>
          <p:nvPr/>
        </p:nvSpPr>
        <p:spPr>
          <a:xfrm>
            <a:off x="8097317" y="2606040"/>
            <a:ext cx="1658569" cy="2834640"/>
          </a:xfrm>
          <a:prstGeom prst="roundRect">
            <a:avLst>
              <a:gd name="adj" fmla="val 6616"/>
            </a:avLst>
          </a:prstGeom>
          <a:solidFill>
            <a:srgbClr val="F1F5F9"/>
          </a:solidFill>
          <a:ln w="12700">
            <a:solidFill>
              <a:srgbClr val="F1F5F9"/>
            </a:solidFill>
            <a:prstDash val="solid"/>
          </a:ln>
        </p:spPr>
      </p:sp>
      <p:sp>
        <p:nvSpPr>
          <p:cNvPr id="27" name="Text 24"/>
          <p:cNvSpPr txBox="1"/>
          <p:nvPr/>
        </p:nvSpPr>
        <p:spPr>
          <a:xfrm>
            <a:off x="8280197" y="2834640"/>
            <a:ext cx="1292809" cy="274320"/>
          </a:xfrm>
          <a:prstGeom prst="rect">
            <a:avLst/>
          </a:prstGeom>
          <a:noFill/>
          <a:ln/>
        </p:spPr>
        <p:txBody>
          <a:bodyPr wrap="square" lIns="0" tIns="0" rIns="0" bIns="0" rtlCol="0" anchor="t"/>
          <a:lstStyle/>
          <a:p>
            <a:pPr indent="0" marL="0">
              <a:buNone/>
            </a:pPr>
            <a:r>
              <a:rPr lang="en-US" sz="1100" b="1" spc="200" kern="0" dirty="0">
                <a:solidFill>
                  <a:srgbClr val="64748B"/>
                </a:solidFill>
                <a:latin typeface="Avenir Next" pitchFamily="34" charset="0"/>
                <a:ea typeface="Avenir Next" pitchFamily="34" charset="-122"/>
                <a:cs typeface="Avenir Next" pitchFamily="34" charset="-120"/>
              </a:rPr>
              <a:t>PHASE 5</a:t>
            </a:r>
            <a:endParaRPr lang="en-US" sz="1100" dirty="0"/>
          </a:p>
        </p:txBody>
      </p:sp>
      <p:sp>
        <p:nvSpPr>
          <p:cNvPr id="28" name="Text 25"/>
          <p:cNvSpPr txBox="1"/>
          <p:nvPr/>
        </p:nvSpPr>
        <p:spPr>
          <a:xfrm>
            <a:off x="8280197" y="3154680"/>
            <a:ext cx="1292809" cy="685800"/>
          </a:xfrm>
          <a:prstGeom prst="rect">
            <a:avLst/>
          </a:prstGeom>
          <a:noFill/>
          <a:ln/>
        </p:spPr>
        <p:txBody>
          <a:bodyPr wrap="square" lIns="0" tIns="0" rIns="0" bIns="0" rtlCol="0" anchor="t"/>
          <a:lstStyle/>
          <a:p>
            <a:pPr indent="0" marL="0">
              <a:buNone/>
            </a:pPr>
            <a:r>
              <a:rPr lang="en-US" sz="1800" b="1" dirty="0">
                <a:solidFill>
                  <a:srgbClr val="0B1220"/>
                </a:solidFill>
                <a:latin typeface="Avenir Next" pitchFamily="34" charset="0"/>
                <a:ea typeface="Avenir Next" pitchFamily="34" charset="-122"/>
                <a:cs typeface="Avenir Next" pitchFamily="34" charset="-120"/>
              </a:rPr>
              <a:t>Advanced AI</a:t>
            </a:r>
            <a:endParaRPr lang="en-US" sz="1800" dirty="0"/>
          </a:p>
        </p:txBody>
      </p:sp>
      <p:sp>
        <p:nvSpPr>
          <p:cNvPr id="29" name="Text 26"/>
          <p:cNvSpPr txBox="1"/>
          <p:nvPr/>
        </p:nvSpPr>
        <p:spPr>
          <a:xfrm>
            <a:off x="8280197" y="3886200"/>
            <a:ext cx="1292809" cy="1371600"/>
          </a:xfrm>
          <a:prstGeom prst="rect">
            <a:avLst/>
          </a:prstGeom>
          <a:noFill/>
          <a:ln/>
        </p:spPr>
        <p:txBody>
          <a:bodyPr wrap="square" lIns="0" tIns="0" rIns="0" bIns="0" rtlCol="0" anchor="t"/>
          <a:lstStyle/>
          <a:p>
            <a:pPr indent="0" marL="0">
              <a:buNone/>
            </a:pPr>
            <a:r>
              <a:rPr lang="en-US" sz="1300" dirty="0">
                <a:solidFill>
                  <a:srgbClr val="64748B"/>
                </a:solidFill>
                <a:latin typeface="Helvetica Neue" pitchFamily="34" charset="0"/>
                <a:ea typeface="Helvetica Neue" pitchFamily="34" charset="-122"/>
                <a:cs typeface="Helvetica Neue" pitchFamily="34" charset="-120"/>
              </a:rPr>
              <a:t>Graph neural networks, LLM investigator assistant</a:t>
            </a:r>
            <a:endParaRPr lang="en-US" sz="1300" dirty="0"/>
          </a:p>
        </p:txBody>
      </p:sp>
      <p:sp>
        <p:nvSpPr>
          <p:cNvPr id="30" name="Shape 27"/>
          <p:cNvSpPr/>
          <p:nvPr/>
        </p:nvSpPr>
        <p:spPr>
          <a:xfrm>
            <a:off x="10539451" y="1691640"/>
            <a:ext cx="548640" cy="548640"/>
          </a:xfrm>
          <a:prstGeom prst="ellipse">
            <a:avLst/>
          </a:prstGeom>
          <a:solidFill>
            <a:srgbClr val="FFFFFF"/>
          </a:solidFill>
          <a:ln w="25400">
            <a:solidFill>
              <a:srgbClr val="1E293B"/>
            </a:solidFill>
            <a:prstDash val="solid"/>
          </a:ln>
        </p:spPr>
      </p:sp>
      <p:sp>
        <p:nvSpPr>
          <p:cNvPr id="31" name="Shape 28"/>
          <p:cNvSpPr/>
          <p:nvPr/>
        </p:nvSpPr>
        <p:spPr>
          <a:xfrm>
            <a:off x="9984486" y="2606040"/>
            <a:ext cx="1658569" cy="2834640"/>
          </a:xfrm>
          <a:prstGeom prst="roundRect">
            <a:avLst>
              <a:gd name="adj" fmla="val 6616"/>
            </a:avLst>
          </a:prstGeom>
          <a:solidFill>
            <a:srgbClr val="F1F5F9"/>
          </a:solidFill>
          <a:ln w="12700">
            <a:solidFill>
              <a:srgbClr val="F1F5F9"/>
            </a:solidFill>
            <a:prstDash val="solid"/>
          </a:ln>
        </p:spPr>
      </p:sp>
      <p:sp>
        <p:nvSpPr>
          <p:cNvPr id="32" name="Text 29"/>
          <p:cNvSpPr txBox="1"/>
          <p:nvPr/>
        </p:nvSpPr>
        <p:spPr>
          <a:xfrm>
            <a:off x="10167366" y="2834640"/>
            <a:ext cx="1292809" cy="274320"/>
          </a:xfrm>
          <a:prstGeom prst="rect">
            <a:avLst/>
          </a:prstGeom>
          <a:noFill/>
          <a:ln/>
        </p:spPr>
        <p:txBody>
          <a:bodyPr wrap="square" lIns="0" tIns="0" rIns="0" bIns="0" rtlCol="0" anchor="t"/>
          <a:lstStyle/>
          <a:p>
            <a:pPr indent="0" marL="0">
              <a:buNone/>
            </a:pPr>
            <a:r>
              <a:rPr lang="en-US" sz="1100" b="1" spc="200" kern="0" dirty="0">
                <a:solidFill>
                  <a:srgbClr val="64748B"/>
                </a:solidFill>
                <a:latin typeface="Avenir Next" pitchFamily="34" charset="0"/>
                <a:ea typeface="Avenir Next" pitchFamily="34" charset="-122"/>
                <a:cs typeface="Avenir Next" pitchFamily="34" charset="-120"/>
              </a:rPr>
              <a:t>PHASE 6</a:t>
            </a:r>
            <a:endParaRPr lang="en-US" sz="1100" dirty="0"/>
          </a:p>
        </p:txBody>
      </p:sp>
      <p:sp>
        <p:nvSpPr>
          <p:cNvPr id="33" name="Text 30"/>
          <p:cNvSpPr txBox="1"/>
          <p:nvPr/>
        </p:nvSpPr>
        <p:spPr>
          <a:xfrm>
            <a:off x="10167366" y="3154680"/>
            <a:ext cx="1292809" cy="685800"/>
          </a:xfrm>
          <a:prstGeom prst="rect">
            <a:avLst/>
          </a:prstGeom>
          <a:noFill/>
          <a:ln/>
        </p:spPr>
        <p:txBody>
          <a:bodyPr wrap="square" lIns="0" tIns="0" rIns="0" bIns="0" rtlCol="0" anchor="t"/>
          <a:lstStyle/>
          <a:p>
            <a:pPr indent="0" marL="0">
              <a:buNone/>
            </a:pPr>
            <a:r>
              <a:rPr lang="en-US" sz="1800" b="1" dirty="0">
                <a:solidFill>
                  <a:srgbClr val="0B1220"/>
                </a:solidFill>
                <a:latin typeface="Avenir Next" pitchFamily="34" charset="0"/>
                <a:ea typeface="Avenir Next" pitchFamily="34" charset="-122"/>
                <a:cs typeface="Avenir Next" pitchFamily="34" charset="-120"/>
              </a:rPr>
              <a:t>Cloud</a:t>
            </a:r>
            <a:endParaRPr lang="en-US" sz="1800" dirty="0"/>
          </a:p>
        </p:txBody>
      </p:sp>
      <p:sp>
        <p:nvSpPr>
          <p:cNvPr id="34" name="Text 31"/>
          <p:cNvSpPr txBox="1"/>
          <p:nvPr/>
        </p:nvSpPr>
        <p:spPr>
          <a:xfrm>
            <a:off x="10167366" y="3886200"/>
            <a:ext cx="1292809" cy="1371600"/>
          </a:xfrm>
          <a:prstGeom prst="rect">
            <a:avLst/>
          </a:prstGeom>
          <a:noFill/>
          <a:ln/>
        </p:spPr>
        <p:txBody>
          <a:bodyPr wrap="square" lIns="0" tIns="0" rIns="0" bIns="0" rtlCol="0" anchor="t"/>
          <a:lstStyle/>
          <a:p>
            <a:pPr indent="0" marL="0">
              <a:buNone/>
            </a:pPr>
            <a:r>
              <a:rPr lang="en-US" sz="1300" dirty="0">
                <a:solidFill>
                  <a:srgbClr val="64748B"/>
                </a:solidFill>
                <a:latin typeface="Helvetica Neue" pitchFamily="34" charset="0"/>
                <a:ea typeface="Helvetica Neue" pitchFamily="34" charset="-122"/>
                <a:cs typeface="Helvetica Neue" pitchFamily="34" charset="-120"/>
              </a:rPr>
              <a:t>Docker, AWS, CI/CD, observability</a:t>
            </a:r>
            <a:endParaRPr lang="en-US" sz="1300" dirty="0"/>
          </a:p>
        </p:txBody>
      </p:sp>
      <p:sp>
        <p:nvSpPr>
          <p:cNvPr id="35" name="Text 32"/>
          <p:cNvSpPr txBox="1"/>
          <p:nvPr/>
        </p:nvSpPr>
        <p:spPr>
          <a:xfrm>
            <a:off x="548640" y="5669280"/>
            <a:ext cx="11094415" cy="320040"/>
          </a:xfrm>
          <a:prstGeom prst="rect">
            <a:avLst/>
          </a:prstGeom>
          <a:noFill/>
          <a:ln/>
        </p:spPr>
        <p:txBody>
          <a:bodyPr wrap="square" lIns="0" tIns="0" rIns="0" bIns="0" rtlCol="0" anchor="t"/>
          <a:lstStyle/>
          <a:p>
            <a:pPr indent="0" marL="0">
              <a:buNone/>
            </a:pPr>
            <a:r>
              <a:rPr lang="en-US" sz="1400" dirty="0">
                <a:solidFill>
                  <a:srgbClr val="64748B"/>
                </a:solidFill>
                <a:latin typeface="Helvetica Neue" pitchFamily="34" charset="0"/>
                <a:ea typeface="Helvetica Neue" pitchFamily="34" charset="-122"/>
                <a:cs typeface="Helvetica Neue" pitchFamily="34" charset="-120"/>
              </a:rPr>
              <a:t>Phase 1 is complete. Each later phase is added only once the previous one is working and tested.</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Helvetica Neue"/>
                <a:ea typeface="Helvetica Neue"/>
                <a:cs typeface="Helvetica Neue"/>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364328" y="1188720"/>
            <a:ext cx="1463040" cy="1463040"/>
          </a:xfrm>
          <a:prstGeom prst="ellipse">
            <a:avLst/>
          </a:prstGeom>
          <a:solidFill>
            <a:srgbClr val="EE4C2C"/>
          </a:solidFill>
          <a:ln w="12700">
            <a:solidFill>
              <a:srgbClr val="EE4C2C"/>
            </a:solidFill>
            <a:prstDash val="solid"/>
          </a:ln>
        </p:spPr>
      </p:sp>
      <p:pic>
        <p:nvPicPr>
          <p:cNvPr id="3" name="Image 0" descr="preencoded.png">    </p:cNvPr>
          <p:cNvPicPr>
            <a:picLocks noChangeAspect="1"/>
          </p:cNvPicPr>
          <p:nvPr/>
        </p:nvPicPr>
        <p:blipFill>
          <a:blip r:embed="rId1"/>
          <a:stretch>
            <a:fillRect/>
          </a:stretch>
        </p:blipFill>
        <p:spPr>
          <a:xfrm>
            <a:off x="5730088" y="1554480"/>
            <a:ext cx="731520" cy="731520"/>
          </a:xfrm>
          <a:prstGeom prst="rect">
            <a:avLst/>
          </a:prstGeom>
        </p:spPr>
      </p:pic>
      <p:sp>
        <p:nvSpPr>
          <p:cNvPr id="4" name="Text 1"/>
          <p:cNvSpPr txBox="1"/>
          <p:nvPr/>
        </p:nvSpPr>
        <p:spPr>
          <a:xfrm>
            <a:off x="548640" y="2971800"/>
            <a:ext cx="11094415"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Avenir Next" pitchFamily="34" charset="0"/>
                <a:ea typeface="Avenir Next" pitchFamily="34" charset="-122"/>
                <a:cs typeface="Avenir Next" pitchFamily="34" charset="-120"/>
              </a:rPr>
              <a:t>Thank you — questions?</a:t>
            </a:r>
            <a:endParaRPr lang="en-US" sz="4800" dirty="0"/>
          </a:p>
        </p:txBody>
      </p:sp>
      <p:sp>
        <p:nvSpPr>
          <p:cNvPr id="5" name="Text 2"/>
          <p:cNvSpPr txBox="1"/>
          <p:nvPr/>
        </p:nvSpPr>
        <p:spPr>
          <a:xfrm>
            <a:off x="548640" y="4023360"/>
            <a:ext cx="11094415" cy="457200"/>
          </a:xfrm>
          <a:prstGeom prst="rect">
            <a:avLst/>
          </a:prstGeom>
          <a:noFill/>
          <a:ln/>
        </p:spPr>
        <p:txBody>
          <a:bodyPr wrap="square" lIns="0" tIns="0" rIns="0" bIns="0" rtlCol="0" anchor="ctr"/>
          <a:lstStyle/>
          <a:p>
            <a:pPr algn="ctr" indent="0" marL="0">
              <a:buNone/>
            </a:pPr>
            <a:r>
              <a:rPr lang="en-US" sz="1800" dirty="0">
                <a:solidFill>
                  <a:srgbClr val="CBD5E1"/>
                </a:solidFill>
                <a:latin typeface="Helvetica Neue" pitchFamily="34" charset="0"/>
                <a:ea typeface="Helvetica Neue" pitchFamily="34" charset="-122"/>
                <a:cs typeface="Helvetica Neue" pitchFamily="34" charset="-120"/>
              </a:rPr>
              <a:t>DeepGuard AI  ·  Capstone Project  ·  Deep Learning with PyTorch</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DeepGuard AI — Capstone Project</dc:title>
  <dc:subject>Deep Learning with PyTorch</dc:subject>
  <dc:creator>PptxGenJS</dc:creator>
  <cp:lastModifiedBy>PptxGenJS</cp:lastModifiedBy>
  <cp:revision>1</cp:revision>
  <dcterms:created xsi:type="dcterms:W3CDTF">2026-10-24T14:47:03Z</dcterms:created>
  <dcterms:modified xsi:type="dcterms:W3CDTF">2026-10-24T14:47:03Z</dcterms:modified>
</cp:coreProperties>
</file>